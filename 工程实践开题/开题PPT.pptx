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sldIdLst>
    <p:sldId id="256" r:id="rId3"/>
    <p:sldId id="258" r:id="rId4"/>
    <p:sldId id="1706" r:id="rId5"/>
    <p:sldId id="1771" r:id="rId6"/>
    <p:sldId id="270" r:id="rId7"/>
    <p:sldId id="1762" r:id="rId8"/>
    <p:sldId id="1778" r:id="rId9"/>
    <p:sldId id="1770" r:id="rId10"/>
    <p:sldId id="1785" r:id="rId11"/>
    <p:sldId id="1786" r:id="rId12"/>
    <p:sldId id="272" r:id="rId13"/>
    <p:sldId id="1742" r:id="rId14"/>
    <p:sldId id="261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2FF"/>
    <a:srgbClr val="82C9FA"/>
    <a:srgbClr val="6CB6FF"/>
    <a:srgbClr val="FFFFFF"/>
    <a:srgbClr val="A20000"/>
    <a:srgbClr val="A40000"/>
    <a:srgbClr val="9E0000"/>
    <a:srgbClr val="C7450B"/>
    <a:srgbClr val="E24E0C"/>
    <a:srgbClr val="DC6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182" autoAdjust="0"/>
  </p:normalViewPr>
  <p:slideViewPr>
    <p:cSldViewPr snapToGrid="0">
      <p:cViewPr varScale="1">
        <p:scale>
          <a:sx n="114" d="100"/>
          <a:sy n="114" d="100"/>
        </p:scale>
        <p:origin x="21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37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flipH="1">
            <a:off x="0" y="0"/>
            <a:ext cx="7079809" cy="6858000"/>
          </a:xfrm>
          <a:prstGeom prst="rect">
            <a:avLst/>
          </a:prstGeom>
          <a:blipFill>
            <a:blip r:embed="rId2"/>
            <a:srcRect/>
            <a:stretch>
              <a:fillRect l="-72237" r="2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6413275" y="5681664"/>
            <a:ext cx="5107213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6413275" y="4289337"/>
            <a:ext cx="5107213" cy="139232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913914" y="1130300"/>
            <a:ext cx="3606574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913914" y="1426571"/>
            <a:ext cx="3606574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2988592" y="4329491"/>
            <a:ext cx="5419185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2989708" y="5224841"/>
            <a:ext cx="5419185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矩形 3"/>
          <p:cNvSpPr/>
          <p:nvPr userDrawn="1"/>
        </p:nvSpPr>
        <p:spPr>
          <a:xfrm flipV="1">
            <a:off x="7109011" y="0"/>
            <a:ext cx="5082989" cy="6856538"/>
          </a:xfrm>
          <a:prstGeom prst="rect">
            <a:avLst/>
          </a:prstGeom>
          <a:blipFill>
            <a:blip r:embed="rId2"/>
            <a:srcRect/>
            <a:stretch>
              <a:fillRect l="-131809" r="-799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 flipH="1" flipV="1">
            <a:off x="0" y="0"/>
            <a:ext cx="7079809" cy="6858000"/>
          </a:xfrm>
          <a:prstGeom prst="rect">
            <a:avLst/>
          </a:prstGeom>
          <a:blipFill>
            <a:blip r:embed="rId2"/>
            <a:srcRect/>
            <a:stretch>
              <a:fillRect l="-72237" r="2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4867835" y="2950481"/>
            <a:ext cx="6652651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867835" y="5827151"/>
            <a:ext cx="665265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867837" y="5530880"/>
            <a:ext cx="665265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6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1" imgW="9525" imgH="9525" progId="TCLayout.ActiveDocument.1">
                  <p:embed/>
                </p:oleObj>
              </mc:Choice>
              <mc:Fallback>
                <p:oleObj name="think-cell Slide" r:id="rId1" imgW="9525" imgH="9525" progId="TCLayout.ActiveDocument.1">
                  <p:embed/>
                  <p:pic>
                    <p:nvPicPr>
                      <p:cNvPr id="0" name="图片 -1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784725" y="2283460"/>
            <a:ext cx="6734175" cy="1471295"/>
          </a:xfrm>
        </p:spPr>
        <p:txBody>
          <a:bodyPr>
            <a:no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数学解题步骤智能评分系统</a:t>
            </a:r>
            <a:endParaRPr lang="zh-CN" altLang="en-US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096000" y="3754402"/>
            <a:ext cx="5492680" cy="296271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       </a:t>
            </a:r>
            <a:endParaRPr lang="en-US" altLang="zh-CN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096000" y="2283386"/>
            <a:ext cx="54229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096000" y="4387362"/>
            <a:ext cx="54244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13951" y="2676432"/>
            <a:ext cx="2198526" cy="1911536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cs typeface="+mn-ea"/>
                <a:sym typeface="+mn-lt"/>
              </a:rPr>
              <a:t>/01</a:t>
            </a:r>
            <a:endParaRPr lang="zh-CN" altLang="en-US" spc="1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659224" y="2676714"/>
            <a:ext cx="5419185" cy="895350"/>
          </a:xfrm>
        </p:spPr>
        <p:txBody>
          <a:bodyPr/>
          <a:lstStyle/>
          <a:p>
            <a:pPr algn="l"/>
            <a:r>
              <a:rPr lang="zh-CN" altLang="en-US" sz="3200" dirty="0">
                <a:latin typeface="+mn-lt"/>
                <a:ea typeface="+mn-ea"/>
                <a:cs typeface="+mn-ea"/>
                <a:sym typeface="+mn-lt"/>
              </a:rPr>
              <a:t>研究背景与意义</a:t>
            </a:r>
            <a:endParaRPr lang="zh-CN" altLang="en-US" sz="32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0"/>
            <a:ext cx="10850880" cy="861695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599" y="6463348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弧形 27"/>
          <p:cNvSpPr/>
          <p:nvPr>
            <p:custDataLst>
              <p:tags r:id="rId1"/>
            </p:custDataLst>
          </p:nvPr>
        </p:nvSpPr>
        <p:spPr>
          <a:xfrm>
            <a:off x="4394200" y="3110865"/>
            <a:ext cx="2818130" cy="2863850"/>
          </a:xfrm>
          <a:prstGeom prst="arc">
            <a:avLst>
              <a:gd name="adj1" fmla="val 5414636"/>
              <a:gd name="adj2" fmla="val 2242487"/>
            </a:avLst>
          </a:prstGeom>
          <a:ln w="1524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>
            <p:custDataLst>
              <p:tags r:id="rId2"/>
            </p:custDataLst>
          </p:nvPr>
        </p:nvGrpSpPr>
        <p:grpSpPr>
          <a:xfrm>
            <a:off x="7250116" y="4587239"/>
            <a:ext cx="609600" cy="609600"/>
            <a:chOff x="7365051" y="3327399"/>
            <a:chExt cx="609600" cy="609600"/>
          </a:xfrm>
        </p:grpSpPr>
        <p:sp>
          <p:nvSpPr>
            <p:cNvPr id="50" name="椭圆 49"/>
            <p:cNvSpPr/>
            <p:nvPr>
              <p:custDataLst>
                <p:tags r:id="rId3"/>
              </p:custDataLst>
            </p:nvPr>
          </p:nvSpPr>
          <p:spPr>
            <a:xfrm>
              <a:off x="7365051" y="3327399"/>
              <a:ext cx="609600" cy="6096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/>
            <p:nvPr>
              <p:custDataLst>
                <p:tags r:id="rId4"/>
              </p:custDataLst>
            </p:nvPr>
          </p:nvSpPr>
          <p:spPr>
            <a:xfrm>
              <a:off x="7520398" y="3482972"/>
              <a:ext cx="298906" cy="298454"/>
            </a:xfrm>
            <a:custGeom>
              <a:avLst/>
              <a:gdLst>
                <a:gd name="T0" fmla="*/ 6894 w 7804"/>
                <a:gd name="T1" fmla="*/ 3038 h 7804"/>
                <a:gd name="T2" fmla="*/ 6614 w 7804"/>
                <a:gd name="T3" fmla="*/ 2704 h 7804"/>
                <a:gd name="T4" fmla="*/ 6826 w 7804"/>
                <a:gd name="T5" fmla="*/ 2200 h 7804"/>
                <a:gd name="T6" fmla="*/ 6496 w 7804"/>
                <a:gd name="T7" fmla="*/ 978 h 7804"/>
                <a:gd name="T8" fmla="*/ 5604 w 7804"/>
                <a:gd name="T9" fmla="*/ 978 h 7804"/>
                <a:gd name="T10" fmla="*/ 5254 w 7804"/>
                <a:gd name="T11" fmla="*/ 1222 h 7804"/>
                <a:gd name="T12" fmla="*/ 4973 w 7804"/>
                <a:gd name="T13" fmla="*/ 1137 h 7804"/>
                <a:gd name="T14" fmla="*/ 4766 w 7804"/>
                <a:gd name="T15" fmla="*/ 631 h 7804"/>
                <a:gd name="T16" fmla="*/ 3668 w 7804"/>
                <a:gd name="T17" fmla="*/ 0 h 7804"/>
                <a:gd name="T18" fmla="*/ 3038 w 7804"/>
                <a:gd name="T19" fmla="*/ 910 h 7804"/>
                <a:gd name="T20" fmla="*/ 2704 w 7804"/>
                <a:gd name="T21" fmla="*/ 1190 h 7804"/>
                <a:gd name="T22" fmla="*/ 2398 w 7804"/>
                <a:gd name="T23" fmla="*/ 1175 h 7804"/>
                <a:gd name="T24" fmla="*/ 1754 w 7804"/>
                <a:gd name="T25" fmla="*/ 793 h 7804"/>
                <a:gd name="T26" fmla="*/ 978 w 7804"/>
                <a:gd name="T27" fmla="*/ 1308 h 7804"/>
                <a:gd name="T28" fmla="*/ 1175 w 7804"/>
                <a:gd name="T29" fmla="*/ 2398 h 7804"/>
                <a:gd name="T30" fmla="*/ 1137 w 7804"/>
                <a:gd name="T31" fmla="*/ 2831 h 7804"/>
                <a:gd name="T32" fmla="*/ 631 w 7804"/>
                <a:gd name="T33" fmla="*/ 3038 h 7804"/>
                <a:gd name="T34" fmla="*/ 0 w 7804"/>
                <a:gd name="T35" fmla="*/ 4136 h 7804"/>
                <a:gd name="T36" fmla="*/ 910 w 7804"/>
                <a:gd name="T37" fmla="*/ 4766 h 7804"/>
                <a:gd name="T38" fmla="*/ 1190 w 7804"/>
                <a:gd name="T39" fmla="*/ 5100 h 7804"/>
                <a:gd name="T40" fmla="*/ 978 w 7804"/>
                <a:gd name="T41" fmla="*/ 5604 h 7804"/>
                <a:gd name="T42" fmla="*/ 1308 w 7804"/>
                <a:gd name="T43" fmla="*/ 6826 h 7804"/>
                <a:gd name="T44" fmla="*/ 2200 w 7804"/>
                <a:gd name="T45" fmla="*/ 6826 h 7804"/>
                <a:gd name="T46" fmla="*/ 2550 w 7804"/>
                <a:gd name="T47" fmla="*/ 6582 h 7804"/>
                <a:gd name="T48" fmla="*/ 2831 w 7804"/>
                <a:gd name="T49" fmla="*/ 6667 h 7804"/>
                <a:gd name="T50" fmla="*/ 3038 w 7804"/>
                <a:gd name="T51" fmla="*/ 7173 h 7804"/>
                <a:gd name="T52" fmla="*/ 4136 w 7804"/>
                <a:gd name="T53" fmla="*/ 7804 h 7804"/>
                <a:gd name="T54" fmla="*/ 4766 w 7804"/>
                <a:gd name="T55" fmla="*/ 6894 h 7804"/>
                <a:gd name="T56" fmla="*/ 5100 w 7804"/>
                <a:gd name="T57" fmla="*/ 6614 h 7804"/>
                <a:gd name="T58" fmla="*/ 5406 w 7804"/>
                <a:gd name="T59" fmla="*/ 6629 h 7804"/>
                <a:gd name="T60" fmla="*/ 6050 w 7804"/>
                <a:gd name="T61" fmla="*/ 7011 h 7804"/>
                <a:gd name="T62" fmla="*/ 6647 w 7804"/>
                <a:gd name="T63" fmla="*/ 6675 h 7804"/>
                <a:gd name="T64" fmla="*/ 6826 w 7804"/>
                <a:gd name="T65" fmla="*/ 6496 h 7804"/>
                <a:gd name="T66" fmla="*/ 6629 w 7804"/>
                <a:gd name="T67" fmla="*/ 5406 h 7804"/>
                <a:gd name="T68" fmla="*/ 6667 w 7804"/>
                <a:gd name="T69" fmla="*/ 4972 h 7804"/>
                <a:gd name="T70" fmla="*/ 7173 w 7804"/>
                <a:gd name="T71" fmla="*/ 4766 h 7804"/>
                <a:gd name="T72" fmla="*/ 7804 w 7804"/>
                <a:gd name="T73" fmla="*/ 3668 h 7804"/>
                <a:gd name="T74" fmla="*/ 5608 w 7804"/>
                <a:gd name="T75" fmla="*/ 3902 h 7804"/>
                <a:gd name="T76" fmla="*/ 2196 w 7804"/>
                <a:gd name="T77" fmla="*/ 3902 h 7804"/>
                <a:gd name="T78" fmla="*/ 5608 w 7804"/>
                <a:gd name="T79" fmla="*/ 3902 h 7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804" h="7804">
                  <a:moveTo>
                    <a:pt x="7173" y="3038"/>
                  </a:moveTo>
                  <a:lnTo>
                    <a:pt x="6894" y="3038"/>
                  </a:lnTo>
                  <a:cubicBezTo>
                    <a:pt x="6824" y="3038"/>
                    <a:pt x="6714" y="2953"/>
                    <a:pt x="6667" y="2831"/>
                  </a:cubicBezTo>
                  <a:cubicBezTo>
                    <a:pt x="6650" y="2789"/>
                    <a:pt x="6632" y="2746"/>
                    <a:pt x="6614" y="2704"/>
                  </a:cubicBezTo>
                  <a:cubicBezTo>
                    <a:pt x="6561" y="2585"/>
                    <a:pt x="6579" y="2447"/>
                    <a:pt x="6629" y="2398"/>
                  </a:cubicBezTo>
                  <a:lnTo>
                    <a:pt x="6826" y="2200"/>
                  </a:lnTo>
                  <a:cubicBezTo>
                    <a:pt x="7072" y="1954"/>
                    <a:pt x="7072" y="1554"/>
                    <a:pt x="6826" y="1308"/>
                  </a:cubicBezTo>
                  <a:lnTo>
                    <a:pt x="6496" y="978"/>
                  </a:lnTo>
                  <a:cubicBezTo>
                    <a:pt x="6377" y="859"/>
                    <a:pt x="6218" y="793"/>
                    <a:pt x="6050" y="793"/>
                  </a:cubicBezTo>
                  <a:cubicBezTo>
                    <a:pt x="5882" y="793"/>
                    <a:pt x="5723" y="859"/>
                    <a:pt x="5604" y="978"/>
                  </a:cubicBezTo>
                  <a:lnTo>
                    <a:pt x="5406" y="1176"/>
                  </a:lnTo>
                  <a:cubicBezTo>
                    <a:pt x="5378" y="1204"/>
                    <a:pt x="5319" y="1222"/>
                    <a:pt x="5254" y="1222"/>
                  </a:cubicBezTo>
                  <a:cubicBezTo>
                    <a:pt x="5201" y="1222"/>
                    <a:pt x="5147" y="1211"/>
                    <a:pt x="5100" y="1190"/>
                  </a:cubicBezTo>
                  <a:cubicBezTo>
                    <a:pt x="5058" y="1172"/>
                    <a:pt x="5015" y="1154"/>
                    <a:pt x="4973" y="1137"/>
                  </a:cubicBezTo>
                  <a:cubicBezTo>
                    <a:pt x="4851" y="1090"/>
                    <a:pt x="4766" y="980"/>
                    <a:pt x="4766" y="910"/>
                  </a:cubicBezTo>
                  <a:lnTo>
                    <a:pt x="4766" y="631"/>
                  </a:lnTo>
                  <a:cubicBezTo>
                    <a:pt x="4766" y="283"/>
                    <a:pt x="4483" y="0"/>
                    <a:pt x="4136" y="0"/>
                  </a:cubicBezTo>
                  <a:lnTo>
                    <a:pt x="3668" y="0"/>
                  </a:lnTo>
                  <a:cubicBezTo>
                    <a:pt x="3321" y="0"/>
                    <a:pt x="3038" y="283"/>
                    <a:pt x="3038" y="631"/>
                  </a:cubicBezTo>
                  <a:lnTo>
                    <a:pt x="3038" y="910"/>
                  </a:lnTo>
                  <a:cubicBezTo>
                    <a:pt x="3038" y="980"/>
                    <a:pt x="2953" y="1090"/>
                    <a:pt x="2831" y="1137"/>
                  </a:cubicBezTo>
                  <a:cubicBezTo>
                    <a:pt x="2789" y="1154"/>
                    <a:pt x="2746" y="1172"/>
                    <a:pt x="2704" y="1190"/>
                  </a:cubicBezTo>
                  <a:cubicBezTo>
                    <a:pt x="2657" y="1211"/>
                    <a:pt x="2603" y="1222"/>
                    <a:pt x="2550" y="1222"/>
                  </a:cubicBezTo>
                  <a:cubicBezTo>
                    <a:pt x="2485" y="1222"/>
                    <a:pt x="2426" y="1204"/>
                    <a:pt x="2398" y="1175"/>
                  </a:cubicBezTo>
                  <a:lnTo>
                    <a:pt x="2200" y="978"/>
                  </a:lnTo>
                  <a:cubicBezTo>
                    <a:pt x="2081" y="859"/>
                    <a:pt x="1922" y="793"/>
                    <a:pt x="1754" y="793"/>
                  </a:cubicBezTo>
                  <a:cubicBezTo>
                    <a:pt x="1585" y="793"/>
                    <a:pt x="1427" y="859"/>
                    <a:pt x="1308" y="978"/>
                  </a:cubicBezTo>
                  <a:lnTo>
                    <a:pt x="978" y="1308"/>
                  </a:lnTo>
                  <a:cubicBezTo>
                    <a:pt x="732" y="1554"/>
                    <a:pt x="732" y="1954"/>
                    <a:pt x="978" y="2200"/>
                  </a:cubicBezTo>
                  <a:lnTo>
                    <a:pt x="1175" y="2398"/>
                  </a:lnTo>
                  <a:cubicBezTo>
                    <a:pt x="1225" y="2447"/>
                    <a:pt x="1243" y="2585"/>
                    <a:pt x="1190" y="2704"/>
                  </a:cubicBezTo>
                  <a:cubicBezTo>
                    <a:pt x="1172" y="2746"/>
                    <a:pt x="1154" y="2789"/>
                    <a:pt x="1137" y="2831"/>
                  </a:cubicBezTo>
                  <a:cubicBezTo>
                    <a:pt x="1090" y="2953"/>
                    <a:pt x="980" y="3038"/>
                    <a:pt x="910" y="3038"/>
                  </a:cubicBezTo>
                  <a:lnTo>
                    <a:pt x="631" y="3038"/>
                  </a:lnTo>
                  <a:cubicBezTo>
                    <a:pt x="283" y="3038"/>
                    <a:pt x="0" y="3321"/>
                    <a:pt x="0" y="3668"/>
                  </a:cubicBezTo>
                  <a:lnTo>
                    <a:pt x="0" y="4136"/>
                  </a:lnTo>
                  <a:cubicBezTo>
                    <a:pt x="0" y="4483"/>
                    <a:pt x="283" y="4766"/>
                    <a:pt x="631" y="4766"/>
                  </a:cubicBezTo>
                  <a:lnTo>
                    <a:pt x="910" y="4766"/>
                  </a:lnTo>
                  <a:cubicBezTo>
                    <a:pt x="980" y="4766"/>
                    <a:pt x="1090" y="4851"/>
                    <a:pt x="1137" y="4972"/>
                  </a:cubicBezTo>
                  <a:cubicBezTo>
                    <a:pt x="1154" y="5015"/>
                    <a:pt x="1172" y="5058"/>
                    <a:pt x="1190" y="5100"/>
                  </a:cubicBezTo>
                  <a:cubicBezTo>
                    <a:pt x="1243" y="5219"/>
                    <a:pt x="1225" y="5357"/>
                    <a:pt x="1175" y="5406"/>
                  </a:cubicBezTo>
                  <a:lnTo>
                    <a:pt x="978" y="5604"/>
                  </a:lnTo>
                  <a:cubicBezTo>
                    <a:pt x="732" y="5850"/>
                    <a:pt x="732" y="6250"/>
                    <a:pt x="978" y="6496"/>
                  </a:cubicBezTo>
                  <a:lnTo>
                    <a:pt x="1308" y="6826"/>
                  </a:lnTo>
                  <a:cubicBezTo>
                    <a:pt x="1427" y="6945"/>
                    <a:pt x="1586" y="7011"/>
                    <a:pt x="1754" y="7011"/>
                  </a:cubicBezTo>
                  <a:cubicBezTo>
                    <a:pt x="1922" y="7011"/>
                    <a:pt x="2081" y="6945"/>
                    <a:pt x="2200" y="6826"/>
                  </a:cubicBezTo>
                  <a:lnTo>
                    <a:pt x="2398" y="6628"/>
                  </a:lnTo>
                  <a:cubicBezTo>
                    <a:pt x="2427" y="6599"/>
                    <a:pt x="2484" y="6582"/>
                    <a:pt x="2550" y="6582"/>
                  </a:cubicBezTo>
                  <a:cubicBezTo>
                    <a:pt x="2602" y="6582"/>
                    <a:pt x="2657" y="6593"/>
                    <a:pt x="2704" y="6614"/>
                  </a:cubicBezTo>
                  <a:cubicBezTo>
                    <a:pt x="2745" y="6632"/>
                    <a:pt x="2788" y="6650"/>
                    <a:pt x="2831" y="6667"/>
                  </a:cubicBezTo>
                  <a:cubicBezTo>
                    <a:pt x="2953" y="6714"/>
                    <a:pt x="3038" y="6824"/>
                    <a:pt x="3038" y="6894"/>
                  </a:cubicBezTo>
                  <a:lnTo>
                    <a:pt x="3038" y="7173"/>
                  </a:lnTo>
                  <a:cubicBezTo>
                    <a:pt x="3038" y="7521"/>
                    <a:pt x="3321" y="7804"/>
                    <a:pt x="3668" y="7804"/>
                  </a:cubicBezTo>
                  <a:lnTo>
                    <a:pt x="4136" y="7804"/>
                  </a:lnTo>
                  <a:cubicBezTo>
                    <a:pt x="4483" y="7804"/>
                    <a:pt x="4766" y="7521"/>
                    <a:pt x="4766" y="7173"/>
                  </a:cubicBezTo>
                  <a:lnTo>
                    <a:pt x="4766" y="6894"/>
                  </a:lnTo>
                  <a:cubicBezTo>
                    <a:pt x="4766" y="6824"/>
                    <a:pt x="4851" y="6714"/>
                    <a:pt x="4972" y="6667"/>
                  </a:cubicBezTo>
                  <a:cubicBezTo>
                    <a:pt x="5015" y="6650"/>
                    <a:pt x="5058" y="6632"/>
                    <a:pt x="5100" y="6614"/>
                  </a:cubicBezTo>
                  <a:cubicBezTo>
                    <a:pt x="5146" y="6593"/>
                    <a:pt x="5201" y="6582"/>
                    <a:pt x="5254" y="6582"/>
                  </a:cubicBezTo>
                  <a:cubicBezTo>
                    <a:pt x="5319" y="6582"/>
                    <a:pt x="5377" y="6600"/>
                    <a:pt x="5406" y="6629"/>
                  </a:cubicBezTo>
                  <a:lnTo>
                    <a:pt x="5604" y="6826"/>
                  </a:lnTo>
                  <a:cubicBezTo>
                    <a:pt x="5723" y="6945"/>
                    <a:pt x="5882" y="7011"/>
                    <a:pt x="6050" y="7011"/>
                  </a:cubicBezTo>
                  <a:cubicBezTo>
                    <a:pt x="6068" y="7011"/>
                    <a:pt x="6087" y="7010"/>
                    <a:pt x="6105" y="7009"/>
                  </a:cubicBezTo>
                  <a:cubicBezTo>
                    <a:pt x="6335" y="6989"/>
                    <a:pt x="6538" y="6785"/>
                    <a:pt x="6647" y="6675"/>
                  </a:cubicBezTo>
                  <a:lnTo>
                    <a:pt x="6661" y="6661"/>
                  </a:lnTo>
                  <a:lnTo>
                    <a:pt x="6826" y="6496"/>
                  </a:lnTo>
                  <a:cubicBezTo>
                    <a:pt x="7072" y="6250"/>
                    <a:pt x="7072" y="5850"/>
                    <a:pt x="6826" y="5604"/>
                  </a:cubicBezTo>
                  <a:lnTo>
                    <a:pt x="6629" y="5406"/>
                  </a:lnTo>
                  <a:cubicBezTo>
                    <a:pt x="6579" y="5357"/>
                    <a:pt x="6561" y="5219"/>
                    <a:pt x="6614" y="5100"/>
                  </a:cubicBezTo>
                  <a:cubicBezTo>
                    <a:pt x="6632" y="5058"/>
                    <a:pt x="6650" y="5015"/>
                    <a:pt x="6667" y="4972"/>
                  </a:cubicBezTo>
                  <a:cubicBezTo>
                    <a:pt x="6714" y="4851"/>
                    <a:pt x="6824" y="4766"/>
                    <a:pt x="6894" y="4766"/>
                  </a:cubicBezTo>
                  <a:lnTo>
                    <a:pt x="7173" y="4766"/>
                  </a:lnTo>
                  <a:cubicBezTo>
                    <a:pt x="7521" y="4766"/>
                    <a:pt x="7804" y="4483"/>
                    <a:pt x="7804" y="4135"/>
                  </a:cubicBezTo>
                  <a:lnTo>
                    <a:pt x="7804" y="3668"/>
                  </a:lnTo>
                  <a:cubicBezTo>
                    <a:pt x="7804" y="3321"/>
                    <a:pt x="7521" y="3038"/>
                    <a:pt x="7173" y="3038"/>
                  </a:cubicBezTo>
                  <a:close/>
                  <a:moveTo>
                    <a:pt x="5608" y="3902"/>
                  </a:moveTo>
                  <a:cubicBezTo>
                    <a:pt x="5608" y="4843"/>
                    <a:pt x="4843" y="5608"/>
                    <a:pt x="3902" y="5608"/>
                  </a:cubicBezTo>
                  <a:cubicBezTo>
                    <a:pt x="2961" y="5608"/>
                    <a:pt x="2196" y="4843"/>
                    <a:pt x="2196" y="3902"/>
                  </a:cubicBezTo>
                  <a:cubicBezTo>
                    <a:pt x="2196" y="2961"/>
                    <a:pt x="2961" y="2196"/>
                    <a:pt x="3902" y="2196"/>
                  </a:cubicBezTo>
                  <a:cubicBezTo>
                    <a:pt x="4843" y="2196"/>
                    <a:pt x="5608" y="2961"/>
                    <a:pt x="5608" y="3902"/>
                  </a:cubicBezTo>
                  <a:close/>
                </a:path>
              </a:pathLst>
            </a:custGeom>
            <a:solidFill>
              <a:schemeClr val="accent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5"/>
            </p:custDataLst>
          </p:nvPr>
        </p:nvGrpSpPr>
        <p:grpSpPr>
          <a:xfrm>
            <a:off x="5517194" y="2781299"/>
            <a:ext cx="609600" cy="609600"/>
            <a:chOff x="4204649" y="3327399"/>
            <a:chExt cx="609600" cy="609600"/>
          </a:xfrm>
        </p:grpSpPr>
        <p:sp>
          <p:nvSpPr>
            <p:cNvPr id="46" name="椭圆 45"/>
            <p:cNvSpPr/>
            <p:nvPr>
              <p:custDataLst>
                <p:tags r:id="rId6"/>
              </p:custDataLst>
            </p:nvPr>
          </p:nvSpPr>
          <p:spPr>
            <a:xfrm>
              <a:off x="4204649" y="3327399"/>
              <a:ext cx="609600" cy="6096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7"/>
              </p:custDataLst>
            </p:nvPr>
          </p:nvSpPr>
          <p:spPr>
            <a:xfrm>
              <a:off x="4359996" y="3482972"/>
              <a:ext cx="298906" cy="298454"/>
            </a:xfrm>
            <a:custGeom>
              <a:avLst/>
              <a:gdLst>
                <a:gd name="T0" fmla="*/ 6894 w 7804"/>
                <a:gd name="T1" fmla="*/ 3038 h 7804"/>
                <a:gd name="T2" fmla="*/ 6614 w 7804"/>
                <a:gd name="T3" fmla="*/ 2704 h 7804"/>
                <a:gd name="T4" fmla="*/ 6826 w 7804"/>
                <a:gd name="T5" fmla="*/ 2200 h 7804"/>
                <a:gd name="T6" fmla="*/ 6496 w 7804"/>
                <a:gd name="T7" fmla="*/ 978 h 7804"/>
                <a:gd name="T8" fmla="*/ 5604 w 7804"/>
                <a:gd name="T9" fmla="*/ 978 h 7804"/>
                <a:gd name="T10" fmla="*/ 5254 w 7804"/>
                <a:gd name="T11" fmla="*/ 1222 h 7804"/>
                <a:gd name="T12" fmla="*/ 4973 w 7804"/>
                <a:gd name="T13" fmla="*/ 1137 h 7804"/>
                <a:gd name="T14" fmla="*/ 4766 w 7804"/>
                <a:gd name="T15" fmla="*/ 631 h 7804"/>
                <a:gd name="T16" fmla="*/ 3668 w 7804"/>
                <a:gd name="T17" fmla="*/ 0 h 7804"/>
                <a:gd name="T18" fmla="*/ 3038 w 7804"/>
                <a:gd name="T19" fmla="*/ 910 h 7804"/>
                <a:gd name="T20" fmla="*/ 2704 w 7804"/>
                <a:gd name="T21" fmla="*/ 1190 h 7804"/>
                <a:gd name="T22" fmla="*/ 2398 w 7804"/>
                <a:gd name="T23" fmla="*/ 1175 h 7804"/>
                <a:gd name="T24" fmla="*/ 1754 w 7804"/>
                <a:gd name="T25" fmla="*/ 793 h 7804"/>
                <a:gd name="T26" fmla="*/ 978 w 7804"/>
                <a:gd name="T27" fmla="*/ 1308 h 7804"/>
                <a:gd name="T28" fmla="*/ 1175 w 7804"/>
                <a:gd name="T29" fmla="*/ 2398 h 7804"/>
                <a:gd name="T30" fmla="*/ 1137 w 7804"/>
                <a:gd name="T31" fmla="*/ 2831 h 7804"/>
                <a:gd name="T32" fmla="*/ 631 w 7804"/>
                <a:gd name="T33" fmla="*/ 3038 h 7804"/>
                <a:gd name="T34" fmla="*/ 0 w 7804"/>
                <a:gd name="T35" fmla="*/ 4136 h 7804"/>
                <a:gd name="T36" fmla="*/ 910 w 7804"/>
                <a:gd name="T37" fmla="*/ 4766 h 7804"/>
                <a:gd name="T38" fmla="*/ 1190 w 7804"/>
                <a:gd name="T39" fmla="*/ 5100 h 7804"/>
                <a:gd name="T40" fmla="*/ 978 w 7804"/>
                <a:gd name="T41" fmla="*/ 5604 h 7804"/>
                <a:gd name="T42" fmla="*/ 1308 w 7804"/>
                <a:gd name="T43" fmla="*/ 6826 h 7804"/>
                <a:gd name="T44" fmla="*/ 2200 w 7804"/>
                <a:gd name="T45" fmla="*/ 6826 h 7804"/>
                <a:gd name="T46" fmla="*/ 2550 w 7804"/>
                <a:gd name="T47" fmla="*/ 6582 h 7804"/>
                <a:gd name="T48" fmla="*/ 2831 w 7804"/>
                <a:gd name="T49" fmla="*/ 6667 h 7804"/>
                <a:gd name="T50" fmla="*/ 3038 w 7804"/>
                <a:gd name="T51" fmla="*/ 7173 h 7804"/>
                <a:gd name="T52" fmla="*/ 4136 w 7804"/>
                <a:gd name="T53" fmla="*/ 7804 h 7804"/>
                <a:gd name="T54" fmla="*/ 4766 w 7804"/>
                <a:gd name="T55" fmla="*/ 6894 h 7804"/>
                <a:gd name="T56" fmla="*/ 5100 w 7804"/>
                <a:gd name="T57" fmla="*/ 6614 h 7804"/>
                <a:gd name="T58" fmla="*/ 5406 w 7804"/>
                <a:gd name="T59" fmla="*/ 6629 h 7804"/>
                <a:gd name="T60" fmla="*/ 6050 w 7804"/>
                <a:gd name="T61" fmla="*/ 7011 h 7804"/>
                <a:gd name="T62" fmla="*/ 6647 w 7804"/>
                <a:gd name="T63" fmla="*/ 6675 h 7804"/>
                <a:gd name="T64" fmla="*/ 6826 w 7804"/>
                <a:gd name="T65" fmla="*/ 6496 h 7804"/>
                <a:gd name="T66" fmla="*/ 6629 w 7804"/>
                <a:gd name="T67" fmla="*/ 5406 h 7804"/>
                <a:gd name="T68" fmla="*/ 6667 w 7804"/>
                <a:gd name="T69" fmla="*/ 4972 h 7804"/>
                <a:gd name="T70" fmla="*/ 7173 w 7804"/>
                <a:gd name="T71" fmla="*/ 4766 h 7804"/>
                <a:gd name="T72" fmla="*/ 7804 w 7804"/>
                <a:gd name="T73" fmla="*/ 3668 h 7804"/>
                <a:gd name="T74" fmla="*/ 5608 w 7804"/>
                <a:gd name="T75" fmla="*/ 3902 h 7804"/>
                <a:gd name="T76" fmla="*/ 2196 w 7804"/>
                <a:gd name="T77" fmla="*/ 3902 h 7804"/>
                <a:gd name="T78" fmla="*/ 5608 w 7804"/>
                <a:gd name="T79" fmla="*/ 3902 h 7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804" h="7804">
                  <a:moveTo>
                    <a:pt x="7173" y="3038"/>
                  </a:moveTo>
                  <a:lnTo>
                    <a:pt x="6894" y="3038"/>
                  </a:lnTo>
                  <a:cubicBezTo>
                    <a:pt x="6824" y="3038"/>
                    <a:pt x="6714" y="2953"/>
                    <a:pt x="6667" y="2831"/>
                  </a:cubicBezTo>
                  <a:cubicBezTo>
                    <a:pt x="6650" y="2789"/>
                    <a:pt x="6632" y="2746"/>
                    <a:pt x="6614" y="2704"/>
                  </a:cubicBezTo>
                  <a:cubicBezTo>
                    <a:pt x="6561" y="2585"/>
                    <a:pt x="6579" y="2447"/>
                    <a:pt x="6629" y="2398"/>
                  </a:cubicBezTo>
                  <a:lnTo>
                    <a:pt x="6826" y="2200"/>
                  </a:lnTo>
                  <a:cubicBezTo>
                    <a:pt x="7072" y="1954"/>
                    <a:pt x="7072" y="1554"/>
                    <a:pt x="6826" y="1308"/>
                  </a:cubicBezTo>
                  <a:lnTo>
                    <a:pt x="6496" y="978"/>
                  </a:lnTo>
                  <a:cubicBezTo>
                    <a:pt x="6377" y="859"/>
                    <a:pt x="6218" y="793"/>
                    <a:pt x="6050" y="793"/>
                  </a:cubicBezTo>
                  <a:cubicBezTo>
                    <a:pt x="5882" y="793"/>
                    <a:pt x="5723" y="859"/>
                    <a:pt x="5604" y="978"/>
                  </a:cubicBezTo>
                  <a:lnTo>
                    <a:pt x="5406" y="1176"/>
                  </a:lnTo>
                  <a:cubicBezTo>
                    <a:pt x="5378" y="1204"/>
                    <a:pt x="5319" y="1222"/>
                    <a:pt x="5254" y="1222"/>
                  </a:cubicBezTo>
                  <a:cubicBezTo>
                    <a:pt x="5201" y="1222"/>
                    <a:pt x="5147" y="1211"/>
                    <a:pt x="5100" y="1190"/>
                  </a:cubicBezTo>
                  <a:cubicBezTo>
                    <a:pt x="5058" y="1172"/>
                    <a:pt x="5015" y="1154"/>
                    <a:pt x="4973" y="1137"/>
                  </a:cubicBezTo>
                  <a:cubicBezTo>
                    <a:pt x="4851" y="1090"/>
                    <a:pt x="4766" y="980"/>
                    <a:pt x="4766" y="910"/>
                  </a:cubicBezTo>
                  <a:lnTo>
                    <a:pt x="4766" y="631"/>
                  </a:lnTo>
                  <a:cubicBezTo>
                    <a:pt x="4766" y="283"/>
                    <a:pt x="4483" y="0"/>
                    <a:pt x="4136" y="0"/>
                  </a:cubicBezTo>
                  <a:lnTo>
                    <a:pt x="3668" y="0"/>
                  </a:lnTo>
                  <a:cubicBezTo>
                    <a:pt x="3321" y="0"/>
                    <a:pt x="3038" y="283"/>
                    <a:pt x="3038" y="631"/>
                  </a:cubicBezTo>
                  <a:lnTo>
                    <a:pt x="3038" y="910"/>
                  </a:lnTo>
                  <a:cubicBezTo>
                    <a:pt x="3038" y="980"/>
                    <a:pt x="2953" y="1090"/>
                    <a:pt x="2831" y="1137"/>
                  </a:cubicBezTo>
                  <a:cubicBezTo>
                    <a:pt x="2789" y="1154"/>
                    <a:pt x="2746" y="1172"/>
                    <a:pt x="2704" y="1190"/>
                  </a:cubicBezTo>
                  <a:cubicBezTo>
                    <a:pt x="2657" y="1211"/>
                    <a:pt x="2603" y="1222"/>
                    <a:pt x="2550" y="1222"/>
                  </a:cubicBezTo>
                  <a:cubicBezTo>
                    <a:pt x="2485" y="1222"/>
                    <a:pt x="2426" y="1204"/>
                    <a:pt x="2398" y="1175"/>
                  </a:cubicBezTo>
                  <a:lnTo>
                    <a:pt x="2200" y="978"/>
                  </a:lnTo>
                  <a:cubicBezTo>
                    <a:pt x="2081" y="859"/>
                    <a:pt x="1922" y="793"/>
                    <a:pt x="1754" y="793"/>
                  </a:cubicBezTo>
                  <a:cubicBezTo>
                    <a:pt x="1585" y="793"/>
                    <a:pt x="1427" y="859"/>
                    <a:pt x="1308" y="978"/>
                  </a:cubicBezTo>
                  <a:lnTo>
                    <a:pt x="978" y="1308"/>
                  </a:lnTo>
                  <a:cubicBezTo>
                    <a:pt x="732" y="1554"/>
                    <a:pt x="732" y="1954"/>
                    <a:pt x="978" y="2200"/>
                  </a:cubicBezTo>
                  <a:lnTo>
                    <a:pt x="1175" y="2398"/>
                  </a:lnTo>
                  <a:cubicBezTo>
                    <a:pt x="1225" y="2447"/>
                    <a:pt x="1243" y="2585"/>
                    <a:pt x="1190" y="2704"/>
                  </a:cubicBezTo>
                  <a:cubicBezTo>
                    <a:pt x="1172" y="2746"/>
                    <a:pt x="1154" y="2789"/>
                    <a:pt x="1137" y="2831"/>
                  </a:cubicBezTo>
                  <a:cubicBezTo>
                    <a:pt x="1090" y="2953"/>
                    <a:pt x="980" y="3038"/>
                    <a:pt x="910" y="3038"/>
                  </a:cubicBezTo>
                  <a:lnTo>
                    <a:pt x="631" y="3038"/>
                  </a:lnTo>
                  <a:cubicBezTo>
                    <a:pt x="283" y="3038"/>
                    <a:pt x="0" y="3321"/>
                    <a:pt x="0" y="3668"/>
                  </a:cubicBezTo>
                  <a:lnTo>
                    <a:pt x="0" y="4136"/>
                  </a:lnTo>
                  <a:cubicBezTo>
                    <a:pt x="0" y="4483"/>
                    <a:pt x="283" y="4766"/>
                    <a:pt x="631" y="4766"/>
                  </a:cubicBezTo>
                  <a:lnTo>
                    <a:pt x="910" y="4766"/>
                  </a:lnTo>
                  <a:cubicBezTo>
                    <a:pt x="980" y="4766"/>
                    <a:pt x="1090" y="4851"/>
                    <a:pt x="1137" y="4972"/>
                  </a:cubicBezTo>
                  <a:cubicBezTo>
                    <a:pt x="1154" y="5015"/>
                    <a:pt x="1172" y="5058"/>
                    <a:pt x="1190" y="5100"/>
                  </a:cubicBezTo>
                  <a:cubicBezTo>
                    <a:pt x="1243" y="5219"/>
                    <a:pt x="1225" y="5357"/>
                    <a:pt x="1175" y="5406"/>
                  </a:cubicBezTo>
                  <a:lnTo>
                    <a:pt x="978" y="5604"/>
                  </a:lnTo>
                  <a:cubicBezTo>
                    <a:pt x="732" y="5850"/>
                    <a:pt x="732" y="6250"/>
                    <a:pt x="978" y="6496"/>
                  </a:cubicBezTo>
                  <a:lnTo>
                    <a:pt x="1308" y="6826"/>
                  </a:lnTo>
                  <a:cubicBezTo>
                    <a:pt x="1427" y="6945"/>
                    <a:pt x="1586" y="7011"/>
                    <a:pt x="1754" y="7011"/>
                  </a:cubicBezTo>
                  <a:cubicBezTo>
                    <a:pt x="1922" y="7011"/>
                    <a:pt x="2081" y="6945"/>
                    <a:pt x="2200" y="6826"/>
                  </a:cubicBezTo>
                  <a:lnTo>
                    <a:pt x="2398" y="6628"/>
                  </a:lnTo>
                  <a:cubicBezTo>
                    <a:pt x="2427" y="6599"/>
                    <a:pt x="2484" y="6582"/>
                    <a:pt x="2550" y="6582"/>
                  </a:cubicBezTo>
                  <a:cubicBezTo>
                    <a:pt x="2602" y="6582"/>
                    <a:pt x="2657" y="6593"/>
                    <a:pt x="2704" y="6614"/>
                  </a:cubicBezTo>
                  <a:cubicBezTo>
                    <a:pt x="2745" y="6632"/>
                    <a:pt x="2788" y="6650"/>
                    <a:pt x="2831" y="6667"/>
                  </a:cubicBezTo>
                  <a:cubicBezTo>
                    <a:pt x="2953" y="6714"/>
                    <a:pt x="3038" y="6824"/>
                    <a:pt x="3038" y="6894"/>
                  </a:cubicBezTo>
                  <a:lnTo>
                    <a:pt x="3038" y="7173"/>
                  </a:lnTo>
                  <a:cubicBezTo>
                    <a:pt x="3038" y="7521"/>
                    <a:pt x="3321" y="7804"/>
                    <a:pt x="3668" y="7804"/>
                  </a:cubicBezTo>
                  <a:lnTo>
                    <a:pt x="4136" y="7804"/>
                  </a:lnTo>
                  <a:cubicBezTo>
                    <a:pt x="4483" y="7804"/>
                    <a:pt x="4766" y="7521"/>
                    <a:pt x="4766" y="7173"/>
                  </a:cubicBezTo>
                  <a:lnTo>
                    <a:pt x="4766" y="6894"/>
                  </a:lnTo>
                  <a:cubicBezTo>
                    <a:pt x="4766" y="6824"/>
                    <a:pt x="4851" y="6714"/>
                    <a:pt x="4972" y="6667"/>
                  </a:cubicBezTo>
                  <a:cubicBezTo>
                    <a:pt x="5015" y="6650"/>
                    <a:pt x="5058" y="6632"/>
                    <a:pt x="5100" y="6614"/>
                  </a:cubicBezTo>
                  <a:cubicBezTo>
                    <a:pt x="5146" y="6593"/>
                    <a:pt x="5201" y="6582"/>
                    <a:pt x="5254" y="6582"/>
                  </a:cubicBezTo>
                  <a:cubicBezTo>
                    <a:pt x="5319" y="6582"/>
                    <a:pt x="5377" y="6600"/>
                    <a:pt x="5406" y="6629"/>
                  </a:cubicBezTo>
                  <a:lnTo>
                    <a:pt x="5604" y="6826"/>
                  </a:lnTo>
                  <a:cubicBezTo>
                    <a:pt x="5723" y="6945"/>
                    <a:pt x="5882" y="7011"/>
                    <a:pt x="6050" y="7011"/>
                  </a:cubicBezTo>
                  <a:cubicBezTo>
                    <a:pt x="6068" y="7011"/>
                    <a:pt x="6087" y="7010"/>
                    <a:pt x="6105" y="7009"/>
                  </a:cubicBezTo>
                  <a:cubicBezTo>
                    <a:pt x="6335" y="6989"/>
                    <a:pt x="6538" y="6785"/>
                    <a:pt x="6647" y="6675"/>
                  </a:cubicBezTo>
                  <a:lnTo>
                    <a:pt x="6661" y="6661"/>
                  </a:lnTo>
                  <a:lnTo>
                    <a:pt x="6826" y="6496"/>
                  </a:lnTo>
                  <a:cubicBezTo>
                    <a:pt x="7072" y="6250"/>
                    <a:pt x="7072" y="5850"/>
                    <a:pt x="6826" y="5604"/>
                  </a:cubicBezTo>
                  <a:lnTo>
                    <a:pt x="6629" y="5406"/>
                  </a:lnTo>
                  <a:cubicBezTo>
                    <a:pt x="6579" y="5357"/>
                    <a:pt x="6561" y="5219"/>
                    <a:pt x="6614" y="5100"/>
                  </a:cubicBezTo>
                  <a:cubicBezTo>
                    <a:pt x="6632" y="5058"/>
                    <a:pt x="6650" y="5015"/>
                    <a:pt x="6667" y="4972"/>
                  </a:cubicBezTo>
                  <a:cubicBezTo>
                    <a:pt x="6714" y="4851"/>
                    <a:pt x="6824" y="4766"/>
                    <a:pt x="6894" y="4766"/>
                  </a:cubicBezTo>
                  <a:lnTo>
                    <a:pt x="7173" y="4766"/>
                  </a:lnTo>
                  <a:cubicBezTo>
                    <a:pt x="7521" y="4766"/>
                    <a:pt x="7804" y="4483"/>
                    <a:pt x="7804" y="4135"/>
                  </a:cubicBezTo>
                  <a:lnTo>
                    <a:pt x="7804" y="3668"/>
                  </a:lnTo>
                  <a:cubicBezTo>
                    <a:pt x="7804" y="3321"/>
                    <a:pt x="7521" y="3038"/>
                    <a:pt x="7173" y="3038"/>
                  </a:cubicBezTo>
                  <a:close/>
                  <a:moveTo>
                    <a:pt x="5608" y="3902"/>
                  </a:moveTo>
                  <a:cubicBezTo>
                    <a:pt x="5608" y="4843"/>
                    <a:pt x="4843" y="5608"/>
                    <a:pt x="3902" y="5608"/>
                  </a:cubicBezTo>
                  <a:cubicBezTo>
                    <a:pt x="2961" y="5608"/>
                    <a:pt x="2196" y="4843"/>
                    <a:pt x="2196" y="3902"/>
                  </a:cubicBezTo>
                  <a:cubicBezTo>
                    <a:pt x="2196" y="2961"/>
                    <a:pt x="2961" y="2196"/>
                    <a:pt x="3902" y="2196"/>
                  </a:cubicBezTo>
                  <a:cubicBezTo>
                    <a:pt x="4843" y="2196"/>
                    <a:pt x="5608" y="2961"/>
                    <a:pt x="5608" y="3902"/>
                  </a:cubicBezTo>
                  <a:close/>
                </a:path>
              </a:pathLst>
            </a:custGeom>
            <a:solidFill>
              <a:schemeClr val="accent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3" name="椭圆 32"/>
          <p:cNvSpPr/>
          <p:nvPr>
            <p:custDataLst>
              <p:tags r:id="rId8"/>
            </p:custDataLst>
          </p:nvPr>
        </p:nvSpPr>
        <p:spPr>
          <a:xfrm>
            <a:off x="4882515" y="3590290"/>
            <a:ext cx="1878965" cy="1896745"/>
          </a:xfrm>
          <a:prstGeom prst="ellipse">
            <a:avLst/>
          </a:prstGeom>
          <a:solidFill>
            <a:schemeClr val="accent3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 defTabSz="914400"/>
            <a:r>
              <a:rPr lang="zh-CN" altLang="en-US" dirty="0">
                <a:cs typeface="+mn-ea"/>
                <a:sym typeface="+mn-lt"/>
              </a:rPr>
              <a:t>新工科教育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矩形 43"/>
          <p:cNvSpPr/>
          <p:nvPr>
            <p:custDataLst>
              <p:tags r:id="rId9"/>
            </p:custDataLst>
          </p:nvPr>
        </p:nvSpPr>
        <p:spPr bwMode="auto">
          <a:xfrm>
            <a:off x="1498600" y="951865"/>
            <a:ext cx="9380855" cy="8477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在当前的教育体系中，不管是小学、中学还是高等教育阶段，数学作业的批改与辅导是教学活动的核心环节。然而，传统的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zh-CN" altLang="en-US" sz="1600" dirty="0">
                <a:cs typeface="+mn-ea"/>
                <a:sym typeface="+mn-lt"/>
              </a:rPr>
              <a:t>人工批改</a:t>
            </a:r>
            <a:r>
              <a:rPr lang="en-US" altLang="zh-CN" sz="1600" dirty="0">
                <a:cs typeface="+mn-ea"/>
                <a:sym typeface="+mn-lt"/>
              </a:rPr>
              <a:t>”</a:t>
            </a:r>
            <a:r>
              <a:rPr lang="zh-CN" altLang="en-US" sz="1600" dirty="0">
                <a:cs typeface="+mn-ea"/>
                <a:sym typeface="+mn-lt"/>
              </a:rPr>
              <a:t>模式面临三大痛点：</a:t>
            </a:r>
            <a:endParaRPr lang="zh-CN" altLang="en-US" sz="1600" dirty="0">
              <a:cs typeface="+mn-ea"/>
              <a:sym typeface="+mn-lt"/>
            </a:endParaRPr>
          </a:p>
        </p:txBody>
      </p:sp>
      <p:grpSp>
        <p:nvGrpSpPr>
          <p:cNvPr id="35" name="组合 34"/>
          <p:cNvGrpSpPr/>
          <p:nvPr>
            <p:custDataLst>
              <p:tags r:id="rId10"/>
            </p:custDataLst>
          </p:nvPr>
        </p:nvGrpSpPr>
        <p:grpSpPr>
          <a:xfrm>
            <a:off x="629920" y="4156710"/>
            <a:ext cx="3138170" cy="1040130"/>
            <a:chOff x="8128437" y="2029625"/>
            <a:chExt cx="3390463" cy="1040130"/>
          </a:xfrm>
        </p:grpSpPr>
        <p:sp>
          <p:nvSpPr>
            <p:cNvPr id="42" name="矩形 41"/>
            <p:cNvSpPr/>
            <p:nvPr>
              <p:custDataLst>
                <p:tags r:id="rId11"/>
              </p:custDataLst>
            </p:nvPr>
          </p:nvSpPr>
          <p:spPr bwMode="auto">
            <a:xfrm>
              <a:off x="8129072" y="2416975"/>
              <a:ext cx="3279380" cy="652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教师需要花费大量时间批改海量作业，学生无法在解题后获得即时反馈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2"/>
              </p:custDataLst>
            </p:nvPr>
          </p:nvSpPr>
          <p:spPr>
            <a:xfrm>
              <a:off x="8128437" y="2029625"/>
              <a:ext cx="3390463" cy="489700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cs typeface="+mn-ea"/>
                  <a:sym typeface="+mn-lt"/>
                </a:rPr>
                <a:t>效率低下，时滞性高</a:t>
              </a:r>
              <a:endParaRPr lang="zh-CN" altLang="en-US" sz="1600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0" name="矩形 39"/>
          <p:cNvSpPr/>
          <p:nvPr>
            <p:custDataLst>
              <p:tags r:id="rId13"/>
            </p:custDataLst>
          </p:nvPr>
        </p:nvSpPr>
        <p:spPr bwMode="auto">
          <a:xfrm>
            <a:off x="8174990" y="4524375"/>
            <a:ext cx="3388995" cy="6527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教师的</a:t>
            </a:r>
            <a:r>
              <a:rPr lang="zh-CN" altLang="en-US" sz="1400" dirty="0">
                <a:cs typeface="+mn-ea"/>
                <a:sym typeface="+mn-lt"/>
              </a:rPr>
              <a:t>精力有限，往往只能对最终答案进行</a:t>
            </a:r>
            <a:r>
              <a:rPr lang="en-US" altLang="zh-CN" sz="1400" dirty="0">
                <a:cs typeface="+mn-ea"/>
                <a:sym typeface="+mn-lt"/>
              </a:rPr>
              <a:t>“</a:t>
            </a:r>
            <a:r>
              <a:rPr lang="zh-CN" altLang="en-US" sz="1400" dirty="0">
                <a:cs typeface="+mn-ea"/>
                <a:sym typeface="+mn-lt"/>
              </a:rPr>
              <a:t>对</a:t>
            </a:r>
            <a:r>
              <a:rPr lang="en-US" altLang="zh-CN" sz="1400" dirty="0">
                <a:cs typeface="+mn-ea"/>
                <a:sym typeface="+mn-lt"/>
              </a:rPr>
              <a:t>/</a:t>
            </a:r>
            <a:r>
              <a:rPr lang="zh-CN" altLang="en-US" sz="1400" dirty="0">
                <a:cs typeface="+mn-ea"/>
                <a:sym typeface="+mn-lt"/>
              </a:rPr>
              <a:t>错</a:t>
            </a:r>
            <a:r>
              <a:rPr lang="en-US" altLang="zh-CN" sz="1400" dirty="0">
                <a:cs typeface="+mn-ea"/>
                <a:sym typeface="+mn-lt"/>
              </a:rPr>
              <a:t>”</a:t>
            </a:r>
            <a:r>
              <a:rPr lang="zh-CN" altLang="en-US" sz="1400" dirty="0">
                <a:cs typeface="+mn-ea"/>
                <a:sym typeface="+mn-lt"/>
              </a:rPr>
              <a:t>评判，难以对解题的过程给出详细、个性化的指导；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8108315" y="4136874"/>
            <a:ext cx="3388902" cy="489700"/>
          </a:xfrm>
          <a:prstGeom prst="rect">
            <a:avLst/>
          </a:prstGeom>
          <a:noFill/>
          <a:ln w="3175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lt"/>
              </a:rPr>
              <a:t>缺乏细粒度反馈</a:t>
            </a:r>
            <a:endParaRPr lang="zh-CN" altLang="en-US" sz="16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 bwMode="auto">
          <a:xfrm>
            <a:off x="1405255" y="5972175"/>
            <a:ext cx="9380855" cy="8477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市场和教育领域急需一种新型智能系统，它不仅能识别学生（手写）的答案，更能深入理解其解题逻辑，评估步骤的有效性，并提供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zh-CN" altLang="en-US" sz="1600" dirty="0">
                <a:cs typeface="+mn-ea"/>
                <a:sym typeface="+mn-lt"/>
              </a:rPr>
              <a:t>助教级</a:t>
            </a:r>
            <a:r>
              <a:rPr lang="en-US" altLang="zh-CN" sz="1600" dirty="0">
                <a:cs typeface="+mn-ea"/>
                <a:sym typeface="+mn-lt"/>
              </a:rPr>
              <a:t>”</a:t>
            </a:r>
            <a:r>
              <a:rPr lang="zh-CN" altLang="en-US" sz="1600" dirty="0">
                <a:cs typeface="+mn-ea"/>
                <a:sym typeface="+mn-lt"/>
              </a:rPr>
              <a:t>的精细化反馈。</a:t>
            </a:r>
            <a:endParaRPr lang="zh-CN" altLang="en-US" sz="1600" dirty="0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>
            <p:custDataLst>
              <p:tags r:id="rId16"/>
            </p:custDataLst>
          </p:nvPr>
        </p:nvGrpSpPr>
        <p:grpSpPr>
          <a:xfrm>
            <a:off x="3901761" y="4582159"/>
            <a:ext cx="609600" cy="609600"/>
            <a:chOff x="7365051" y="3327399"/>
            <a:chExt cx="609600" cy="609600"/>
          </a:xfrm>
        </p:grpSpPr>
        <p:sp>
          <p:nvSpPr>
            <p:cNvPr id="6" name="椭圆 5"/>
            <p:cNvSpPr/>
            <p:nvPr>
              <p:custDataLst>
                <p:tags r:id="rId17"/>
              </p:custDataLst>
            </p:nvPr>
          </p:nvSpPr>
          <p:spPr>
            <a:xfrm>
              <a:off x="7365051" y="3327399"/>
              <a:ext cx="609600" cy="6096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任意多边形: 形状 50"/>
            <p:cNvSpPr/>
            <p:nvPr>
              <p:custDataLst>
                <p:tags r:id="rId18"/>
              </p:custDataLst>
            </p:nvPr>
          </p:nvSpPr>
          <p:spPr>
            <a:xfrm>
              <a:off x="7520398" y="3482972"/>
              <a:ext cx="298906" cy="298454"/>
            </a:xfrm>
            <a:custGeom>
              <a:avLst/>
              <a:gdLst>
                <a:gd name="T0" fmla="*/ 6894 w 7804"/>
                <a:gd name="T1" fmla="*/ 3038 h 7804"/>
                <a:gd name="T2" fmla="*/ 6614 w 7804"/>
                <a:gd name="T3" fmla="*/ 2704 h 7804"/>
                <a:gd name="T4" fmla="*/ 6826 w 7804"/>
                <a:gd name="T5" fmla="*/ 2200 h 7804"/>
                <a:gd name="T6" fmla="*/ 6496 w 7804"/>
                <a:gd name="T7" fmla="*/ 978 h 7804"/>
                <a:gd name="T8" fmla="*/ 5604 w 7804"/>
                <a:gd name="T9" fmla="*/ 978 h 7804"/>
                <a:gd name="T10" fmla="*/ 5254 w 7804"/>
                <a:gd name="T11" fmla="*/ 1222 h 7804"/>
                <a:gd name="T12" fmla="*/ 4973 w 7804"/>
                <a:gd name="T13" fmla="*/ 1137 h 7804"/>
                <a:gd name="T14" fmla="*/ 4766 w 7804"/>
                <a:gd name="T15" fmla="*/ 631 h 7804"/>
                <a:gd name="T16" fmla="*/ 3668 w 7804"/>
                <a:gd name="T17" fmla="*/ 0 h 7804"/>
                <a:gd name="T18" fmla="*/ 3038 w 7804"/>
                <a:gd name="T19" fmla="*/ 910 h 7804"/>
                <a:gd name="T20" fmla="*/ 2704 w 7804"/>
                <a:gd name="T21" fmla="*/ 1190 h 7804"/>
                <a:gd name="T22" fmla="*/ 2398 w 7804"/>
                <a:gd name="T23" fmla="*/ 1175 h 7804"/>
                <a:gd name="T24" fmla="*/ 1754 w 7804"/>
                <a:gd name="T25" fmla="*/ 793 h 7804"/>
                <a:gd name="T26" fmla="*/ 978 w 7804"/>
                <a:gd name="T27" fmla="*/ 1308 h 7804"/>
                <a:gd name="T28" fmla="*/ 1175 w 7804"/>
                <a:gd name="T29" fmla="*/ 2398 h 7804"/>
                <a:gd name="T30" fmla="*/ 1137 w 7804"/>
                <a:gd name="T31" fmla="*/ 2831 h 7804"/>
                <a:gd name="T32" fmla="*/ 631 w 7804"/>
                <a:gd name="T33" fmla="*/ 3038 h 7804"/>
                <a:gd name="T34" fmla="*/ 0 w 7804"/>
                <a:gd name="T35" fmla="*/ 4136 h 7804"/>
                <a:gd name="T36" fmla="*/ 910 w 7804"/>
                <a:gd name="T37" fmla="*/ 4766 h 7804"/>
                <a:gd name="T38" fmla="*/ 1190 w 7804"/>
                <a:gd name="T39" fmla="*/ 5100 h 7804"/>
                <a:gd name="T40" fmla="*/ 978 w 7804"/>
                <a:gd name="T41" fmla="*/ 5604 h 7804"/>
                <a:gd name="T42" fmla="*/ 1308 w 7804"/>
                <a:gd name="T43" fmla="*/ 6826 h 7804"/>
                <a:gd name="T44" fmla="*/ 2200 w 7804"/>
                <a:gd name="T45" fmla="*/ 6826 h 7804"/>
                <a:gd name="T46" fmla="*/ 2550 w 7804"/>
                <a:gd name="T47" fmla="*/ 6582 h 7804"/>
                <a:gd name="T48" fmla="*/ 2831 w 7804"/>
                <a:gd name="T49" fmla="*/ 6667 h 7804"/>
                <a:gd name="T50" fmla="*/ 3038 w 7804"/>
                <a:gd name="T51" fmla="*/ 7173 h 7804"/>
                <a:gd name="T52" fmla="*/ 4136 w 7804"/>
                <a:gd name="T53" fmla="*/ 7804 h 7804"/>
                <a:gd name="T54" fmla="*/ 4766 w 7804"/>
                <a:gd name="T55" fmla="*/ 6894 h 7804"/>
                <a:gd name="T56" fmla="*/ 5100 w 7804"/>
                <a:gd name="T57" fmla="*/ 6614 h 7804"/>
                <a:gd name="T58" fmla="*/ 5406 w 7804"/>
                <a:gd name="T59" fmla="*/ 6629 h 7804"/>
                <a:gd name="T60" fmla="*/ 6050 w 7804"/>
                <a:gd name="T61" fmla="*/ 7011 h 7804"/>
                <a:gd name="T62" fmla="*/ 6647 w 7804"/>
                <a:gd name="T63" fmla="*/ 6675 h 7804"/>
                <a:gd name="T64" fmla="*/ 6826 w 7804"/>
                <a:gd name="T65" fmla="*/ 6496 h 7804"/>
                <a:gd name="T66" fmla="*/ 6629 w 7804"/>
                <a:gd name="T67" fmla="*/ 5406 h 7804"/>
                <a:gd name="T68" fmla="*/ 6667 w 7804"/>
                <a:gd name="T69" fmla="*/ 4972 h 7804"/>
                <a:gd name="T70" fmla="*/ 7173 w 7804"/>
                <a:gd name="T71" fmla="*/ 4766 h 7804"/>
                <a:gd name="T72" fmla="*/ 7804 w 7804"/>
                <a:gd name="T73" fmla="*/ 3668 h 7804"/>
                <a:gd name="T74" fmla="*/ 5608 w 7804"/>
                <a:gd name="T75" fmla="*/ 3902 h 7804"/>
                <a:gd name="T76" fmla="*/ 2196 w 7804"/>
                <a:gd name="T77" fmla="*/ 3902 h 7804"/>
                <a:gd name="T78" fmla="*/ 5608 w 7804"/>
                <a:gd name="T79" fmla="*/ 3902 h 7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804" h="7804">
                  <a:moveTo>
                    <a:pt x="7173" y="3038"/>
                  </a:moveTo>
                  <a:lnTo>
                    <a:pt x="6894" y="3038"/>
                  </a:lnTo>
                  <a:cubicBezTo>
                    <a:pt x="6824" y="3038"/>
                    <a:pt x="6714" y="2953"/>
                    <a:pt x="6667" y="2831"/>
                  </a:cubicBezTo>
                  <a:cubicBezTo>
                    <a:pt x="6650" y="2789"/>
                    <a:pt x="6632" y="2746"/>
                    <a:pt x="6614" y="2704"/>
                  </a:cubicBezTo>
                  <a:cubicBezTo>
                    <a:pt x="6561" y="2585"/>
                    <a:pt x="6579" y="2447"/>
                    <a:pt x="6629" y="2398"/>
                  </a:cubicBezTo>
                  <a:lnTo>
                    <a:pt x="6826" y="2200"/>
                  </a:lnTo>
                  <a:cubicBezTo>
                    <a:pt x="7072" y="1954"/>
                    <a:pt x="7072" y="1554"/>
                    <a:pt x="6826" y="1308"/>
                  </a:cubicBezTo>
                  <a:lnTo>
                    <a:pt x="6496" y="978"/>
                  </a:lnTo>
                  <a:cubicBezTo>
                    <a:pt x="6377" y="859"/>
                    <a:pt x="6218" y="793"/>
                    <a:pt x="6050" y="793"/>
                  </a:cubicBezTo>
                  <a:cubicBezTo>
                    <a:pt x="5882" y="793"/>
                    <a:pt x="5723" y="859"/>
                    <a:pt x="5604" y="978"/>
                  </a:cubicBezTo>
                  <a:lnTo>
                    <a:pt x="5406" y="1176"/>
                  </a:lnTo>
                  <a:cubicBezTo>
                    <a:pt x="5378" y="1204"/>
                    <a:pt x="5319" y="1222"/>
                    <a:pt x="5254" y="1222"/>
                  </a:cubicBezTo>
                  <a:cubicBezTo>
                    <a:pt x="5201" y="1222"/>
                    <a:pt x="5147" y="1211"/>
                    <a:pt x="5100" y="1190"/>
                  </a:cubicBezTo>
                  <a:cubicBezTo>
                    <a:pt x="5058" y="1172"/>
                    <a:pt x="5015" y="1154"/>
                    <a:pt x="4973" y="1137"/>
                  </a:cubicBezTo>
                  <a:cubicBezTo>
                    <a:pt x="4851" y="1090"/>
                    <a:pt x="4766" y="980"/>
                    <a:pt x="4766" y="910"/>
                  </a:cubicBezTo>
                  <a:lnTo>
                    <a:pt x="4766" y="631"/>
                  </a:lnTo>
                  <a:cubicBezTo>
                    <a:pt x="4766" y="283"/>
                    <a:pt x="4483" y="0"/>
                    <a:pt x="4136" y="0"/>
                  </a:cubicBezTo>
                  <a:lnTo>
                    <a:pt x="3668" y="0"/>
                  </a:lnTo>
                  <a:cubicBezTo>
                    <a:pt x="3321" y="0"/>
                    <a:pt x="3038" y="283"/>
                    <a:pt x="3038" y="631"/>
                  </a:cubicBezTo>
                  <a:lnTo>
                    <a:pt x="3038" y="910"/>
                  </a:lnTo>
                  <a:cubicBezTo>
                    <a:pt x="3038" y="980"/>
                    <a:pt x="2953" y="1090"/>
                    <a:pt x="2831" y="1137"/>
                  </a:cubicBezTo>
                  <a:cubicBezTo>
                    <a:pt x="2789" y="1154"/>
                    <a:pt x="2746" y="1172"/>
                    <a:pt x="2704" y="1190"/>
                  </a:cubicBezTo>
                  <a:cubicBezTo>
                    <a:pt x="2657" y="1211"/>
                    <a:pt x="2603" y="1222"/>
                    <a:pt x="2550" y="1222"/>
                  </a:cubicBezTo>
                  <a:cubicBezTo>
                    <a:pt x="2485" y="1222"/>
                    <a:pt x="2426" y="1204"/>
                    <a:pt x="2398" y="1175"/>
                  </a:cubicBezTo>
                  <a:lnTo>
                    <a:pt x="2200" y="978"/>
                  </a:lnTo>
                  <a:cubicBezTo>
                    <a:pt x="2081" y="859"/>
                    <a:pt x="1922" y="793"/>
                    <a:pt x="1754" y="793"/>
                  </a:cubicBezTo>
                  <a:cubicBezTo>
                    <a:pt x="1585" y="793"/>
                    <a:pt x="1427" y="859"/>
                    <a:pt x="1308" y="978"/>
                  </a:cubicBezTo>
                  <a:lnTo>
                    <a:pt x="978" y="1308"/>
                  </a:lnTo>
                  <a:cubicBezTo>
                    <a:pt x="732" y="1554"/>
                    <a:pt x="732" y="1954"/>
                    <a:pt x="978" y="2200"/>
                  </a:cubicBezTo>
                  <a:lnTo>
                    <a:pt x="1175" y="2398"/>
                  </a:lnTo>
                  <a:cubicBezTo>
                    <a:pt x="1225" y="2447"/>
                    <a:pt x="1243" y="2585"/>
                    <a:pt x="1190" y="2704"/>
                  </a:cubicBezTo>
                  <a:cubicBezTo>
                    <a:pt x="1172" y="2746"/>
                    <a:pt x="1154" y="2789"/>
                    <a:pt x="1137" y="2831"/>
                  </a:cubicBezTo>
                  <a:cubicBezTo>
                    <a:pt x="1090" y="2953"/>
                    <a:pt x="980" y="3038"/>
                    <a:pt x="910" y="3038"/>
                  </a:cubicBezTo>
                  <a:lnTo>
                    <a:pt x="631" y="3038"/>
                  </a:lnTo>
                  <a:cubicBezTo>
                    <a:pt x="283" y="3038"/>
                    <a:pt x="0" y="3321"/>
                    <a:pt x="0" y="3668"/>
                  </a:cubicBezTo>
                  <a:lnTo>
                    <a:pt x="0" y="4136"/>
                  </a:lnTo>
                  <a:cubicBezTo>
                    <a:pt x="0" y="4483"/>
                    <a:pt x="283" y="4766"/>
                    <a:pt x="631" y="4766"/>
                  </a:cubicBezTo>
                  <a:lnTo>
                    <a:pt x="910" y="4766"/>
                  </a:lnTo>
                  <a:cubicBezTo>
                    <a:pt x="980" y="4766"/>
                    <a:pt x="1090" y="4851"/>
                    <a:pt x="1137" y="4972"/>
                  </a:cubicBezTo>
                  <a:cubicBezTo>
                    <a:pt x="1154" y="5015"/>
                    <a:pt x="1172" y="5058"/>
                    <a:pt x="1190" y="5100"/>
                  </a:cubicBezTo>
                  <a:cubicBezTo>
                    <a:pt x="1243" y="5219"/>
                    <a:pt x="1225" y="5357"/>
                    <a:pt x="1175" y="5406"/>
                  </a:cubicBezTo>
                  <a:lnTo>
                    <a:pt x="978" y="5604"/>
                  </a:lnTo>
                  <a:cubicBezTo>
                    <a:pt x="732" y="5850"/>
                    <a:pt x="732" y="6250"/>
                    <a:pt x="978" y="6496"/>
                  </a:cubicBezTo>
                  <a:lnTo>
                    <a:pt x="1308" y="6826"/>
                  </a:lnTo>
                  <a:cubicBezTo>
                    <a:pt x="1427" y="6945"/>
                    <a:pt x="1586" y="7011"/>
                    <a:pt x="1754" y="7011"/>
                  </a:cubicBezTo>
                  <a:cubicBezTo>
                    <a:pt x="1922" y="7011"/>
                    <a:pt x="2081" y="6945"/>
                    <a:pt x="2200" y="6826"/>
                  </a:cubicBezTo>
                  <a:lnTo>
                    <a:pt x="2398" y="6628"/>
                  </a:lnTo>
                  <a:cubicBezTo>
                    <a:pt x="2427" y="6599"/>
                    <a:pt x="2484" y="6582"/>
                    <a:pt x="2550" y="6582"/>
                  </a:cubicBezTo>
                  <a:cubicBezTo>
                    <a:pt x="2602" y="6582"/>
                    <a:pt x="2657" y="6593"/>
                    <a:pt x="2704" y="6614"/>
                  </a:cubicBezTo>
                  <a:cubicBezTo>
                    <a:pt x="2745" y="6632"/>
                    <a:pt x="2788" y="6650"/>
                    <a:pt x="2831" y="6667"/>
                  </a:cubicBezTo>
                  <a:cubicBezTo>
                    <a:pt x="2953" y="6714"/>
                    <a:pt x="3038" y="6824"/>
                    <a:pt x="3038" y="6894"/>
                  </a:cubicBezTo>
                  <a:lnTo>
                    <a:pt x="3038" y="7173"/>
                  </a:lnTo>
                  <a:cubicBezTo>
                    <a:pt x="3038" y="7521"/>
                    <a:pt x="3321" y="7804"/>
                    <a:pt x="3668" y="7804"/>
                  </a:cubicBezTo>
                  <a:lnTo>
                    <a:pt x="4136" y="7804"/>
                  </a:lnTo>
                  <a:cubicBezTo>
                    <a:pt x="4483" y="7804"/>
                    <a:pt x="4766" y="7521"/>
                    <a:pt x="4766" y="7173"/>
                  </a:cubicBezTo>
                  <a:lnTo>
                    <a:pt x="4766" y="6894"/>
                  </a:lnTo>
                  <a:cubicBezTo>
                    <a:pt x="4766" y="6824"/>
                    <a:pt x="4851" y="6714"/>
                    <a:pt x="4972" y="6667"/>
                  </a:cubicBezTo>
                  <a:cubicBezTo>
                    <a:pt x="5015" y="6650"/>
                    <a:pt x="5058" y="6632"/>
                    <a:pt x="5100" y="6614"/>
                  </a:cubicBezTo>
                  <a:cubicBezTo>
                    <a:pt x="5146" y="6593"/>
                    <a:pt x="5201" y="6582"/>
                    <a:pt x="5254" y="6582"/>
                  </a:cubicBezTo>
                  <a:cubicBezTo>
                    <a:pt x="5319" y="6582"/>
                    <a:pt x="5377" y="6600"/>
                    <a:pt x="5406" y="6629"/>
                  </a:cubicBezTo>
                  <a:lnTo>
                    <a:pt x="5604" y="6826"/>
                  </a:lnTo>
                  <a:cubicBezTo>
                    <a:pt x="5723" y="6945"/>
                    <a:pt x="5882" y="7011"/>
                    <a:pt x="6050" y="7011"/>
                  </a:cubicBezTo>
                  <a:cubicBezTo>
                    <a:pt x="6068" y="7011"/>
                    <a:pt x="6087" y="7010"/>
                    <a:pt x="6105" y="7009"/>
                  </a:cubicBezTo>
                  <a:cubicBezTo>
                    <a:pt x="6335" y="6989"/>
                    <a:pt x="6538" y="6785"/>
                    <a:pt x="6647" y="6675"/>
                  </a:cubicBezTo>
                  <a:lnTo>
                    <a:pt x="6661" y="6661"/>
                  </a:lnTo>
                  <a:lnTo>
                    <a:pt x="6826" y="6496"/>
                  </a:lnTo>
                  <a:cubicBezTo>
                    <a:pt x="7072" y="6250"/>
                    <a:pt x="7072" y="5850"/>
                    <a:pt x="6826" y="5604"/>
                  </a:cubicBezTo>
                  <a:lnTo>
                    <a:pt x="6629" y="5406"/>
                  </a:lnTo>
                  <a:cubicBezTo>
                    <a:pt x="6579" y="5357"/>
                    <a:pt x="6561" y="5219"/>
                    <a:pt x="6614" y="5100"/>
                  </a:cubicBezTo>
                  <a:cubicBezTo>
                    <a:pt x="6632" y="5058"/>
                    <a:pt x="6650" y="5015"/>
                    <a:pt x="6667" y="4972"/>
                  </a:cubicBezTo>
                  <a:cubicBezTo>
                    <a:pt x="6714" y="4851"/>
                    <a:pt x="6824" y="4766"/>
                    <a:pt x="6894" y="4766"/>
                  </a:cubicBezTo>
                  <a:lnTo>
                    <a:pt x="7173" y="4766"/>
                  </a:lnTo>
                  <a:cubicBezTo>
                    <a:pt x="7521" y="4766"/>
                    <a:pt x="7804" y="4483"/>
                    <a:pt x="7804" y="4135"/>
                  </a:cubicBezTo>
                  <a:lnTo>
                    <a:pt x="7804" y="3668"/>
                  </a:lnTo>
                  <a:cubicBezTo>
                    <a:pt x="7804" y="3321"/>
                    <a:pt x="7521" y="3038"/>
                    <a:pt x="7173" y="3038"/>
                  </a:cubicBezTo>
                  <a:close/>
                  <a:moveTo>
                    <a:pt x="5608" y="3902"/>
                  </a:moveTo>
                  <a:cubicBezTo>
                    <a:pt x="5608" y="4843"/>
                    <a:pt x="4843" y="5608"/>
                    <a:pt x="3902" y="5608"/>
                  </a:cubicBezTo>
                  <a:cubicBezTo>
                    <a:pt x="2961" y="5608"/>
                    <a:pt x="2196" y="4843"/>
                    <a:pt x="2196" y="3902"/>
                  </a:cubicBezTo>
                  <a:cubicBezTo>
                    <a:pt x="2196" y="2961"/>
                    <a:pt x="2961" y="2196"/>
                    <a:pt x="3902" y="2196"/>
                  </a:cubicBezTo>
                  <a:cubicBezTo>
                    <a:pt x="4843" y="2196"/>
                    <a:pt x="5608" y="2961"/>
                    <a:pt x="5608" y="3902"/>
                  </a:cubicBezTo>
                  <a:close/>
                </a:path>
              </a:pathLst>
            </a:custGeom>
            <a:solidFill>
              <a:schemeClr val="accent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19"/>
            </p:custDataLst>
          </p:nvPr>
        </p:nvSpPr>
        <p:spPr bwMode="auto">
          <a:xfrm>
            <a:off x="3965575" y="2063750"/>
            <a:ext cx="3836035" cy="6527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面对</a:t>
            </a:r>
            <a:r>
              <a:rPr lang="en-US" altLang="zh-CN" sz="1400" dirty="0">
                <a:cs typeface="+mn-ea"/>
                <a:sym typeface="+mn-lt"/>
              </a:rPr>
              <a:t>“</a:t>
            </a:r>
            <a:r>
              <a:rPr lang="zh-CN" altLang="en-US" sz="1400" dirty="0">
                <a:cs typeface="+mn-ea"/>
                <a:sym typeface="+mn-lt"/>
              </a:rPr>
              <a:t>解法不唯一</a:t>
            </a:r>
            <a:r>
              <a:rPr lang="en-US" altLang="zh-CN" sz="1400" dirty="0">
                <a:cs typeface="+mn-ea"/>
                <a:sym typeface="+mn-lt"/>
              </a:rPr>
              <a:t>”</a:t>
            </a:r>
            <a:r>
              <a:rPr lang="zh-CN" altLang="en-US" sz="1400" dirty="0">
                <a:cs typeface="+mn-ea"/>
                <a:sym typeface="+mn-lt"/>
              </a:rPr>
              <a:t>的数学题，不同教师对步骤的合理性、完整性评价标准可能存在差异，导致评分不一致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>
            <p:custDataLst>
              <p:tags r:id="rId20"/>
            </p:custDataLst>
          </p:nvPr>
        </p:nvSpPr>
        <p:spPr>
          <a:xfrm>
            <a:off x="4057015" y="1676249"/>
            <a:ext cx="3388902" cy="489700"/>
          </a:xfrm>
          <a:prstGeom prst="rect">
            <a:avLst/>
          </a:prstGeom>
          <a:noFill/>
          <a:ln w="3175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lt"/>
              </a:rPr>
              <a:t>评价主观性强</a:t>
            </a:r>
            <a:endParaRPr lang="zh-CN" altLang="en-US" sz="16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意义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任意多边形: 形状 23"/>
          <p:cNvSpPr/>
          <p:nvPr/>
        </p:nvSpPr>
        <p:spPr bwMode="auto">
          <a:xfrm>
            <a:off x="5681483" y="4289459"/>
            <a:ext cx="857480" cy="1332955"/>
          </a:xfrm>
          <a:custGeom>
            <a:avLst/>
            <a:gdLst>
              <a:gd name="T0" fmla="*/ 422 w 422"/>
              <a:gd name="T1" fmla="*/ 656 h 656"/>
              <a:gd name="T2" fmla="*/ 211 w 422"/>
              <a:gd name="T3" fmla="*/ 571 h 656"/>
              <a:gd name="T4" fmla="*/ 0 w 422"/>
              <a:gd name="T5" fmla="*/ 656 h 656"/>
              <a:gd name="T6" fmla="*/ 0 w 422"/>
              <a:gd name="T7" fmla="*/ 0 h 656"/>
              <a:gd name="T8" fmla="*/ 422 w 422"/>
              <a:gd name="T9" fmla="*/ 0 h 656"/>
              <a:gd name="T10" fmla="*/ 422 w 422"/>
              <a:gd name="T11" fmla="*/ 656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2" h="656">
                <a:moveTo>
                  <a:pt x="422" y="656"/>
                </a:moveTo>
                <a:lnTo>
                  <a:pt x="211" y="571"/>
                </a:lnTo>
                <a:lnTo>
                  <a:pt x="0" y="656"/>
                </a:lnTo>
                <a:lnTo>
                  <a:pt x="0" y="0"/>
                </a:lnTo>
                <a:lnTo>
                  <a:pt x="422" y="0"/>
                </a:lnTo>
                <a:lnTo>
                  <a:pt x="422" y="656"/>
                </a:lnTo>
                <a:close/>
              </a:path>
            </a:pathLst>
          </a:custGeom>
          <a:solidFill>
            <a:srgbClr val="E06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任意多边形: 形状 24"/>
          <p:cNvSpPr/>
          <p:nvPr/>
        </p:nvSpPr>
        <p:spPr bwMode="auto">
          <a:xfrm>
            <a:off x="5681483" y="4289459"/>
            <a:ext cx="857480" cy="1332955"/>
          </a:xfrm>
          <a:custGeom>
            <a:avLst/>
            <a:gdLst>
              <a:gd name="T0" fmla="*/ 422 w 422"/>
              <a:gd name="T1" fmla="*/ 656 h 656"/>
              <a:gd name="T2" fmla="*/ 211 w 422"/>
              <a:gd name="T3" fmla="*/ 571 h 656"/>
              <a:gd name="T4" fmla="*/ 0 w 422"/>
              <a:gd name="T5" fmla="*/ 656 h 656"/>
              <a:gd name="T6" fmla="*/ 0 w 422"/>
              <a:gd name="T7" fmla="*/ 0 h 656"/>
              <a:gd name="T8" fmla="*/ 422 w 422"/>
              <a:gd name="T9" fmla="*/ 0 h 656"/>
              <a:gd name="T10" fmla="*/ 422 w 422"/>
              <a:gd name="T11" fmla="*/ 656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2" h="656">
                <a:moveTo>
                  <a:pt x="422" y="656"/>
                </a:moveTo>
                <a:lnTo>
                  <a:pt x="211" y="571"/>
                </a:lnTo>
                <a:lnTo>
                  <a:pt x="0" y="656"/>
                </a:lnTo>
                <a:lnTo>
                  <a:pt x="0" y="0"/>
                </a:lnTo>
                <a:lnTo>
                  <a:pt x="422" y="0"/>
                </a:lnTo>
                <a:lnTo>
                  <a:pt x="422" y="65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6110224" y="4289459"/>
            <a:ext cx="428740" cy="1332955"/>
          </a:xfrm>
          <a:custGeom>
            <a:avLst/>
            <a:gdLst>
              <a:gd name="T0" fmla="*/ 0 w 211"/>
              <a:gd name="T1" fmla="*/ 571 h 656"/>
              <a:gd name="T2" fmla="*/ 0 w 211"/>
              <a:gd name="T3" fmla="*/ 571 h 656"/>
              <a:gd name="T4" fmla="*/ 211 w 211"/>
              <a:gd name="T5" fmla="*/ 656 h 656"/>
              <a:gd name="T6" fmla="*/ 211 w 211"/>
              <a:gd name="T7" fmla="*/ 0 h 656"/>
              <a:gd name="T8" fmla="*/ 0 w 211"/>
              <a:gd name="T9" fmla="*/ 0 h 656"/>
              <a:gd name="T10" fmla="*/ 0 w 211"/>
              <a:gd name="T11" fmla="*/ 571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1" h="656">
                <a:moveTo>
                  <a:pt x="0" y="571"/>
                </a:moveTo>
                <a:lnTo>
                  <a:pt x="0" y="571"/>
                </a:lnTo>
                <a:lnTo>
                  <a:pt x="211" y="656"/>
                </a:lnTo>
                <a:lnTo>
                  <a:pt x="211" y="0"/>
                </a:lnTo>
                <a:lnTo>
                  <a:pt x="0" y="0"/>
                </a:lnTo>
                <a:lnTo>
                  <a:pt x="0" y="571"/>
                </a:lnTo>
                <a:close/>
              </a:path>
            </a:pathLst>
          </a:custGeom>
          <a:solidFill>
            <a:srgbClr val="E682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任意多边形: 形状 26"/>
          <p:cNvSpPr/>
          <p:nvPr/>
        </p:nvSpPr>
        <p:spPr bwMode="auto">
          <a:xfrm>
            <a:off x="6110224" y="4289459"/>
            <a:ext cx="428740" cy="1332955"/>
          </a:xfrm>
          <a:custGeom>
            <a:avLst/>
            <a:gdLst>
              <a:gd name="T0" fmla="*/ 0 w 211"/>
              <a:gd name="T1" fmla="*/ 571 h 656"/>
              <a:gd name="T2" fmla="*/ 0 w 211"/>
              <a:gd name="T3" fmla="*/ 571 h 656"/>
              <a:gd name="T4" fmla="*/ 211 w 211"/>
              <a:gd name="T5" fmla="*/ 656 h 656"/>
              <a:gd name="T6" fmla="*/ 211 w 211"/>
              <a:gd name="T7" fmla="*/ 0 h 656"/>
              <a:gd name="T8" fmla="*/ 0 w 211"/>
              <a:gd name="T9" fmla="*/ 0 h 656"/>
              <a:gd name="T10" fmla="*/ 0 w 211"/>
              <a:gd name="T11" fmla="*/ 571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1" h="656">
                <a:moveTo>
                  <a:pt x="0" y="571"/>
                </a:moveTo>
                <a:lnTo>
                  <a:pt x="0" y="571"/>
                </a:lnTo>
                <a:lnTo>
                  <a:pt x="211" y="656"/>
                </a:lnTo>
                <a:lnTo>
                  <a:pt x="211" y="0"/>
                </a:lnTo>
                <a:lnTo>
                  <a:pt x="0" y="0"/>
                </a:lnTo>
                <a:lnTo>
                  <a:pt x="0" y="57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任意多边形: 形状 27"/>
          <p:cNvSpPr/>
          <p:nvPr/>
        </p:nvSpPr>
        <p:spPr bwMode="auto">
          <a:xfrm>
            <a:off x="5681483" y="4289459"/>
            <a:ext cx="428740" cy="457187"/>
          </a:xfrm>
          <a:custGeom>
            <a:avLst/>
            <a:gdLst>
              <a:gd name="T0" fmla="*/ 89 w 89"/>
              <a:gd name="T1" fmla="*/ 0 h 95"/>
              <a:gd name="T2" fmla="*/ 0 w 89"/>
              <a:gd name="T3" fmla="*/ 0 h 95"/>
              <a:gd name="T4" fmla="*/ 0 w 89"/>
              <a:gd name="T5" fmla="*/ 95 h 95"/>
              <a:gd name="T6" fmla="*/ 85 w 89"/>
              <a:gd name="T7" fmla="*/ 49 h 95"/>
              <a:gd name="T8" fmla="*/ 89 w 89"/>
              <a:gd name="T9" fmla="*/ 48 h 95"/>
              <a:gd name="T10" fmla="*/ 89 w 89"/>
              <a:gd name="T11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9" h="95">
                <a:moveTo>
                  <a:pt x="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95"/>
                  <a:pt x="0" y="95"/>
                  <a:pt x="0" y="95"/>
                </a:cubicBezTo>
                <a:cubicBezTo>
                  <a:pt x="85" y="49"/>
                  <a:pt x="85" y="49"/>
                  <a:pt x="85" y="49"/>
                </a:cubicBezTo>
                <a:cubicBezTo>
                  <a:pt x="86" y="49"/>
                  <a:pt x="88" y="48"/>
                  <a:pt x="89" y="48"/>
                </a:cubicBezTo>
                <a:cubicBezTo>
                  <a:pt x="89" y="0"/>
                  <a:pt x="89" y="0"/>
                  <a:pt x="89" y="0"/>
                </a:cubicBezTo>
              </a:path>
            </a:pathLst>
          </a:custGeom>
          <a:solidFill>
            <a:srgbClr val="A74E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28"/>
          <p:cNvSpPr/>
          <p:nvPr/>
        </p:nvSpPr>
        <p:spPr bwMode="auto">
          <a:xfrm>
            <a:off x="6110224" y="4289459"/>
            <a:ext cx="428740" cy="436868"/>
          </a:xfrm>
          <a:custGeom>
            <a:avLst/>
            <a:gdLst>
              <a:gd name="T0" fmla="*/ 89 w 89"/>
              <a:gd name="T1" fmla="*/ 0 h 91"/>
              <a:gd name="T2" fmla="*/ 0 w 89"/>
              <a:gd name="T3" fmla="*/ 0 h 91"/>
              <a:gd name="T4" fmla="*/ 0 w 89"/>
              <a:gd name="T5" fmla="*/ 48 h 91"/>
              <a:gd name="T6" fmla="*/ 1 w 89"/>
              <a:gd name="T7" fmla="*/ 48 h 91"/>
              <a:gd name="T8" fmla="*/ 7 w 89"/>
              <a:gd name="T9" fmla="*/ 49 h 91"/>
              <a:gd name="T10" fmla="*/ 89 w 89"/>
              <a:gd name="T11" fmla="*/ 91 h 91"/>
              <a:gd name="T12" fmla="*/ 89 w 89"/>
              <a:gd name="T13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9" h="91">
                <a:moveTo>
                  <a:pt x="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8"/>
                  <a:pt x="1" y="48"/>
                  <a:pt x="1" y="48"/>
                </a:cubicBezTo>
                <a:cubicBezTo>
                  <a:pt x="3" y="48"/>
                  <a:pt x="5" y="48"/>
                  <a:pt x="7" y="49"/>
                </a:cubicBezTo>
                <a:cubicBezTo>
                  <a:pt x="89" y="91"/>
                  <a:pt x="89" y="91"/>
                  <a:pt x="89" y="91"/>
                </a:cubicBezTo>
                <a:cubicBezTo>
                  <a:pt x="89" y="0"/>
                  <a:pt x="89" y="0"/>
                  <a:pt x="89" y="0"/>
                </a:cubicBezTo>
              </a:path>
            </a:pathLst>
          </a:custGeom>
          <a:solidFill>
            <a:srgbClr val="AB64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29"/>
          <p:cNvSpPr/>
          <p:nvPr/>
        </p:nvSpPr>
        <p:spPr bwMode="auto">
          <a:xfrm>
            <a:off x="4559850" y="1973043"/>
            <a:ext cx="3078396" cy="2942255"/>
          </a:xfrm>
          <a:custGeom>
            <a:avLst/>
            <a:gdLst>
              <a:gd name="T0" fmla="*/ 507 w 639"/>
              <a:gd name="T1" fmla="*/ 601 h 611"/>
              <a:gd name="T2" fmla="*/ 329 w 639"/>
              <a:gd name="T3" fmla="*/ 510 h 611"/>
              <a:gd name="T4" fmla="*/ 318 w 639"/>
              <a:gd name="T5" fmla="*/ 511 h 611"/>
              <a:gd name="T6" fmla="*/ 142 w 639"/>
              <a:gd name="T7" fmla="*/ 606 h 611"/>
              <a:gd name="T8" fmla="*/ 124 w 639"/>
              <a:gd name="T9" fmla="*/ 594 h 611"/>
              <a:gd name="T10" fmla="*/ 156 w 639"/>
              <a:gd name="T11" fmla="*/ 396 h 611"/>
              <a:gd name="T12" fmla="*/ 152 w 639"/>
              <a:gd name="T13" fmla="*/ 386 h 611"/>
              <a:gd name="T14" fmla="*/ 7 w 639"/>
              <a:gd name="T15" fmla="*/ 248 h 611"/>
              <a:gd name="T16" fmla="*/ 13 w 639"/>
              <a:gd name="T17" fmla="*/ 227 h 611"/>
              <a:gd name="T18" fmla="*/ 211 w 639"/>
              <a:gd name="T19" fmla="*/ 196 h 611"/>
              <a:gd name="T20" fmla="*/ 220 w 639"/>
              <a:gd name="T21" fmla="*/ 190 h 611"/>
              <a:gd name="T22" fmla="*/ 306 w 639"/>
              <a:gd name="T23" fmla="*/ 9 h 611"/>
              <a:gd name="T24" fmla="*/ 327 w 639"/>
              <a:gd name="T25" fmla="*/ 9 h 611"/>
              <a:gd name="T26" fmla="*/ 418 w 639"/>
              <a:gd name="T27" fmla="*/ 187 h 611"/>
              <a:gd name="T28" fmla="*/ 427 w 639"/>
              <a:gd name="T29" fmla="*/ 193 h 611"/>
              <a:gd name="T30" fmla="*/ 626 w 639"/>
              <a:gd name="T31" fmla="*/ 220 h 611"/>
              <a:gd name="T32" fmla="*/ 632 w 639"/>
              <a:gd name="T33" fmla="*/ 240 h 611"/>
              <a:gd name="T34" fmla="*/ 491 w 639"/>
              <a:gd name="T35" fmla="*/ 381 h 611"/>
              <a:gd name="T36" fmla="*/ 488 w 639"/>
              <a:gd name="T37" fmla="*/ 392 h 611"/>
              <a:gd name="T38" fmla="*/ 524 w 639"/>
              <a:gd name="T39" fmla="*/ 589 h 611"/>
              <a:gd name="T40" fmla="*/ 507 w 639"/>
              <a:gd name="T41" fmla="*/ 601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39" h="611">
                <a:moveTo>
                  <a:pt x="507" y="601"/>
                </a:moveTo>
                <a:cubicBezTo>
                  <a:pt x="329" y="510"/>
                  <a:pt x="329" y="510"/>
                  <a:pt x="329" y="510"/>
                </a:cubicBezTo>
                <a:cubicBezTo>
                  <a:pt x="325" y="509"/>
                  <a:pt x="321" y="509"/>
                  <a:pt x="318" y="511"/>
                </a:cubicBezTo>
                <a:cubicBezTo>
                  <a:pt x="142" y="606"/>
                  <a:pt x="142" y="606"/>
                  <a:pt x="142" y="606"/>
                </a:cubicBezTo>
                <a:cubicBezTo>
                  <a:pt x="133" y="611"/>
                  <a:pt x="123" y="603"/>
                  <a:pt x="124" y="594"/>
                </a:cubicBezTo>
                <a:cubicBezTo>
                  <a:pt x="156" y="396"/>
                  <a:pt x="156" y="396"/>
                  <a:pt x="156" y="396"/>
                </a:cubicBezTo>
                <a:cubicBezTo>
                  <a:pt x="156" y="392"/>
                  <a:pt x="155" y="388"/>
                  <a:pt x="152" y="386"/>
                </a:cubicBezTo>
                <a:cubicBezTo>
                  <a:pt x="7" y="248"/>
                  <a:pt x="7" y="248"/>
                  <a:pt x="7" y="248"/>
                </a:cubicBezTo>
                <a:cubicBezTo>
                  <a:pt x="0" y="241"/>
                  <a:pt x="4" y="229"/>
                  <a:pt x="13" y="227"/>
                </a:cubicBezTo>
                <a:cubicBezTo>
                  <a:pt x="211" y="196"/>
                  <a:pt x="211" y="196"/>
                  <a:pt x="211" y="196"/>
                </a:cubicBezTo>
                <a:cubicBezTo>
                  <a:pt x="215" y="196"/>
                  <a:pt x="218" y="193"/>
                  <a:pt x="220" y="190"/>
                </a:cubicBezTo>
                <a:cubicBezTo>
                  <a:pt x="306" y="9"/>
                  <a:pt x="306" y="9"/>
                  <a:pt x="306" y="9"/>
                </a:cubicBezTo>
                <a:cubicBezTo>
                  <a:pt x="310" y="0"/>
                  <a:pt x="323" y="0"/>
                  <a:pt x="327" y="9"/>
                </a:cubicBezTo>
                <a:cubicBezTo>
                  <a:pt x="418" y="187"/>
                  <a:pt x="418" y="187"/>
                  <a:pt x="418" y="187"/>
                </a:cubicBezTo>
                <a:cubicBezTo>
                  <a:pt x="420" y="190"/>
                  <a:pt x="423" y="193"/>
                  <a:pt x="427" y="193"/>
                </a:cubicBezTo>
                <a:cubicBezTo>
                  <a:pt x="626" y="220"/>
                  <a:pt x="626" y="220"/>
                  <a:pt x="626" y="220"/>
                </a:cubicBezTo>
                <a:cubicBezTo>
                  <a:pt x="635" y="221"/>
                  <a:pt x="639" y="233"/>
                  <a:pt x="632" y="240"/>
                </a:cubicBezTo>
                <a:cubicBezTo>
                  <a:pt x="491" y="381"/>
                  <a:pt x="491" y="381"/>
                  <a:pt x="491" y="381"/>
                </a:cubicBezTo>
                <a:cubicBezTo>
                  <a:pt x="488" y="384"/>
                  <a:pt x="487" y="388"/>
                  <a:pt x="488" y="392"/>
                </a:cubicBezTo>
                <a:cubicBezTo>
                  <a:pt x="524" y="589"/>
                  <a:pt x="524" y="589"/>
                  <a:pt x="524" y="589"/>
                </a:cubicBezTo>
                <a:cubicBezTo>
                  <a:pt x="526" y="598"/>
                  <a:pt x="516" y="606"/>
                  <a:pt x="507" y="601"/>
                </a:cubicBezTo>
                <a:close/>
              </a:path>
            </a:pathLst>
          </a:custGeom>
          <a:solidFill>
            <a:srgbClr val="FBD4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909628" y="1347204"/>
            <a:ext cx="4372744" cy="3982610"/>
            <a:chOff x="3909628" y="1347204"/>
            <a:chExt cx="4372744" cy="3982610"/>
          </a:xfrm>
          <a:solidFill>
            <a:schemeClr val="bg1">
              <a:lumMod val="85000"/>
            </a:schemeClr>
          </a:solidFill>
        </p:grpSpPr>
        <p:sp>
          <p:nvSpPr>
            <p:cNvPr id="32" name="矩形 31"/>
            <p:cNvSpPr/>
            <p:nvPr/>
          </p:nvSpPr>
          <p:spPr bwMode="auto">
            <a:xfrm>
              <a:off x="6039106" y="1487408"/>
              <a:ext cx="119885" cy="19303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0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/>
            <p:nvPr/>
          </p:nvSpPr>
          <p:spPr bwMode="auto">
            <a:xfrm>
              <a:off x="6524740" y="1357364"/>
              <a:ext cx="211322" cy="398261"/>
            </a:xfrm>
            <a:custGeom>
              <a:avLst/>
              <a:gdLst>
                <a:gd name="T0" fmla="*/ 55 w 104"/>
                <a:gd name="T1" fmla="*/ 196 h 196"/>
                <a:gd name="T2" fmla="*/ 0 w 104"/>
                <a:gd name="T3" fmla="*/ 182 h 196"/>
                <a:gd name="T4" fmla="*/ 48 w 104"/>
                <a:gd name="T5" fmla="*/ 0 h 196"/>
                <a:gd name="T6" fmla="*/ 104 w 104"/>
                <a:gd name="T7" fmla="*/ 14 h 196"/>
                <a:gd name="T8" fmla="*/ 55 w 104"/>
                <a:gd name="T9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96">
                  <a:moveTo>
                    <a:pt x="55" y="196"/>
                  </a:moveTo>
                  <a:lnTo>
                    <a:pt x="0" y="182"/>
                  </a:lnTo>
                  <a:lnTo>
                    <a:pt x="48" y="0"/>
                  </a:lnTo>
                  <a:lnTo>
                    <a:pt x="104" y="14"/>
                  </a:lnTo>
                  <a:lnTo>
                    <a:pt x="55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/>
            <p:nvPr/>
          </p:nvSpPr>
          <p:spPr bwMode="auto">
            <a:xfrm>
              <a:off x="6977864" y="1733273"/>
              <a:ext cx="201162" cy="225546"/>
            </a:xfrm>
            <a:custGeom>
              <a:avLst/>
              <a:gdLst>
                <a:gd name="T0" fmla="*/ 50 w 99"/>
                <a:gd name="T1" fmla="*/ 111 h 111"/>
                <a:gd name="T2" fmla="*/ 0 w 99"/>
                <a:gd name="T3" fmla="*/ 83 h 111"/>
                <a:gd name="T4" fmla="*/ 47 w 99"/>
                <a:gd name="T5" fmla="*/ 0 h 111"/>
                <a:gd name="T6" fmla="*/ 99 w 99"/>
                <a:gd name="T7" fmla="*/ 28 h 111"/>
                <a:gd name="T8" fmla="*/ 50 w 99"/>
                <a:gd name="T9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11">
                  <a:moveTo>
                    <a:pt x="50" y="111"/>
                  </a:moveTo>
                  <a:lnTo>
                    <a:pt x="0" y="83"/>
                  </a:lnTo>
                  <a:lnTo>
                    <a:pt x="47" y="0"/>
                  </a:lnTo>
                  <a:lnTo>
                    <a:pt x="99" y="28"/>
                  </a:lnTo>
                  <a:lnTo>
                    <a:pt x="50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55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/>
            <p:nvPr/>
          </p:nvSpPr>
          <p:spPr bwMode="auto">
            <a:xfrm>
              <a:off x="7372061" y="1910052"/>
              <a:ext cx="357622" cy="357622"/>
            </a:xfrm>
            <a:custGeom>
              <a:avLst/>
              <a:gdLst>
                <a:gd name="T0" fmla="*/ 40 w 176"/>
                <a:gd name="T1" fmla="*/ 176 h 176"/>
                <a:gd name="T2" fmla="*/ 0 w 176"/>
                <a:gd name="T3" fmla="*/ 135 h 176"/>
                <a:gd name="T4" fmla="*/ 135 w 176"/>
                <a:gd name="T5" fmla="*/ 0 h 176"/>
                <a:gd name="T6" fmla="*/ 176 w 176"/>
                <a:gd name="T7" fmla="*/ 43 h 176"/>
                <a:gd name="T8" fmla="*/ 40 w 176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176">
                  <a:moveTo>
                    <a:pt x="40" y="176"/>
                  </a:moveTo>
                  <a:lnTo>
                    <a:pt x="0" y="135"/>
                  </a:lnTo>
                  <a:lnTo>
                    <a:pt x="135" y="0"/>
                  </a:lnTo>
                  <a:lnTo>
                    <a:pt x="176" y="43"/>
                  </a:lnTo>
                  <a:lnTo>
                    <a:pt x="40" y="1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任意多边形: 形状 35"/>
            <p:cNvSpPr/>
            <p:nvPr/>
          </p:nvSpPr>
          <p:spPr bwMode="auto">
            <a:xfrm>
              <a:off x="7680917" y="2474933"/>
              <a:ext cx="217418" cy="191003"/>
            </a:xfrm>
            <a:custGeom>
              <a:avLst/>
              <a:gdLst>
                <a:gd name="T0" fmla="*/ 28 w 107"/>
                <a:gd name="T1" fmla="*/ 94 h 94"/>
                <a:gd name="T2" fmla="*/ 0 w 107"/>
                <a:gd name="T3" fmla="*/ 42 h 94"/>
                <a:gd name="T4" fmla="*/ 76 w 107"/>
                <a:gd name="T5" fmla="*/ 0 h 94"/>
                <a:gd name="T6" fmla="*/ 107 w 107"/>
                <a:gd name="T7" fmla="*/ 49 h 94"/>
                <a:gd name="T8" fmla="*/ 28 w 107"/>
                <a:gd name="T9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94">
                  <a:moveTo>
                    <a:pt x="28" y="94"/>
                  </a:moveTo>
                  <a:lnTo>
                    <a:pt x="0" y="42"/>
                  </a:lnTo>
                  <a:lnTo>
                    <a:pt x="76" y="0"/>
                  </a:lnTo>
                  <a:lnTo>
                    <a:pt x="107" y="49"/>
                  </a:lnTo>
                  <a:lnTo>
                    <a:pt x="28" y="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0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任意多边形: 形状 36"/>
            <p:cNvSpPr/>
            <p:nvPr/>
          </p:nvSpPr>
          <p:spPr bwMode="auto">
            <a:xfrm>
              <a:off x="7878015" y="2907737"/>
              <a:ext cx="404357" cy="211322"/>
            </a:xfrm>
            <a:custGeom>
              <a:avLst/>
              <a:gdLst>
                <a:gd name="T0" fmla="*/ 14 w 199"/>
                <a:gd name="T1" fmla="*/ 104 h 104"/>
                <a:gd name="T2" fmla="*/ 0 w 199"/>
                <a:gd name="T3" fmla="*/ 47 h 104"/>
                <a:gd name="T4" fmla="*/ 183 w 199"/>
                <a:gd name="T5" fmla="*/ 0 h 104"/>
                <a:gd name="T6" fmla="*/ 199 w 199"/>
                <a:gd name="T7" fmla="*/ 57 h 104"/>
                <a:gd name="T8" fmla="*/ 14 w 199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04">
                  <a:moveTo>
                    <a:pt x="14" y="104"/>
                  </a:moveTo>
                  <a:lnTo>
                    <a:pt x="0" y="47"/>
                  </a:lnTo>
                  <a:lnTo>
                    <a:pt x="183" y="0"/>
                  </a:lnTo>
                  <a:lnTo>
                    <a:pt x="199" y="57"/>
                  </a:lnTo>
                  <a:lnTo>
                    <a:pt x="14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75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7955229" y="3484809"/>
              <a:ext cx="193035" cy="11988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/>
            <p:nvPr/>
          </p:nvSpPr>
          <p:spPr bwMode="auto">
            <a:xfrm>
              <a:off x="7873951" y="3970444"/>
              <a:ext cx="404357" cy="217418"/>
            </a:xfrm>
            <a:custGeom>
              <a:avLst/>
              <a:gdLst>
                <a:gd name="T0" fmla="*/ 182 w 199"/>
                <a:gd name="T1" fmla="*/ 107 h 107"/>
                <a:gd name="T2" fmla="*/ 0 w 199"/>
                <a:gd name="T3" fmla="*/ 57 h 107"/>
                <a:gd name="T4" fmla="*/ 14 w 199"/>
                <a:gd name="T5" fmla="*/ 0 h 107"/>
                <a:gd name="T6" fmla="*/ 199 w 199"/>
                <a:gd name="T7" fmla="*/ 50 h 107"/>
                <a:gd name="T8" fmla="*/ 182 w 199"/>
                <a:gd name="T9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07">
                  <a:moveTo>
                    <a:pt x="182" y="107"/>
                  </a:moveTo>
                  <a:lnTo>
                    <a:pt x="0" y="57"/>
                  </a:lnTo>
                  <a:lnTo>
                    <a:pt x="14" y="0"/>
                  </a:lnTo>
                  <a:lnTo>
                    <a:pt x="199" y="50"/>
                  </a:lnTo>
                  <a:lnTo>
                    <a:pt x="182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55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/>
            <p:nvPr/>
          </p:nvSpPr>
          <p:spPr bwMode="auto">
            <a:xfrm>
              <a:off x="7670757" y="4423567"/>
              <a:ext cx="227578" cy="203194"/>
            </a:xfrm>
            <a:custGeom>
              <a:avLst/>
              <a:gdLst>
                <a:gd name="T0" fmla="*/ 81 w 112"/>
                <a:gd name="T1" fmla="*/ 100 h 100"/>
                <a:gd name="T2" fmla="*/ 0 w 112"/>
                <a:gd name="T3" fmla="*/ 50 h 100"/>
                <a:gd name="T4" fmla="*/ 29 w 112"/>
                <a:gd name="T5" fmla="*/ 0 h 100"/>
                <a:gd name="T6" fmla="*/ 112 w 112"/>
                <a:gd name="T7" fmla="*/ 48 h 100"/>
                <a:gd name="T8" fmla="*/ 81 w 112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00">
                  <a:moveTo>
                    <a:pt x="81" y="100"/>
                  </a:moveTo>
                  <a:lnTo>
                    <a:pt x="0" y="50"/>
                  </a:lnTo>
                  <a:lnTo>
                    <a:pt x="29" y="0"/>
                  </a:lnTo>
                  <a:lnTo>
                    <a:pt x="112" y="48"/>
                  </a:lnTo>
                  <a:lnTo>
                    <a:pt x="8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75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/>
            <p:nvPr/>
          </p:nvSpPr>
          <p:spPr bwMode="auto">
            <a:xfrm>
              <a:off x="7357837" y="4817764"/>
              <a:ext cx="355590" cy="357622"/>
            </a:xfrm>
            <a:custGeom>
              <a:avLst/>
              <a:gdLst>
                <a:gd name="T0" fmla="*/ 133 w 175"/>
                <a:gd name="T1" fmla="*/ 176 h 176"/>
                <a:gd name="T2" fmla="*/ 0 w 175"/>
                <a:gd name="T3" fmla="*/ 41 h 176"/>
                <a:gd name="T4" fmla="*/ 43 w 175"/>
                <a:gd name="T5" fmla="*/ 0 h 176"/>
                <a:gd name="T6" fmla="*/ 175 w 175"/>
                <a:gd name="T7" fmla="*/ 135 h 176"/>
                <a:gd name="T8" fmla="*/ 133 w 175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76">
                  <a:moveTo>
                    <a:pt x="133" y="176"/>
                  </a:moveTo>
                  <a:lnTo>
                    <a:pt x="0" y="41"/>
                  </a:lnTo>
                  <a:lnTo>
                    <a:pt x="43" y="0"/>
                  </a:lnTo>
                  <a:lnTo>
                    <a:pt x="175" y="135"/>
                  </a:lnTo>
                  <a:lnTo>
                    <a:pt x="133" y="1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/>
            <p:nvPr/>
          </p:nvSpPr>
          <p:spPr bwMode="auto">
            <a:xfrm>
              <a:off x="6963640" y="5122556"/>
              <a:ext cx="182875" cy="207258"/>
            </a:xfrm>
            <a:custGeom>
              <a:avLst/>
              <a:gdLst>
                <a:gd name="T0" fmla="*/ 40 w 90"/>
                <a:gd name="T1" fmla="*/ 102 h 102"/>
                <a:gd name="T2" fmla="*/ 0 w 90"/>
                <a:gd name="T3" fmla="*/ 28 h 102"/>
                <a:gd name="T4" fmla="*/ 50 w 90"/>
                <a:gd name="T5" fmla="*/ 0 h 102"/>
                <a:gd name="T6" fmla="*/ 90 w 90"/>
                <a:gd name="T7" fmla="*/ 73 h 102"/>
                <a:gd name="T8" fmla="*/ 40 w 90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02">
                  <a:moveTo>
                    <a:pt x="40" y="102"/>
                  </a:moveTo>
                  <a:lnTo>
                    <a:pt x="0" y="28"/>
                  </a:lnTo>
                  <a:lnTo>
                    <a:pt x="50" y="0"/>
                  </a:lnTo>
                  <a:lnTo>
                    <a:pt x="90" y="73"/>
                  </a:lnTo>
                  <a:lnTo>
                    <a:pt x="4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75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任意多边形: 形状 42"/>
            <p:cNvSpPr/>
            <p:nvPr/>
          </p:nvSpPr>
          <p:spPr bwMode="auto">
            <a:xfrm>
              <a:off x="5002814" y="5102236"/>
              <a:ext cx="197099" cy="227578"/>
            </a:xfrm>
            <a:custGeom>
              <a:avLst/>
              <a:gdLst>
                <a:gd name="T0" fmla="*/ 50 w 97"/>
                <a:gd name="T1" fmla="*/ 112 h 112"/>
                <a:gd name="T2" fmla="*/ 0 w 97"/>
                <a:gd name="T3" fmla="*/ 81 h 112"/>
                <a:gd name="T4" fmla="*/ 48 w 97"/>
                <a:gd name="T5" fmla="*/ 0 h 112"/>
                <a:gd name="T6" fmla="*/ 97 w 97"/>
                <a:gd name="T7" fmla="*/ 31 h 112"/>
                <a:gd name="T8" fmla="*/ 50 w 97"/>
                <a:gd name="T9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2">
                  <a:moveTo>
                    <a:pt x="50" y="112"/>
                  </a:moveTo>
                  <a:lnTo>
                    <a:pt x="0" y="81"/>
                  </a:lnTo>
                  <a:lnTo>
                    <a:pt x="48" y="0"/>
                  </a:lnTo>
                  <a:lnTo>
                    <a:pt x="97" y="31"/>
                  </a:lnTo>
                  <a:lnTo>
                    <a:pt x="5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任意多边形: 形状 43"/>
            <p:cNvSpPr/>
            <p:nvPr/>
          </p:nvSpPr>
          <p:spPr bwMode="auto">
            <a:xfrm>
              <a:off x="4450125" y="4789317"/>
              <a:ext cx="359654" cy="357622"/>
            </a:xfrm>
            <a:custGeom>
              <a:avLst/>
              <a:gdLst>
                <a:gd name="T0" fmla="*/ 42 w 177"/>
                <a:gd name="T1" fmla="*/ 176 h 176"/>
                <a:gd name="T2" fmla="*/ 0 w 177"/>
                <a:gd name="T3" fmla="*/ 133 h 176"/>
                <a:gd name="T4" fmla="*/ 137 w 177"/>
                <a:gd name="T5" fmla="*/ 0 h 176"/>
                <a:gd name="T6" fmla="*/ 177 w 177"/>
                <a:gd name="T7" fmla="*/ 43 h 176"/>
                <a:gd name="T8" fmla="*/ 42 w 177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76">
                  <a:moveTo>
                    <a:pt x="42" y="176"/>
                  </a:moveTo>
                  <a:lnTo>
                    <a:pt x="0" y="133"/>
                  </a:lnTo>
                  <a:lnTo>
                    <a:pt x="137" y="0"/>
                  </a:lnTo>
                  <a:lnTo>
                    <a:pt x="177" y="43"/>
                  </a:lnTo>
                  <a:lnTo>
                    <a:pt x="42" y="1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任意多边形: 形状 44"/>
            <p:cNvSpPr/>
            <p:nvPr/>
          </p:nvSpPr>
          <p:spPr bwMode="auto">
            <a:xfrm>
              <a:off x="4271314" y="4391056"/>
              <a:ext cx="231642" cy="201162"/>
            </a:xfrm>
            <a:custGeom>
              <a:avLst/>
              <a:gdLst>
                <a:gd name="T0" fmla="*/ 26 w 114"/>
                <a:gd name="T1" fmla="*/ 99 h 99"/>
                <a:gd name="T2" fmla="*/ 0 w 114"/>
                <a:gd name="T3" fmla="*/ 47 h 99"/>
                <a:gd name="T4" fmla="*/ 88 w 114"/>
                <a:gd name="T5" fmla="*/ 0 h 99"/>
                <a:gd name="T6" fmla="*/ 114 w 114"/>
                <a:gd name="T7" fmla="*/ 52 h 99"/>
                <a:gd name="T8" fmla="*/ 26 w 114"/>
                <a:gd name="T9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99">
                  <a:moveTo>
                    <a:pt x="26" y="99"/>
                  </a:moveTo>
                  <a:lnTo>
                    <a:pt x="0" y="47"/>
                  </a:lnTo>
                  <a:lnTo>
                    <a:pt x="88" y="0"/>
                  </a:lnTo>
                  <a:lnTo>
                    <a:pt x="114" y="52"/>
                  </a:lnTo>
                  <a:lnTo>
                    <a:pt x="26" y="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0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任意多边形: 形状 45"/>
            <p:cNvSpPr/>
            <p:nvPr/>
          </p:nvSpPr>
          <p:spPr bwMode="auto">
            <a:xfrm>
              <a:off x="3909628" y="3931837"/>
              <a:ext cx="400293" cy="213354"/>
            </a:xfrm>
            <a:custGeom>
              <a:avLst/>
              <a:gdLst>
                <a:gd name="T0" fmla="*/ 15 w 197"/>
                <a:gd name="T1" fmla="*/ 105 h 105"/>
                <a:gd name="T2" fmla="*/ 0 w 197"/>
                <a:gd name="T3" fmla="*/ 48 h 105"/>
                <a:gd name="T4" fmla="*/ 183 w 197"/>
                <a:gd name="T5" fmla="*/ 0 h 105"/>
                <a:gd name="T6" fmla="*/ 197 w 197"/>
                <a:gd name="T7" fmla="*/ 57 h 105"/>
                <a:gd name="T8" fmla="*/ 15 w 197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105">
                  <a:moveTo>
                    <a:pt x="15" y="105"/>
                  </a:moveTo>
                  <a:lnTo>
                    <a:pt x="0" y="48"/>
                  </a:lnTo>
                  <a:lnTo>
                    <a:pt x="183" y="0"/>
                  </a:lnTo>
                  <a:lnTo>
                    <a:pt x="197" y="57"/>
                  </a:lnTo>
                  <a:lnTo>
                    <a:pt x="15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75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4112822" y="3452298"/>
              <a:ext cx="130044" cy="1137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 bwMode="auto">
            <a:xfrm>
              <a:off x="3923852" y="2863034"/>
              <a:ext cx="404357" cy="221482"/>
            </a:xfrm>
            <a:custGeom>
              <a:avLst/>
              <a:gdLst>
                <a:gd name="T0" fmla="*/ 183 w 199"/>
                <a:gd name="T1" fmla="*/ 109 h 109"/>
                <a:gd name="T2" fmla="*/ 0 w 199"/>
                <a:gd name="T3" fmla="*/ 57 h 109"/>
                <a:gd name="T4" fmla="*/ 17 w 199"/>
                <a:gd name="T5" fmla="*/ 0 h 109"/>
                <a:gd name="T6" fmla="*/ 199 w 199"/>
                <a:gd name="T7" fmla="*/ 53 h 109"/>
                <a:gd name="T8" fmla="*/ 183 w 199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09">
                  <a:moveTo>
                    <a:pt x="183" y="109"/>
                  </a:moveTo>
                  <a:lnTo>
                    <a:pt x="0" y="57"/>
                  </a:lnTo>
                  <a:lnTo>
                    <a:pt x="17" y="0"/>
                  </a:lnTo>
                  <a:lnTo>
                    <a:pt x="199" y="53"/>
                  </a:lnTo>
                  <a:lnTo>
                    <a:pt x="18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550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/>
            <p:nvPr/>
          </p:nvSpPr>
          <p:spPr bwMode="auto">
            <a:xfrm>
              <a:off x="4309921" y="2430230"/>
              <a:ext cx="225546" cy="203194"/>
            </a:xfrm>
            <a:custGeom>
              <a:avLst/>
              <a:gdLst>
                <a:gd name="T0" fmla="*/ 81 w 111"/>
                <a:gd name="T1" fmla="*/ 100 h 100"/>
                <a:gd name="T2" fmla="*/ 0 w 111"/>
                <a:gd name="T3" fmla="*/ 50 h 100"/>
                <a:gd name="T4" fmla="*/ 28 w 111"/>
                <a:gd name="T5" fmla="*/ 0 h 100"/>
                <a:gd name="T6" fmla="*/ 111 w 111"/>
                <a:gd name="T7" fmla="*/ 50 h 100"/>
                <a:gd name="T8" fmla="*/ 81 w 111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00">
                  <a:moveTo>
                    <a:pt x="81" y="100"/>
                  </a:moveTo>
                  <a:lnTo>
                    <a:pt x="0" y="50"/>
                  </a:lnTo>
                  <a:lnTo>
                    <a:pt x="28" y="0"/>
                  </a:lnTo>
                  <a:lnTo>
                    <a:pt x="111" y="50"/>
                  </a:lnTo>
                  <a:lnTo>
                    <a:pt x="8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475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/>
          </p:nvSpPr>
          <p:spPr bwMode="auto">
            <a:xfrm>
              <a:off x="4496860" y="1881605"/>
              <a:ext cx="351526" cy="361686"/>
            </a:xfrm>
            <a:custGeom>
              <a:avLst/>
              <a:gdLst>
                <a:gd name="T0" fmla="*/ 131 w 173"/>
                <a:gd name="T1" fmla="*/ 178 h 178"/>
                <a:gd name="T2" fmla="*/ 0 w 173"/>
                <a:gd name="T3" fmla="*/ 40 h 178"/>
                <a:gd name="T4" fmla="*/ 41 w 173"/>
                <a:gd name="T5" fmla="*/ 0 h 178"/>
                <a:gd name="T6" fmla="*/ 173 w 173"/>
                <a:gd name="T7" fmla="*/ 138 h 178"/>
                <a:gd name="T8" fmla="*/ 131 w 173"/>
                <a:gd name="T9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78">
                  <a:moveTo>
                    <a:pt x="131" y="178"/>
                  </a:moveTo>
                  <a:lnTo>
                    <a:pt x="0" y="40"/>
                  </a:lnTo>
                  <a:lnTo>
                    <a:pt x="41" y="0"/>
                  </a:lnTo>
                  <a:lnTo>
                    <a:pt x="173" y="138"/>
                  </a:lnTo>
                  <a:lnTo>
                    <a:pt x="131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/>
            <p:nvPr/>
          </p:nvSpPr>
          <p:spPr bwMode="auto">
            <a:xfrm>
              <a:off x="5051581" y="1712954"/>
              <a:ext cx="197099" cy="227578"/>
            </a:xfrm>
            <a:custGeom>
              <a:avLst/>
              <a:gdLst>
                <a:gd name="T0" fmla="*/ 47 w 97"/>
                <a:gd name="T1" fmla="*/ 112 h 112"/>
                <a:gd name="T2" fmla="*/ 0 w 97"/>
                <a:gd name="T3" fmla="*/ 29 h 112"/>
                <a:gd name="T4" fmla="*/ 52 w 97"/>
                <a:gd name="T5" fmla="*/ 0 h 112"/>
                <a:gd name="T6" fmla="*/ 97 w 97"/>
                <a:gd name="T7" fmla="*/ 83 h 112"/>
                <a:gd name="T8" fmla="*/ 47 w 97"/>
                <a:gd name="T9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2">
                  <a:moveTo>
                    <a:pt x="47" y="112"/>
                  </a:moveTo>
                  <a:lnTo>
                    <a:pt x="0" y="29"/>
                  </a:lnTo>
                  <a:lnTo>
                    <a:pt x="52" y="0"/>
                  </a:lnTo>
                  <a:lnTo>
                    <a:pt x="97" y="83"/>
                  </a:lnTo>
                  <a:lnTo>
                    <a:pt x="47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/>
            <p:nvPr/>
          </p:nvSpPr>
          <p:spPr bwMode="auto">
            <a:xfrm>
              <a:off x="5498608" y="1347204"/>
              <a:ext cx="207258" cy="400293"/>
            </a:xfrm>
            <a:custGeom>
              <a:avLst/>
              <a:gdLst>
                <a:gd name="T0" fmla="*/ 45 w 102"/>
                <a:gd name="T1" fmla="*/ 197 h 197"/>
                <a:gd name="T2" fmla="*/ 0 w 102"/>
                <a:gd name="T3" fmla="*/ 12 h 197"/>
                <a:gd name="T4" fmla="*/ 57 w 102"/>
                <a:gd name="T5" fmla="*/ 0 h 197"/>
                <a:gd name="T6" fmla="*/ 102 w 102"/>
                <a:gd name="T7" fmla="*/ 183 h 197"/>
                <a:gd name="T8" fmla="*/ 45 w 102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197">
                  <a:moveTo>
                    <a:pt x="45" y="197"/>
                  </a:moveTo>
                  <a:lnTo>
                    <a:pt x="0" y="12"/>
                  </a:lnTo>
                  <a:lnTo>
                    <a:pt x="57" y="0"/>
                  </a:lnTo>
                  <a:lnTo>
                    <a:pt x="102" y="183"/>
                  </a:lnTo>
                  <a:lnTo>
                    <a:pt x="45" y="1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 bwMode="auto">
            <a:xfrm>
              <a:off x="5417331" y="2946344"/>
              <a:ext cx="1391882" cy="1389850"/>
            </a:xfrm>
            <a:prstGeom prst="ellipse">
              <a:avLst/>
            </a:prstGeom>
            <a:solidFill>
              <a:srgbClr val="FBD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879944" y="3208045"/>
            <a:ext cx="2420742" cy="78338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defTabSz="914400">
              <a:spcBef>
                <a:spcPct val="0"/>
              </a:spcBef>
              <a:buNone/>
              <a:defRPr sz="2800" b="1">
                <a:solidFill>
                  <a:srgbClr val="2C3637"/>
                </a:solidFill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tx1"/>
                </a:solidFill>
                <a:cs typeface="+mn-ea"/>
                <a:sym typeface="+mn-lt"/>
              </a:rPr>
              <a:t>研究意义</a:t>
            </a:r>
            <a:endParaRPr lang="zh-CN" alt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8645" y="2531827"/>
            <a:ext cx="3130685" cy="886106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cs typeface="+mn-ea"/>
                <a:sym typeface="+mn-lt"/>
              </a:rPr>
              <a:t>可以对学生的解答进行即时批改，帮助学生及时发现并纠正错误。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929843" y="1843314"/>
            <a:ext cx="2448288" cy="5821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即时反馈</a:t>
            </a:r>
            <a:endParaRPr lang="zh-CN" altLang="en-US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730097" y="2531827"/>
            <a:ext cx="3130685" cy="886106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cs typeface="+mn-ea"/>
                <a:sym typeface="+mn-lt"/>
              </a:rPr>
              <a:t>将教师从繁重、重复的批改工作中解放出来，使其能更专注于教学设计和课堂互动。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9071295" y="1843314"/>
            <a:ext cx="2448288" cy="5821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提升效率</a:t>
            </a:r>
            <a:endParaRPr lang="zh-CN" altLang="en-US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8645" y="4726305"/>
            <a:ext cx="3130550" cy="1420495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cs typeface="+mn-ea"/>
                <a:sym typeface="+mn-lt"/>
              </a:rPr>
              <a:t>从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zh-CN" altLang="en-US" sz="1600" dirty="0">
                <a:cs typeface="+mn-ea"/>
                <a:sym typeface="+mn-lt"/>
              </a:rPr>
              <a:t>知其然</a:t>
            </a:r>
            <a:r>
              <a:rPr lang="en-US" altLang="zh-CN" sz="1600" dirty="0">
                <a:cs typeface="+mn-ea"/>
                <a:sym typeface="+mn-lt"/>
              </a:rPr>
              <a:t>”</a:t>
            </a:r>
            <a:r>
              <a:rPr lang="zh-CN" altLang="en-US" sz="1600" dirty="0">
                <a:cs typeface="+mn-ea"/>
                <a:sym typeface="+mn-lt"/>
              </a:rPr>
              <a:t>（知道答案对错）转向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zh-CN" altLang="en-US" sz="1600" dirty="0">
                <a:cs typeface="+mn-ea"/>
                <a:sym typeface="+mn-lt"/>
              </a:rPr>
              <a:t>知其所以然</a:t>
            </a:r>
            <a:r>
              <a:rPr lang="en-US" altLang="zh-CN" sz="1600" dirty="0">
                <a:cs typeface="+mn-ea"/>
                <a:sym typeface="+mn-lt"/>
              </a:rPr>
              <a:t>”</a:t>
            </a:r>
            <a:r>
              <a:rPr lang="zh-CN" altLang="en-US" sz="1600" dirty="0">
                <a:cs typeface="+mn-ea"/>
                <a:sym typeface="+mn-lt"/>
              </a:rPr>
              <a:t>（知道错在哪里、为什么错），帮助学生精准定位知识薄弱点。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929208" y="4048306"/>
            <a:ext cx="2448288" cy="5821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精准诊断</a:t>
            </a:r>
            <a:endParaRPr lang="zh-CN" altLang="en-US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0097" y="4726024"/>
            <a:ext cx="3130685" cy="886106"/>
          </a:xfrm>
          <a:prstGeom prst="rect">
            <a:avLst/>
          </a:prstGeom>
          <a:noFill/>
          <a:ln w="3175">
            <a:noFill/>
          </a:ln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cs typeface="+mn-ea"/>
                <a:sym typeface="+mn-lt"/>
              </a:rPr>
              <a:t>系统可统计班级高频错误点，通过数据帮助教师进行较为精准的学情监控，便于制订精准教学计划、教学干预。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9071295" y="4048306"/>
            <a:ext cx="2448288" cy="5821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+mn-ea"/>
                <a:sym typeface="+mn-lt"/>
              </a:rPr>
              <a:t>学情分析</a:t>
            </a:r>
            <a:endParaRPr lang="zh-CN" altLang="en-US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92195" y="2941955"/>
            <a:ext cx="520700" cy="10528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rPr lang="zh-CN" altLang="en-US" sz="2800"/>
              <a:t>学生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8148320" y="2946400"/>
            <a:ext cx="520700" cy="10528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rPr lang="zh-CN" altLang="en-US" sz="2800"/>
              <a:t>教师</a:t>
            </a:r>
            <a:endParaRPr lang="zh-CN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13951" y="2676432"/>
            <a:ext cx="2198526" cy="1911536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cs typeface="+mn-ea"/>
                <a:sym typeface="+mn-lt"/>
              </a:rPr>
              <a:t>/02</a:t>
            </a:r>
            <a:endParaRPr lang="zh-CN" altLang="en-US" spc="1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659224" y="2676714"/>
            <a:ext cx="5419185" cy="895350"/>
          </a:xfrm>
        </p:spPr>
        <p:txBody>
          <a:bodyPr/>
          <a:lstStyle/>
          <a:p>
            <a:pPr algn="l"/>
            <a:r>
              <a:rPr lang="zh-CN" altLang="en-US" sz="3200" dirty="0">
                <a:latin typeface="+mn-lt"/>
                <a:ea typeface="+mn-ea"/>
                <a:cs typeface="+mn-ea"/>
                <a:sym typeface="+mn-lt"/>
              </a:rPr>
              <a:t>研究内容与初步设想</a:t>
            </a:r>
            <a:endParaRPr lang="zh-CN" altLang="en-US" sz="32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数据流泳道图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1" descr="数学步骤评分系统数据流向泳道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8775" y="1028700"/>
            <a:ext cx="3594735" cy="5798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功能模块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5" name="对象 4"/>
          <p:cNvGraphicFramePr/>
          <p:nvPr/>
        </p:nvGraphicFramePr>
        <p:xfrm>
          <a:off x="2538095" y="1672590"/>
          <a:ext cx="7115810" cy="410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7374255" imgH="4267200" progId="Visio.Drawing.15">
                  <p:embed/>
                </p:oleObj>
              </mc:Choice>
              <mc:Fallback>
                <p:oleObj name="" r:id="rId1" imgW="7374255" imgH="4267200" progId="Visio.Drawing.15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8095" y="1672590"/>
                        <a:ext cx="7115810" cy="4105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前端模块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3270" y="1398905"/>
            <a:ext cx="8885555" cy="325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前端负责提供流畅的用户交互体验。核心功能分为三部分：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图像上传组件：支持拖拽上传、点击上传，并提供客户端的图像裁剪、旋转等预处理功能。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API</a:t>
            </a:r>
            <a:r>
              <a:rPr lang="zh-CN" altLang="en-US"/>
              <a:t>通信服务：封装</a:t>
            </a:r>
            <a:r>
              <a:rPr lang="en-US" altLang="zh-CN"/>
              <a:t>POST</a:t>
            </a:r>
            <a:r>
              <a:rPr lang="zh-CN" altLang="en-US"/>
              <a:t>请求。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结果可视化渲染器：负责解析后端返回的</a:t>
            </a:r>
            <a:r>
              <a:rPr lang="en-US" altLang="zh-CN"/>
              <a:t>JSON</a:t>
            </a:r>
            <a:r>
              <a:rPr lang="zh-CN" altLang="en-US"/>
              <a:t>数据。实现原始图像与评分结果的展示，并对评估为错误的步骤进行红色高亮，并显示其原因。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后端模块：解题步骤解析模块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3270" y="1398905"/>
            <a:ext cx="8885555" cy="325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目标：能够正确地将多行公式组合成一个</a:t>
            </a:r>
            <a:r>
              <a:rPr lang="en-US" altLang="zh-CN"/>
              <a:t>“</a:t>
            </a:r>
            <a:r>
              <a:rPr lang="zh-CN" altLang="en-US"/>
              <a:t>逻辑步骤</a:t>
            </a:r>
            <a:r>
              <a:rPr lang="en-US" altLang="zh-CN"/>
              <a:t>”</a:t>
            </a:r>
            <a:r>
              <a:rPr lang="zh-CN" altLang="en-US"/>
              <a:t>，并确定步骤之间的先后顺序。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初步设计：根据</a:t>
            </a:r>
            <a:r>
              <a:rPr lang="en-US" altLang="zh-CN"/>
              <a:t>OCR</a:t>
            </a:r>
            <a:r>
              <a:rPr lang="zh-CN" altLang="en-US"/>
              <a:t>返回的坐标，将空间上</a:t>
            </a:r>
            <a:r>
              <a:rPr lang="en-US" altLang="zh-CN"/>
              <a:t>“</a:t>
            </a:r>
            <a:r>
              <a:rPr lang="zh-CN" altLang="en-US"/>
              <a:t>在同一行</a:t>
            </a:r>
            <a:r>
              <a:rPr lang="en-US" altLang="zh-CN"/>
              <a:t>”</a:t>
            </a:r>
            <a:r>
              <a:rPr lang="zh-CN" altLang="en-US"/>
              <a:t>的</a:t>
            </a:r>
            <a:r>
              <a:rPr lang="en-US" altLang="zh-CN"/>
              <a:t>LaTeX</a:t>
            </a:r>
            <a:r>
              <a:rPr lang="zh-CN" altLang="en-US"/>
              <a:t>单元合并为行。根据行的垂直间距和缩进，或使用启发式规则（如</a:t>
            </a:r>
            <a:r>
              <a:rPr lang="en-US" altLang="zh-CN"/>
              <a:t>“</a:t>
            </a:r>
            <a:r>
              <a:rPr lang="zh-CN" altLang="en-US"/>
              <a:t>步骤一：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“∴”</a:t>
            </a:r>
            <a:r>
              <a:rPr lang="zh-CN" altLang="en-US"/>
              <a:t>等标记）将</a:t>
            </a:r>
            <a:r>
              <a:rPr lang="en-US" altLang="zh-CN"/>
              <a:t>“</a:t>
            </a:r>
            <a:r>
              <a:rPr lang="zh-CN" altLang="en-US"/>
              <a:t>行</a:t>
            </a:r>
            <a:r>
              <a:rPr lang="en-US" altLang="zh-CN"/>
              <a:t>”</a:t>
            </a:r>
            <a:r>
              <a:rPr lang="zh-CN" altLang="en-US"/>
              <a:t>组合成</a:t>
            </a:r>
            <a:r>
              <a:rPr lang="en-US" altLang="zh-CN"/>
              <a:t>“</a:t>
            </a:r>
            <a:r>
              <a:rPr lang="zh-CN" altLang="en-US"/>
              <a:t>逻辑步骤</a:t>
            </a:r>
            <a:r>
              <a:rPr lang="en-US" altLang="zh-CN"/>
              <a:t>”</a:t>
            </a:r>
            <a:r>
              <a:rPr lang="zh-CN" altLang="en-US"/>
              <a:t>；将每个</a:t>
            </a:r>
            <a:r>
              <a:rPr lang="en-US" altLang="zh-CN"/>
              <a:t>“</a:t>
            </a:r>
            <a:r>
              <a:rPr lang="zh-CN" altLang="en-US"/>
              <a:t>逻辑步骤</a:t>
            </a:r>
            <a:r>
              <a:rPr lang="en-US" altLang="zh-CN"/>
              <a:t>”</a:t>
            </a:r>
            <a:r>
              <a:rPr lang="zh-CN" altLang="en-US"/>
              <a:t>视为一个节点，按顺序添加有向边，最终形成一个线性的</a:t>
            </a:r>
            <a:r>
              <a:rPr lang="en-US" altLang="zh-CN"/>
              <a:t>“</a:t>
            </a:r>
            <a:r>
              <a:rPr lang="zh-CN" altLang="en-US"/>
              <a:t>解题图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后端模块：步骤评分模块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3270" y="1209675"/>
            <a:ext cx="8885555" cy="325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目标：系统能够对于解析出的</a:t>
            </a:r>
            <a:r>
              <a:rPr lang="en-US" altLang="zh-CN"/>
              <a:t>“</a:t>
            </a:r>
            <a:r>
              <a:rPr lang="zh-CN" altLang="en-US"/>
              <a:t>解题步骤</a:t>
            </a:r>
            <a:r>
              <a:rPr lang="en-US" altLang="zh-CN"/>
              <a:t>”</a:t>
            </a:r>
            <a:r>
              <a:rPr lang="zh-CN" altLang="en-US"/>
              <a:t>进行判别，并给出错误原因的解析。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初步设计：设计一个评分引擎。该引擎将对</a:t>
            </a:r>
            <a:r>
              <a:rPr lang="en-US" altLang="zh-CN"/>
              <a:t>“</a:t>
            </a:r>
            <a:r>
              <a:rPr lang="zh-CN" altLang="en-US"/>
              <a:t>解题图</a:t>
            </a:r>
            <a:r>
              <a:rPr lang="en-US" altLang="zh-CN"/>
              <a:t>”</a:t>
            </a:r>
            <a:r>
              <a:rPr lang="zh-CN" altLang="en-US"/>
              <a:t>中的每一条</a:t>
            </a:r>
            <a:r>
              <a:rPr lang="en-US" altLang="zh-CN"/>
              <a:t>“</a:t>
            </a:r>
            <a:r>
              <a:rPr lang="zh-CN" altLang="en-US"/>
              <a:t>边</a:t>
            </a:r>
            <a:r>
              <a:rPr lang="en-US" altLang="zh-CN"/>
              <a:t>”</a:t>
            </a:r>
            <a:r>
              <a:rPr lang="zh-CN" altLang="en-US"/>
              <a:t>进行打分，打分策略可参考如下步骤。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策略一：基于知识图谱的逻辑关联。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使用</a:t>
            </a:r>
            <a:r>
              <a:rPr lang="en-US" altLang="zh-CN"/>
              <a:t>Neo4j</a:t>
            </a:r>
            <a:r>
              <a:rPr lang="zh-CN" altLang="en-US"/>
              <a:t>数据库构建数学知识图谱（如</a:t>
            </a:r>
            <a:r>
              <a:rPr lang="en-US" altLang="zh-CN"/>
              <a:t>“</a:t>
            </a:r>
            <a:r>
              <a:rPr lang="zh-CN" altLang="en-US"/>
              <a:t>三角函数平方和</a:t>
            </a:r>
            <a:r>
              <a:rPr lang="en-US" altLang="zh-CN"/>
              <a:t>”</a:t>
            </a:r>
            <a:r>
              <a:rPr lang="zh-CN" altLang="en-US"/>
              <a:t>）。查询步骤的结构是否匹配图谱中的某条知识路径，若匹配则判定为</a:t>
            </a:r>
            <a:r>
              <a:rPr lang="en-US" altLang="zh-CN"/>
              <a:t>“</a:t>
            </a:r>
            <a:r>
              <a:rPr lang="zh-CN" altLang="en-US"/>
              <a:t>逻辑正确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策略二：基于机器学习的综合评分。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使用</a:t>
            </a:r>
            <a:r>
              <a:rPr lang="en-US" altLang="zh-CN"/>
              <a:t>LightGBM</a:t>
            </a:r>
            <a:r>
              <a:rPr lang="zh-CN" altLang="en-US"/>
              <a:t>模型，基于</a:t>
            </a:r>
            <a:r>
              <a:rPr lang="en-US" altLang="zh-CN"/>
              <a:t>Math23K</a:t>
            </a:r>
            <a:r>
              <a:rPr lang="zh-CN" altLang="en-US"/>
              <a:t>等标注数据集进行训练。该模型将包含启发式特征（如字符串相似度）。模型最终输出一个</a:t>
            </a:r>
            <a:r>
              <a:rPr lang="en-US" altLang="zh-CN"/>
              <a:t>0</a:t>
            </a:r>
            <a:r>
              <a:rPr lang="zh-CN" altLang="en-US"/>
              <a:t>到</a:t>
            </a:r>
            <a:r>
              <a:rPr lang="en-US" altLang="zh-CN"/>
              <a:t>1</a:t>
            </a:r>
            <a:r>
              <a:rPr lang="zh-CN" altLang="en-US"/>
              <a:t>的分数，作为该步骤合理性的最终度量。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策略三：基于大语言模型的综合评分。</a:t>
            </a:r>
            <a:endParaRPr lang="zh-CN" altLang="en-US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通过将解析出的数学表达式输出给大语言模型，并通过精心设计的特征提示词，通过大语言模型进行打分及反馈。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13951" y="2676432"/>
            <a:ext cx="2198526" cy="1911536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cs typeface="+mn-ea"/>
                <a:sym typeface="+mn-lt"/>
              </a:rPr>
              <a:t>/04</a:t>
            </a:r>
            <a:endParaRPr lang="zh-CN" altLang="en-US" spc="1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659224" y="2676714"/>
            <a:ext cx="5419185" cy="895350"/>
          </a:xfrm>
        </p:spPr>
        <p:txBody>
          <a:bodyPr/>
          <a:lstStyle/>
          <a:p>
            <a:pPr algn="l"/>
            <a:r>
              <a:rPr lang="zh-CN" altLang="en-US" sz="3200" dirty="0">
                <a:latin typeface="+mn-lt"/>
                <a:ea typeface="+mn-ea"/>
                <a:cs typeface="+mn-ea"/>
                <a:sym typeface="+mn-lt"/>
              </a:rPr>
              <a:t>难点</a:t>
            </a:r>
            <a:endParaRPr lang="zh-CN" altLang="en-US" sz="32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实践难点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8" name="组合 47"/>
          <p:cNvGrpSpPr/>
          <p:nvPr>
            <p:custDataLst>
              <p:tags r:id="rId1"/>
            </p:custDataLst>
          </p:nvPr>
        </p:nvGrpSpPr>
        <p:grpSpPr>
          <a:xfrm>
            <a:off x="800270" y="1166786"/>
            <a:ext cx="5038554" cy="414337"/>
            <a:chOff x="743755" y="1095763"/>
            <a:chExt cx="5038554" cy="414337"/>
          </a:xfrm>
        </p:grpSpPr>
        <p:sp>
          <p:nvSpPr>
            <p:cNvPr id="50" name="平行四边形 49"/>
            <p:cNvSpPr/>
            <p:nvPr>
              <p:custDataLst>
                <p:tags r:id="rId2"/>
              </p:custDataLst>
            </p:nvPr>
          </p:nvSpPr>
          <p:spPr>
            <a:xfrm>
              <a:off x="1184784" y="1131482"/>
              <a:ext cx="4597525" cy="342899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eaLnBrk="0" hangingPunct="0">
                <a:defRPr/>
              </a:pPr>
              <a:r>
                <a:rPr lang="zh-CN" altLang="en-US" b="1" kern="0" dirty="0">
                  <a:cs typeface="+mn-ea"/>
                  <a:sym typeface="+mn-lt"/>
                </a:rPr>
                <a:t>高精度识别</a:t>
              </a:r>
              <a:endParaRPr lang="zh-CN" altLang="en-US" b="1" kern="0" dirty="0">
                <a:cs typeface="+mn-ea"/>
                <a:sym typeface="+mn-lt"/>
              </a:endParaRPr>
            </a:p>
          </p:txBody>
        </p:sp>
        <p:sp>
          <p:nvSpPr>
            <p:cNvPr id="51" name="平行四边形 50"/>
            <p:cNvSpPr/>
            <p:nvPr>
              <p:custDataLst>
                <p:tags r:id="rId3"/>
              </p:custDataLst>
            </p:nvPr>
          </p:nvSpPr>
          <p:spPr bwMode="auto">
            <a:xfrm>
              <a:off x="743755" y="1095763"/>
              <a:ext cx="695249" cy="414337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sx="107000" sy="107000" algn="ctr" rotWithShape="0">
                <a:schemeClr val="bg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normAutofit fontScale="75000" lnSpcReduction="20000"/>
            </a:bodyPr>
            <a:lstStyle/>
            <a:p>
              <a:pPr algn="ctr"/>
              <a:r>
                <a:rPr lang="en-US" altLang="zh-CN" kern="0" dirty="0">
                  <a:solidFill>
                    <a:srgbClr val="FFFFFF"/>
                  </a:solidFill>
                  <a:cs typeface="+mn-ea"/>
                  <a:sym typeface="+mn-lt"/>
                </a:rPr>
                <a:t>1</a:t>
              </a:r>
              <a:endParaRPr lang="zh-CN" altLang="en-US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矩形 48"/>
          <p:cNvSpPr/>
          <p:nvPr>
            <p:custDataLst>
              <p:tags r:id="rId4"/>
            </p:custDataLst>
          </p:nvPr>
        </p:nvSpPr>
        <p:spPr bwMode="auto">
          <a:xfrm>
            <a:off x="1352550" y="1628140"/>
            <a:ext cx="679132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cs typeface="+mn-ea"/>
                <a:sym typeface="+mn-lt"/>
              </a:rPr>
              <a:t>如何在复杂的手写排版中（如分数、根号、矩阵）准确地将图像（</a:t>
            </a:r>
            <a:r>
              <a:rPr lang="en-US" altLang="zh-CN" sz="1600" dirty="0">
                <a:cs typeface="+mn-ea"/>
                <a:sym typeface="+mn-lt"/>
              </a:rPr>
              <a:t>Image</a:t>
            </a:r>
            <a:r>
              <a:rPr lang="zh-CN" altLang="en-US" sz="1600" dirty="0">
                <a:cs typeface="+mn-ea"/>
                <a:sym typeface="+mn-lt"/>
              </a:rPr>
              <a:t>）转换为机器可读的结构化数据（如</a:t>
            </a:r>
            <a:r>
              <a:rPr lang="en-US" altLang="zh-CN" sz="1600" dirty="0">
                <a:cs typeface="+mn-ea"/>
                <a:sym typeface="+mn-lt"/>
              </a:rPr>
              <a:t>LaTeX</a:t>
            </a:r>
            <a:r>
              <a:rPr lang="zh-CN" altLang="en-US" sz="1600" dirty="0">
                <a:cs typeface="+mn-ea"/>
                <a:sym typeface="+mn-lt"/>
              </a:rPr>
              <a:t>）。</a:t>
            </a:r>
            <a:endParaRPr lang="zh-CN" altLang="en-US" sz="1600" dirty="0">
              <a:cs typeface="+mn-ea"/>
              <a:sym typeface="+mn-lt"/>
            </a:endParaRPr>
          </a:p>
        </p:txBody>
      </p:sp>
      <p:grpSp>
        <p:nvGrpSpPr>
          <p:cNvPr id="43" name="组合 42"/>
          <p:cNvGrpSpPr/>
          <p:nvPr>
            <p:custDataLst>
              <p:tags r:id="rId5"/>
            </p:custDataLst>
          </p:nvPr>
        </p:nvGrpSpPr>
        <p:grpSpPr>
          <a:xfrm>
            <a:off x="800270" y="2532987"/>
            <a:ext cx="7200095" cy="414337"/>
            <a:chOff x="743755" y="1095763"/>
            <a:chExt cx="7200095" cy="414337"/>
          </a:xfrm>
        </p:grpSpPr>
        <p:sp>
          <p:nvSpPr>
            <p:cNvPr id="45" name="平行四边形 44"/>
            <p:cNvSpPr/>
            <p:nvPr>
              <p:custDataLst>
                <p:tags r:id="rId6"/>
              </p:custDataLst>
            </p:nvPr>
          </p:nvSpPr>
          <p:spPr>
            <a:xfrm>
              <a:off x="1184784" y="1131482"/>
              <a:ext cx="6759066" cy="342899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eaLnBrk="0" hangingPunct="0"/>
              <a:r>
                <a:rPr lang="zh-CN" altLang="en-US" b="1" kern="0" dirty="0">
                  <a:solidFill>
                    <a:srgbClr val="FFFFFF"/>
                  </a:solidFill>
                  <a:cs typeface="+mn-ea"/>
                  <a:sym typeface="+mn-lt"/>
                </a:rPr>
                <a:t>步骤语义理解</a:t>
              </a:r>
              <a:endParaRPr lang="zh-CN" altLang="en-US" b="1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6" name="平行四边形 45"/>
            <p:cNvSpPr/>
            <p:nvPr>
              <p:custDataLst>
                <p:tags r:id="rId7"/>
              </p:custDataLst>
            </p:nvPr>
          </p:nvSpPr>
          <p:spPr bwMode="auto">
            <a:xfrm>
              <a:off x="743755" y="1095763"/>
              <a:ext cx="695249" cy="414337"/>
            </a:xfrm>
            <a:prstGeom prst="parallelogram">
              <a:avLst/>
            </a:prstGeom>
            <a:solidFill>
              <a:schemeClr val="accent1"/>
            </a:solidFill>
            <a:ln>
              <a:noFill/>
            </a:ln>
            <a:effectLst>
              <a:outerShdw sx="107000" sy="107000" algn="ctr" rotWithShape="0">
                <a:schemeClr val="bg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normAutofit fontScale="75000" lnSpcReduction="20000"/>
            </a:bodyPr>
            <a:lstStyle/>
            <a:p>
              <a:pPr algn="ctr">
                <a:defRPr/>
              </a:pPr>
              <a:r>
                <a:rPr lang="en-US" altLang="zh-CN" b="1" i="1" kern="0">
                  <a:solidFill>
                    <a:srgbClr val="FFFFFF"/>
                  </a:solidFill>
                  <a:cs typeface="+mn-ea"/>
                  <a:sym typeface="+mn-lt"/>
                </a:rPr>
                <a:t>2</a:t>
              </a:r>
              <a:endParaRPr lang="zh-CN" altLang="en-US" b="1" i="1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4" name="矩形 43"/>
          <p:cNvSpPr/>
          <p:nvPr>
            <p:custDataLst>
              <p:tags r:id="rId8"/>
            </p:custDataLst>
          </p:nvPr>
        </p:nvSpPr>
        <p:spPr bwMode="auto">
          <a:xfrm>
            <a:off x="1352550" y="3124200"/>
            <a:ext cx="6077585" cy="84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cs typeface="+mn-ea"/>
                <a:sym typeface="+mn-lt"/>
              </a:rPr>
              <a:t>如何将一系列分离的公式（</a:t>
            </a:r>
            <a:r>
              <a:rPr lang="en-US" altLang="zh-CN" sz="1600" dirty="0">
                <a:cs typeface="+mn-ea"/>
                <a:sym typeface="+mn-lt"/>
              </a:rPr>
              <a:t>LaTeX</a:t>
            </a:r>
            <a:r>
              <a:rPr lang="zh-CN" altLang="en-US" sz="1600" dirty="0">
                <a:cs typeface="+mn-ea"/>
                <a:sym typeface="+mn-lt"/>
              </a:rPr>
              <a:t>序列）串联起来，理解它们之间的数学逻辑关系。</a:t>
            </a:r>
            <a:endParaRPr lang="zh-CN" altLang="en-US" sz="1600" dirty="0"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>
            <p:custDataLst>
              <p:tags r:id="rId9"/>
            </p:custDataLst>
          </p:nvPr>
        </p:nvGrpSpPr>
        <p:grpSpPr>
          <a:xfrm>
            <a:off x="800270" y="3934748"/>
            <a:ext cx="5038554" cy="414337"/>
            <a:chOff x="743755" y="1095763"/>
            <a:chExt cx="5038554" cy="414337"/>
          </a:xfrm>
        </p:grpSpPr>
        <p:sp>
          <p:nvSpPr>
            <p:cNvPr id="40" name="平行四边形 39"/>
            <p:cNvSpPr/>
            <p:nvPr>
              <p:custDataLst>
                <p:tags r:id="rId10"/>
              </p:custDataLst>
            </p:nvPr>
          </p:nvSpPr>
          <p:spPr>
            <a:xfrm>
              <a:off x="1184784" y="1131482"/>
              <a:ext cx="4597525" cy="342899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eaLnBrk="0" hangingPunct="0"/>
              <a:r>
                <a:rPr lang="zh-CN" altLang="en-US" b="1" kern="0" dirty="0">
                  <a:cs typeface="+mn-ea"/>
                  <a:sym typeface="+mn-lt"/>
                </a:rPr>
                <a:t>解法多样性评估</a:t>
              </a:r>
              <a:endParaRPr lang="zh-CN" altLang="en-US" b="1" kern="0" dirty="0">
                <a:cs typeface="+mn-ea"/>
                <a:sym typeface="+mn-lt"/>
              </a:endParaRPr>
            </a:p>
          </p:txBody>
        </p:sp>
        <p:sp>
          <p:nvSpPr>
            <p:cNvPr id="41" name="平行四边形 40"/>
            <p:cNvSpPr/>
            <p:nvPr>
              <p:custDataLst>
                <p:tags r:id="rId11"/>
              </p:custDataLst>
            </p:nvPr>
          </p:nvSpPr>
          <p:spPr bwMode="auto">
            <a:xfrm>
              <a:off x="743755" y="1095763"/>
              <a:ext cx="695249" cy="414337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sx="107000" sy="107000" algn="ctr" rotWithShape="0">
                <a:schemeClr val="bg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normAutofit fontScale="75000" lnSpcReduction="20000"/>
            </a:bodyPr>
            <a:lstStyle/>
            <a:p>
              <a:pPr algn="ctr"/>
              <a:r>
                <a:rPr lang="en-US" altLang="zh-CN" kern="0">
                  <a:solidFill>
                    <a:srgbClr val="FFFFFF"/>
                  </a:solidFill>
                  <a:cs typeface="+mn-ea"/>
                  <a:sym typeface="+mn-lt"/>
                </a:rPr>
                <a:t>3</a:t>
              </a:r>
              <a:endParaRPr lang="zh-CN" altLang="en-US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9" name="矩形 38"/>
          <p:cNvSpPr/>
          <p:nvPr>
            <p:custDataLst>
              <p:tags r:id="rId12"/>
            </p:custDataLst>
          </p:nvPr>
        </p:nvSpPr>
        <p:spPr bwMode="auto">
          <a:xfrm>
            <a:off x="1352550" y="4498975"/>
            <a:ext cx="650494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cs typeface="+mn-ea"/>
                <a:sym typeface="+mn-lt"/>
              </a:rPr>
              <a:t>如何利用知识图谱（</a:t>
            </a:r>
            <a:r>
              <a:rPr lang="en-US" altLang="zh-CN" sz="1600" dirty="0">
                <a:cs typeface="+mn-ea"/>
                <a:sym typeface="+mn-lt"/>
              </a:rPr>
              <a:t>KG</a:t>
            </a:r>
            <a:r>
              <a:rPr lang="zh-CN" altLang="en-US" sz="1600" dirty="0">
                <a:cs typeface="+mn-ea"/>
                <a:sym typeface="+mn-lt"/>
              </a:rPr>
              <a:t>）评估一个非标准、但逻辑正确的解题路径，并对其完整性、简洁性进行评分。</a:t>
            </a:r>
            <a:endParaRPr lang="zh-CN" altLang="en-US" sz="1600" dirty="0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>
            <p:custDataLst>
              <p:tags r:id="rId13"/>
            </p:custDataLst>
          </p:nvPr>
        </p:nvGrpSpPr>
        <p:grpSpPr>
          <a:xfrm>
            <a:off x="800270" y="5372707"/>
            <a:ext cx="7200095" cy="414337"/>
            <a:chOff x="743755" y="1095763"/>
            <a:chExt cx="7200095" cy="414337"/>
          </a:xfrm>
        </p:grpSpPr>
        <p:sp>
          <p:nvSpPr>
            <p:cNvPr id="5" name="平行四边形 4"/>
            <p:cNvSpPr/>
            <p:nvPr>
              <p:custDataLst>
                <p:tags r:id="rId14"/>
              </p:custDataLst>
            </p:nvPr>
          </p:nvSpPr>
          <p:spPr>
            <a:xfrm>
              <a:off x="1184784" y="1131482"/>
              <a:ext cx="6759066" cy="342899"/>
            </a:xfrm>
            <a:prstGeom prst="parallelogram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eaLnBrk="0" hangingPunct="0"/>
              <a:r>
                <a:rPr lang="zh-CN" altLang="en-US" b="1" kern="0" dirty="0">
                  <a:solidFill>
                    <a:srgbClr val="FFFFFF"/>
                  </a:solidFill>
                  <a:cs typeface="+mn-ea"/>
                  <a:sym typeface="+mn-lt"/>
                </a:rPr>
                <a:t>步骤语义理解</a:t>
              </a:r>
              <a:endParaRPr lang="zh-CN" altLang="en-US" b="1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平行四边形 5"/>
            <p:cNvSpPr/>
            <p:nvPr>
              <p:custDataLst>
                <p:tags r:id="rId15"/>
              </p:custDataLst>
            </p:nvPr>
          </p:nvSpPr>
          <p:spPr bwMode="auto">
            <a:xfrm>
              <a:off x="743755" y="1095763"/>
              <a:ext cx="695249" cy="414337"/>
            </a:xfrm>
            <a:prstGeom prst="parallelogram">
              <a:avLst/>
            </a:prstGeom>
            <a:solidFill>
              <a:schemeClr val="accent1"/>
            </a:solidFill>
            <a:ln>
              <a:noFill/>
            </a:ln>
            <a:effectLst>
              <a:outerShdw sx="107000" sy="107000" algn="ctr" rotWithShape="0">
                <a:schemeClr val="bg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normAutofit fontScale="75000" lnSpcReduction="20000"/>
            </a:bodyPr>
            <a:lstStyle/>
            <a:p>
              <a:pPr algn="ctr">
                <a:defRPr/>
              </a:pPr>
              <a:r>
                <a:rPr lang="en-US" altLang="zh-CN" b="1" i="1" kern="0">
                  <a:solidFill>
                    <a:srgbClr val="FFFFFF"/>
                  </a:solidFill>
                  <a:cs typeface="+mn-ea"/>
                  <a:sym typeface="+mn-lt"/>
                </a:rPr>
                <a:t>2</a:t>
              </a:r>
              <a:endParaRPr lang="zh-CN" altLang="en-US" b="1" i="1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6"/>
            </p:custDataLst>
          </p:nvPr>
        </p:nvSpPr>
        <p:spPr bwMode="auto">
          <a:xfrm>
            <a:off x="1352550" y="5838825"/>
            <a:ext cx="607758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cs typeface="+mn-ea"/>
                <a:sym typeface="+mn-lt"/>
              </a:rPr>
              <a:t>如何在步骤错误时，定位错误类型（是计算错误、公式用错，还是逻辑错误）并生成针对性反馈。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1" imgW="9525" imgH="9525" progId="TCLayout.ActiveDocument.1">
                  <p:embed/>
                </p:oleObj>
              </mc:Choice>
              <mc:Fallback>
                <p:oleObj name="think-cell Slide" r:id="rId1" imgW="9525" imgH="9525" progId="TCLayout.ActiveDocument.1">
                  <p:embed/>
                  <p:pic>
                    <p:nvPicPr>
                      <p:cNvPr id="0" name="图片 -1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6665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Thanks</a:t>
            </a:r>
            <a:br>
              <a:rPr lang="en-US" altLang="zh-CN" sz="6665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</a:br>
            <a:endParaRPr lang="zh-CN" altLang="en-US" sz="6665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315200" y="5679015"/>
            <a:ext cx="420528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414247" y="5973495"/>
            <a:ext cx="5106241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2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3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4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5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6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7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8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0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1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2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3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4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6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7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8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19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20.xml><?xml version="1.0" encoding="utf-8"?>
<p:tagLst xmlns:p="http://schemas.openxmlformats.org/presentationml/2006/main">
  <p:tag name="KSO_WM_DIAGRAM_VIRTUALLY_FRAME" val="{&quot;height&quot;:411.5499999999999,&quot;left&quot;:52,&quot;top&quot;:89,&quot;width&quot;:855}"/>
</p:tagLst>
</file>

<file path=ppt/tags/tag21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2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3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4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5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6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7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8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29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0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1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2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3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4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5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6.xml><?xml version="1.0" encoding="utf-8"?>
<p:tagLst xmlns:p="http://schemas.openxmlformats.org/presentationml/2006/main">
  <p:tag name="KSO_WM_DIAGRAM_VIRTUALLY_FRAME" val="{&quot;height&quot;:458.6770866141733,&quot;left&quot;:63.013385826771625,&quot;top&quot;:91.87291338582676,&quot;width&quot;:720.4866141732284}"/>
</p:tagLst>
</file>

<file path=ppt/tags/tag37.xml><?xml version="1.0" encoding="utf-8"?>
<p:tagLst xmlns:p="http://schemas.openxmlformats.org/presentationml/2006/main">
  <p:tag name="ISLIDE.SHOWCASE" val="2a209bbd-22a6-4b71-92db-b4a119caedf0"/>
  <p:tag name="commondata" val="eyJoZGlkIjoiMjkwZWFiNmIzYzc0YWRlY2IyYzI5MzNhN2M3YWJkOTgifQ==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7489A"/>
      </a:accent1>
      <a:accent2>
        <a:srgbClr val="0C62BF"/>
      </a:accent2>
      <a:accent3>
        <a:srgbClr val="1C86FB"/>
      </a:accent3>
      <a:accent4>
        <a:srgbClr val="4598F7"/>
      </a:accent4>
      <a:accent5>
        <a:srgbClr val="73B3F9"/>
      </a:accent5>
      <a:accent6>
        <a:srgbClr val="1A1A1A"/>
      </a:accent6>
      <a:hlink>
        <a:srgbClr val="4472C4"/>
      </a:hlink>
      <a:folHlink>
        <a:srgbClr val="BFBFBF"/>
      </a:folHlink>
    </a:clrScheme>
    <a:fontScheme name="c33odl30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7489A"/>
    </a:accent1>
    <a:accent2>
      <a:srgbClr val="0C62BF"/>
    </a:accent2>
    <a:accent3>
      <a:srgbClr val="1C86FB"/>
    </a:accent3>
    <a:accent4>
      <a:srgbClr val="4598F7"/>
    </a:accent4>
    <a:accent5>
      <a:srgbClr val="73B3F9"/>
    </a:accent5>
    <a:accent6>
      <a:srgbClr val="1A1A1A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7489A"/>
    </a:accent1>
    <a:accent2>
      <a:srgbClr val="0C62BF"/>
    </a:accent2>
    <a:accent3>
      <a:srgbClr val="1C86FB"/>
    </a:accent3>
    <a:accent4>
      <a:srgbClr val="4598F7"/>
    </a:accent4>
    <a:accent5>
      <a:srgbClr val="73B3F9"/>
    </a:accent5>
    <a:accent6>
      <a:srgbClr val="1A1A1A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7489A"/>
    </a:accent1>
    <a:accent2>
      <a:srgbClr val="0C62BF"/>
    </a:accent2>
    <a:accent3>
      <a:srgbClr val="1C86FB"/>
    </a:accent3>
    <a:accent4>
      <a:srgbClr val="4598F7"/>
    </a:accent4>
    <a:accent5>
      <a:srgbClr val="73B3F9"/>
    </a:accent5>
    <a:accent6>
      <a:srgbClr val="1A1A1A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7489A"/>
    </a:accent1>
    <a:accent2>
      <a:srgbClr val="0C62BF"/>
    </a:accent2>
    <a:accent3>
      <a:srgbClr val="1C86FB"/>
    </a:accent3>
    <a:accent4>
      <a:srgbClr val="4598F7"/>
    </a:accent4>
    <a:accent5>
      <a:srgbClr val="73B3F9"/>
    </a:accent5>
    <a:accent6>
      <a:srgbClr val="1A1A1A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7489A"/>
    </a:accent1>
    <a:accent2>
      <a:srgbClr val="0C62BF"/>
    </a:accent2>
    <a:accent3>
      <a:srgbClr val="1C86FB"/>
    </a:accent3>
    <a:accent4>
      <a:srgbClr val="4598F7"/>
    </a:accent4>
    <a:accent5>
      <a:srgbClr val="73B3F9"/>
    </a:accent5>
    <a:accent6>
      <a:srgbClr val="1A1A1A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1448</Words>
  <Application>WPS 演示</Application>
  <PresentationFormat>宽屏</PresentationFormat>
  <Paragraphs>135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Calibri</vt:lpstr>
      <vt:lpstr>主题5</vt:lpstr>
      <vt:lpstr>TCLayout.ActiveDocument.1</vt:lpstr>
      <vt:lpstr>Visio.Drawing.15</vt:lpstr>
      <vt:lpstr>TCLayout.ActiveDocument.1</vt:lpstr>
      <vt:lpstr>数学解题步骤智能评分系统</vt:lpstr>
      <vt:lpstr>研究背景与意义</vt:lpstr>
      <vt:lpstr>背景</vt:lpstr>
      <vt:lpstr>意义</vt:lpstr>
      <vt:lpstr>研究内容与初步设想</vt:lpstr>
      <vt:lpstr>数据流泳道图</vt:lpstr>
      <vt:lpstr>功能模块</vt:lpstr>
      <vt:lpstr>前端模块</vt:lpstr>
      <vt:lpstr>后端模块：解题步骤解析模块</vt:lpstr>
      <vt:lpstr>后端模块：步骤评分模块</vt:lpstr>
      <vt:lpstr>难点</vt:lpstr>
      <vt:lpstr>实践难点</vt:lpstr>
      <vt:lpstr>Thanks 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PHOENIX</cp:lastModifiedBy>
  <cp:revision>32</cp:revision>
  <cp:lastPrinted>2019-09-10T16:00:00Z</cp:lastPrinted>
  <dcterms:created xsi:type="dcterms:W3CDTF">2019-09-10T16:00:00Z</dcterms:created>
  <dcterms:modified xsi:type="dcterms:W3CDTF">2025-10-29T07:00:00Z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C5CC8BB80A544E21AFBA054D5CCB2355_12</vt:lpwstr>
  </property>
  <property fmtid="{D5CDD505-2E9C-101B-9397-08002B2CF9AE}" pid="4" name="KSOProductBuildVer">
    <vt:lpwstr>2052-12.1.0.23542</vt:lpwstr>
  </property>
</Properties>
</file>