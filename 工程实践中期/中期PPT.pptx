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1" r:id="rId1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1" Type="http://schemas.openxmlformats.org/officeDocument/2006/relationships/tableStyles" Target="tableStyles.xml"/><Relationship Id="rId20" Type="http://schemas.openxmlformats.org/officeDocument/2006/relationships/viewProps" Target="viewProps.xml"/><Relationship Id="rId2" Type="http://schemas.openxmlformats.org/officeDocument/2006/relationships/theme" Target="theme/theme1.xml"/><Relationship Id="rId19" Type="http://schemas.openxmlformats.org/officeDocument/2006/relationships/presProps" Target="presProps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Based on the user-provided project outline and UML snippets in this conversation.
- Placeholder screenshots and placeholder metric fields are intentionally left for later replacement with real project assets/data.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Based on the user-provided project outline and UML snippets in this conversation.
- Placeholder screenshots and placeholder metric fields are intentionally left for later replacement with real project assets/data.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Based on the user-provided project outline and UML snippets in this conversation.
- Placeholder screenshots and placeholder metric fields are intentionally left for later replacement with real project assets/data.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Based on the user-provided project outline and UML snippets in this conversation.
- Placeholder screenshots and placeholder metric fields are intentionally left for later replacement with real project assets/data.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Based on the user-provided project outline and UML snippets in this conversation.
- Placeholder screenshots and placeholder metric fields are intentionally left for later replacement with real project assets/data.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Based on the user-provided project outline and UML snippets in this conversation.
- Placeholder screenshots and placeholder metric fields are intentionally left for later replacement with real project assets/data.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Based on the user-provided project outline and UML snippets in this conversation.
- Placeholder screenshots and placeholder metric fields are intentionally left for later replacement with real project assets/data.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Based on the user-provided project outline and UML snippets in this conversation.
- Placeholder screenshots and placeholder metric fields are intentionally left for later replacement with real project assets/data.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Based on the user-provided project outline and UML snippets in this conversation.
- Placeholder screenshots and placeholder metric fields are intentionally left for later replacement with real project assets/data.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Based on the user-provided project outline and UML snippets in this conversation.
- Placeholder screenshots and placeholder metric fields are intentionally left for later replacement with real project assets/data.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Based on the user-provided project outline and UML snippets in this conversation.
- Placeholder screenshots and placeholder metric fields are intentionally left for later replacement with real project assets/data.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Based on the user-provided project outline and UML snippets in this conversation.
- Placeholder screenshots and placeholder metric fields are intentionally left for later replacement with real project assets/data.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Based on the user-provided project outline and UML snippets in this conversation.
- Placeholder screenshots and placeholder metric fields are intentionally left for later replacement with real project assets/data.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Based on the user-provided project outline and UML snippets in this conversation.
- Placeholder screenshots and placeholder metric fields are intentionally left for later replacement with real project assets/data.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Based on the user-provided project outline and UML snippets in this conversation.
- Placeholder screenshots and placeholder metric fields are intentionally left for later replacement with real project assets/data.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001000" y="0"/>
            <a:ext cx="4187952" cy="6858000"/>
          </a:xfrm>
          <a:prstGeom prst="rect">
            <a:avLst/>
          </a:prstGeom>
          <a:solidFill>
            <a:srgbClr val="F0F5FF"/>
          </a:solidFill>
          <a:ln w="12700">
            <a:solidFill>
              <a:srgbClr val="E7EEF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960120"/>
            <a:ext cx="2148840" cy="237744"/>
          </a:xfrm>
          <a:prstGeom prst="rect">
            <a:avLst/>
          </a:prstGeom>
          <a:solidFill>
            <a:srgbClr val="EAF2FF"/>
          </a:solidFill>
          <a:ln>
            <a:solidFill>
              <a:srgbClr val="EAF2FF"/>
            </a:solidFill>
          </a:ln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F6FD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工程实践项目中期报告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58368" y="1417320"/>
            <a:ext cx="5303520" cy="11887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6355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数学作业OCR</a:t>
            </a:r>
            <a:endParaRPr lang="en-US" sz="2500" dirty="0"/>
          </a:p>
          <a:p>
            <a:pPr marL="0" indent="0">
              <a:buNone/>
            </a:pPr>
            <a:r>
              <a:rPr lang="en-US" sz="2500" b="1" dirty="0">
                <a:solidFill>
                  <a:srgbClr val="16355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与步骤评分系统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685800" y="2816352"/>
            <a:ext cx="621792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50" dirty="0">
                <a:solidFill>
                  <a:srgbClr val="34405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工程化中期版本｜图片 → OCR → 分步 → 评分 → 反馈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685800" y="5870448"/>
            <a:ext cx="621792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6708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团队：______3</a:t>
            </a:r>
            <a:r>
              <a:rPr lang="zh-CN" altLang="en-US" sz="1300" dirty="0">
                <a:solidFill>
                  <a:srgbClr val="66708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组</a:t>
            </a:r>
            <a:r>
              <a:rPr lang="en-US" sz="1300" dirty="0">
                <a:solidFill>
                  <a:srgbClr val="66708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____       日期：__2026.3.13________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577072" y="1024128"/>
            <a:ext cx="192024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F"/>
            </a:solidFill>
          </a:ln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2F6FD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OCR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8823960" y="2029968"/>
            <a:ext cx="219456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EFE8"/>
            </a:solidFill>
          </a:ln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F8F7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Step Parse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8412480" y="3035808"/>
            <a:ext cx="196596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F1D8B6"/>
            </a:solidFill>
          </a:ln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C7861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Scoring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9189720" y="4041648"/>
            <a:ext cx="201168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F"/>
            </a:solidFill>
          </a:ln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6355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Feedback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9509760" y="1536192"/>
            <a:ext cx="411480" cy="420624"/>
          </a:xfrm>
          <a:prstGeom prst="line">
            <a:avLst/>
          </a:prstGeom>
          <a:noFill/>
          <a:ln w="19050">
            <a:solidFill>
              <a:srgbClr val="A7BFEA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9528048" y="2542032"/>
            <a:ext cx="301752" cy="420624"/>
          </a:xfrm>
          <a:prstGeom prst="line">
            <a:avLst/>
          </a:prstGeom>
          <a:noFill/>
          <a:ln w="19050">
            <a:solidFill>
              <a:srgbClr val="A7BFEA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9464040" y="3547872"/>
            <a:ext cx="566928" cy="420624"/>
          </a:xfrm>
          <a:prstGeom prst="line">
            <a:avLst/>
          </a:prstGeom>
          <a:noFill/>
          <a:ln w="19050">
            <a:solidFill>
              <a:srgbClr val="A7BFEA"/>
            </a:solidFill>
            <a:prstDash val="solid"/>
            <a:tailEnd type="triangle"/>
          </a:ln>
        </p:spPr>
      </p:sp>
      <p:sp>
        <p:nvSpPr>
          <p:cNvPr id="14" name="Text 12"/>
          <p:cNvSpPr/>
          <p:nvPr/>
        </p:nvSpPr>
        <p:spPr>
          <a:xfrm>
            <a:off x="8211312" y="4892040"/>
            <a:ext cx="320040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7E2"/>
            </a:solidFill>
          </a:ln>
        </p:spPr>
        <p:txBody>
          <a:bodyPr wrap="square" lIns="1524" tIns="1524" rIns="1524" bIns="1524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34405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强调工程深度：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34405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多引擎 + 回退、分层架构、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34405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可观测诊断、分页降载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92608"/>
            <a:ext cx="1051560" cy="256032"/>
          </a:xfrm>
          <a:prstGeom prst="rect">
            <a:avLst/>
          </a:prstGeom>
          <a:solidFill>
            <a:srgbClr val="EAF2FF"/>
          </a:solidFill>
          <a:ln>
            <a:solidFill>
              <a:srgbClr val="EAF2FF"/>
            </a:solidFill>
          </a:ln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F6FD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01 背景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640080"/>
            <a:ext cx="896112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6355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项目背景与中期目标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94360" y="1463040"/>
            <a:ext cx="320040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F0"/>
            </a:solidFill>
          </a:ln>
        </p:spPr>
        <p:txBody>
          <a:bodyPr wrap="square" lIns="2032" tIns="2032" rIns="2032" bIns="2032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10182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场景痛点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34405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• 中文与公式混排，传统 OCR 易相互干扰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34405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• 数学步骤评分主观性高，难以保证一致性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94360" y="3642868"/>
            <a:ext cx="320040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F0"/>
            </a:solidFill>
          </a:ln>
        </p:spPr>
        <p:txBody>
          <a:bodyPr wrap="square" lIns="2032" tIns="2032" rIns="2032" bIns="2032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10182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中期目标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34405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实现从图片上传到评分反馈的闭环流程；补齐回退、诊断、配置化等工程能力。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160520" y="1481328"/>
            <a:ext cx="9144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F6FD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系统闭环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160520" y="2103120"/>
            <a:ext cx="1170432" cy="640080"/>
          </a:xfrm>
          <a:prstGeom prst="rect">
            <a:avLst/>
          </a:prstGeom>
          <a:solidFill>
            <a:srgbClr val="EAF2FF"/>
          </a:solidFill>
          <a:ln w="12700">
            <a:solidFill>
              <a:srgbClr val="D6DDE8"/>
            </a:solidFill>
          </a:ln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650" b="1" dirty="0">
                <a:solidFill>
                  <a:srgbClr val="2F6FD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图片输入</a:t>
            </a:r>
            <a:endParaRPr lang="en-US" sz="1650" dirty="0"/>
          </a:p>
        </p:txBody>
      </p:sp>
      <p:sp>
        <p:nvSpPr>
          <p:cNvPr id="9" name="Text 7"/>
          <p:cNvSpPr/>
          <p:nvPr/>
        </p:nvSpPr>
        <p:spPr>
          <a:xfrm>
            <a:off x="5385816" y="2212848"/>
            <a:ext cx="109728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A8B7C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→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5550408" y="2103120"/>
            <a:ext cx="1170432" cy="640080"/>
          </a:xfrm>
          <a:prstGeom prst="rect">
            <a:avLst/>
          </a:prstGeom>
          <a:solidFill>
            <a:srgbClr val="EEF8F6"/>
          </a:solidFill>
          <a:ln w="12700">
            <a:solidFill>
              <a:srgbClr val="D6DDE8"/>
            </a:solidFill>
          </a:ln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650" b="1" dirty="0">
                <a:solidFill>
                  <a:srgbClr val="0F8F7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OCR 识别</a:t>
            </a:r>
            <a:endParaRPr lang="en-US" sz="1650" dirty="0"/>
          </a:p>
        </p:txBody>
      </p:sp>
      <p:sp>
        <p:nvSpPr>
          <p:cNvPr id="11" name="Text 9"/>
          <p:cNvSpPr/>
          <p:nvPr/>
        </p:nvSpPr>
        <p:spPr>
          <a:xfrm>
            <a:off x="6775704" y="2212848"/>
            <a:ext cx="109728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A8B7C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→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940296" y="2103120"/>
            <a:ext cx="1170432" cy="640080"/>
          </a:xfrm>
          <a:prstGeom prst="rect">
            <a:avLst/>
          </a:prstGeom>
          <a:solidFill>
            <a:srgbClr val="FFF6E8"/>
          </a:solidFill>
          <a:ln w="12700">
            <a:solidFill>
              <a:srgbClr val="D6DDE8"/>
            </a:solidFill>
          </a:ln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650" b="1" dirty="0">
                <a:solidFill>
                  <a:srgbClr val="C7861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步骤切分</a:t>
            </a:r>
            <a:endParaRPr lang="en-US" sz="1650" dirty="0"/>
          </a:p>
        </p:txBody>
      </p:sp>
      <p:sp>
        <p:nvSpPr>
          <p:cNvPr id="13" name="Text 11"/>
          <p:cNvSpPr/>
          <p:nvPr/>
        </p:nvSpPr>
        <p:spPr>
          <a:xfrm>
            <a:off x="8165592" y="2212848"/>
            <a:ext cx="109728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A8B7C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→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8330184" y="2103120"/>
            <a:ext cx="1170432" cy="640080"/>
          </a:xfrm>
          <a:prstGeom prst="rect">
            <a:avLst/>
          </a:prstGeom>
          <a:solidFill>
            <a:srgbClr val="F0F5FF"/>
          </a:solidFill>
          <a:ln w="12700">
            <a:solidFill>
              <a:srgbClr val="D6DDE8"/>
            </a:solidFill>
          </a:ln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650" b="1" dirty="0">
                <a:solidFill>
                  <a:srgbClr val="16355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智能评分</a:t>
            </a:r>
            <a:endParaRPr lang="en-US" sz="1650" dirty="0"/>
          </a:p>
        </p:txBody>
      </p:sp>
      <p:sp>
        <p:nvSpPr>
          <p:cNvPr id="15" name="Text 13"/>
          <p:cNvSpPr/>
          <p:nvPr/>
        </p:nvSpPr>
        <p:spPr>
          <a:xfrm>
            <a:off x="9555480" y="2212848"/>
            <a:ext cx="109728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A8B7C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→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9720072" y="2103120"/>
            <a:ext cx="1170432" cy="640080"/>
          </a:xfrm>
          <a:prstGeom prst="rect">
            <a:avLst/>
          </a:prstGeom>
          <a:solidFill>
            <a:srgbClr val="EEF4FF"/>
          </a:solidFill>
          <a:ln w="12700">
            <a:solidFill>
              <a:srgbClr val="D6DDE8"/>
            </a:solidFill>
          </a:ln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650" b="1" dirty="0">
                <a:solidFill>
                  <a:srgbClr val="2F6FD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反馈展示</a:t>
            </a:r>
            <a:endParaRPr lang="en-US" sz="1650" dirty="0"/>
          </a:p>
        </p:txBody>
      </p:sp>
      <p:sp>
        <p:nvSpPr>
          <p:cNvPr id="19" name="Text 17"/>
          <p:cNvSpPr/>
          <p:nvPr/>
        </p:nvSpPr>
        <p:spPr>
          <a:xfrm>
            <a:off x="4239387" y="4224020"/>
            <a:ext cx="1417320" cy="256032"/>
          </a:xfrm>
          <a:prstGeom prst="rect">
            <a:avLst/>
          </a:prstGeom>
          <a:solidFill>
            <a:srgbClr val="EAF2FF"/>
          </a:solidFill>
          <a:ln w="12700">
            <a:solidFill>
              <a:srgbClr val="C9DBFF"/>
            </a:solidFill>
          </a:ln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2F6FD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闭环可运行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5793867" y="4224020"/>
            <a:ext cx="1463040" cy="256032"/>
          </a:xfrm>
          <a:prstGeom prst="rect">
            <a:avLst/>
          </a:prstGeom>
          <a:solidFill>
            <a:srgbClr val="E8F7F3"/>
          </a:solidFill>
          <a:ln w="12700">
            <a:solidFill>
              <a:srgbClr val="BFE7DF"/>
            </a:solidFill>
          </a:ln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F8F7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异常可诊断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7412355" y="4224020"/>
            <a:ext cx="1417320" cy="256032"/>
          </a:xfrm>
          <a:prstGeom prst="rect">
            <a:avLst/>
          </a:prstGeom>
          <a:solidFill>
            <a:srgbClr val="FFF4DF"/>
          </a:solidFill>
          <a:ln w="12700">
            <a:solidFill>
              <a:srgbClr val="F3D39A"/>
            </a:solidFill>
          </a:ln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C7861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策略可回退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8994267" y="4224020"/>
            <a:ext cx="1572768" cy="256032"/>
          </a:xfrm>
          <a:prstGeom prst="rect">
            <a:avLst/>
          </a:prstGeom>
          <a:solidFill>
            <a:srgbClr val="EAF2FF"/>
          </a:solidFill>
          <a:ln w="12700">
            <a:solidFill>
              <a:srgbClr val="C9DBFF"/>
            </a:solidFill>
          </a:ln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2F6FD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模块可扩展</a:t>
            </a:r>
            <a:endParaRPr lang="en-US" sz="1150" dirty="0"/>
          </a:p>
        </p:txBody>
      </p:sp>
      <p:sp>
        <p:nvSpPr>
          <p:cNvPr id="24" name="Text 21"/>
          <p:cNvSpPr/>
          <p:nvPr/>
        </p:nvSpPr>
        <p:spPr>
          <a:xfrm>
            <a:off x="502920" y="6492240"/>
            <a:ext cx="438912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8A2B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数学作业 OCR 与步骤评分系统｜工程化中期版本</a:t>
            </a:r>
            <a:endParaRPr lang="en-US" sz="950" dirty="0"/>
          </a:p>
        </p:txBody>
      </p:sp>
      <p:sp>
        <p:nvSpPr>
          <p:cNvPr id="25" name="Text 22"/>
          <p:cNvSpPr/>
          <p:nvPr/>
        </p:nvSpPr>
        <p:spPr>
          <a:xfrm>
            <a:off x="11521440" y="6419088"/>
            <a:ext cx="27432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98A2B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92608"/>
            <a:ext cx="1051560" cy="256032"/>
          </a:xfrm>
          <a:prstGeom prst="rect">
            <a:avLst/>
          </a:prstGeom>
          <a:solidFill>
            <a:srgbClr val="EAF2FF"/>
          </a:solidFill>
          <a:ln>
            <a:solidFill>
              <a:srgbClr val="EAF2FF"/>
            </a:solidFill>
          </a:ln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F6FD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02 需求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640080"/>
            <a:ext cx="896112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6355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需求分析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94360" y="1463040"/>
            <a:ext cx="544068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F0"/>
            </a:solidFill>
          </a:ln>
        </p:spPr>
        <p:txBody>
          <a:bodyPr wrap="square" lIns="2032" tIns="2032" rIns="2032" bIns="2032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10182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功能需求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34405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• OCR识别：支持本地 OCR 与多模态 OCR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34405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• 后处理：排序、分题、去噪、步骤切分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34405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• 评分：支持按题评分、整页评分、失败回退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34405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• 展示：分页查看、评分明细、诊断信息可视化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217920" y="1463040"/>
            <a:ext cx="539496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F0"/>
            </a:solidFill>
          </a:ln>
        </p:spPr>
        <p:txBody>
          <a:bodyPr wrap="square" lIns="2032" tIns="2032" rIns="2032" bIns="2032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10182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非功能需求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34405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• 响应时间：单次请求体量可控，避免大文本超时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34405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• 可维护性：服务拆分明确，配置外置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34405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• 可诊断性：保留状态码、耗时、错误预览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34405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• 可扩展性：模型接口、评分规则、超时策略可替换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78535" y="4407408"/>
            <a:ext cx="1508760" cy="256032"/>
          </a:xfrm>
          <a:prstGeom prst="rect">
            <a:avLst/>
          </a:prstGeom>
          <a:solidFill>
            <a:srgbClr val="FFF4DF"/>
          </a:solidFill>
          <a:ln w="12700">
            <a:solidFill>
              <a:srgbClr val="F3D39A"/>
            </a:solidFill>
          </a:ln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C7861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稳定性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2670175" y="4407408"/>
            <a:ext cx="1508760" cy="256032"/>
          </a:xfrm>
          <a:prstGeom prst="rect">
            <a:avLst/>
          </a:prstGeom>
          <a:solidFill>
            <a:srgbClr val="EAF2FF"/>
          </a:solidFill>
          <a:ln w="12700">
            <a:solidFill>
              <a:srgbClr val="C9DBFF"/>
            </a:solidFill>
          </a:ln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2F6FD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可维护性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4361815" y="4407408"/>
            <a:ext cx="1508760" cy="256032"/>
          </a:xfrm>
          <a:prstGeom prst="rect">
            <a:avLst/>
          </a:prstGeom>
          <a:solidFill>
            <a:srgbClr val="E8F7F3"/>
          </a:solidFill>
          <a:ln w="12700">
            <a:solidFill>
              <a:srgbClr val="BFE7DF"/>
            </a:solidFill>
          </a:ln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F8F7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可诊断性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6053455" y="4407408"/>
            <a:ext cx="1508760" cy="256032"/>
          </a:xfrm>
          <a:prstGeom prst="rect">
            <a:avLst/>
          </a:prstGeom>
          <a:solidFill>
            <a:srgbClr val="EAF2FF"/>
          </a:solidFill>
          <a:ln w="12700">
            <a:solidFill>
              <a:srgbClr val="C9DBFF"/>
            </a:solidFill>
          </a:ln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2F6FD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可扩展性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7745095" y="4407408"/>
            <a:ext cx="1645920" cy="256032"/>
          </a:xfrm>
          <a:prstGeom prst="rect">
            <a:avLst/>
          </a:prstGeom>
          <a:solidFill>
            <a:srgbClr val="FFF4DF"/>
          </a:solidFill>
          <a:ln w="12700">
            <a:solidFill>
              <a:srgbClr val="F3D39A"/>
            </a:solidFill>
          </a:ln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C7861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分页降载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9573895" y="4407408"/>
            <a:ext cx="1645920" cy="256032"/>
          </a:xfrm>
          <a:prstGeom prst="rect">
            <a:avLst/>
          </a:prstGeom>
          <a:solidFill>
            <a:srgbClr val="E8F7F3"/>
          </a:solidFill>
          <a:ln w="12700">
            <a:solidFill>
              <a:srgbClr val="BFE7DF"/>
            </a:solidFill>
          </a:ln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F8F7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配置外置</a:t>
            </a:r>
            <a:endParaRPr lang="en-US" sz="1150" dirty="0"/>
          </a:p>
        </p:txBody>
      </p:sp>
      <p:sp>
        <p:nvSpPr>
          <p:cNvPr id="16" name="Text 13"/>
          <p:cNvSpPr/>
          <p:nvPr/>
        </p:nvSpPr>
        <p:spPr>
          <a:xfrm>
            <a:off x="11521440" y="6419088"/>
            <a:ext cx="27432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98A2B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03</a:t>
            </a:r>
            <a:endParaRPr lang="en-US" sz="1000" dirty="0"/>
          </a:p>
        </p:txBody>
      </p:sp>
      <p:sp>
        <p:nvSpPr>
          <p:cNvPr id="14" name="Text 7"/>
          <p:cNvSpPr/>
          <p:nvPr/>
        </p:nvSpPr>
        <p:spPr>
          <a:xfrm>
            <a:off x="502920" y="6492240"/>
            <a:ext cx="438912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8A2B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数学作业 OCR 与步骤评分系统｜工程化中期版本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92608"/>
            <a:ext cx="1051560" cy="256032"/>
          </a:xfrm>
          <a:prstGeom prst="rect">
            <a:avLst/>
          </a:prstGeom>
          <a:solidFill>
            <a:srgbClr val="EAF2FF"/>
          </a:solidFill>
          <a:ln>
            <a:solidFill>
              <a:srgbClr val="EAF2FF"/>
            </a:solidFill>
          </a:ln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F6FD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03 UML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640080"/>
            <a:ext cx="896112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6355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需求分析用例图</a:t>
            </a:r>
            <a:endParaRPr lang="en-US" sz="2400" dirty="0"/>
          </a:p>
        </p:txBody>
      </p:sp>
      <p:pic>
        <p:nvPicPr>
          <p:cNvPr id="5" name="Image 0" descr="/mnt/data/midterm_ppt/diagrams/usecas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31238" y="1417320"/>
            <a:ext cx="6235803" cy="46177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732520" y="1691640"/>
            <a:ext cx="2606040" cy="1207008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F0"/>
            </a:solidFill>
          </a:ln>
        </p:spPr>
        <p:txBody>
          <a:bodyPr wrap="square" lIns="2032" tIns="2032" rIns="2032" bIns="2032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0182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学生主流程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34405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上传图片 → 查看 OCR 结果 → 修正文本 → 按题评分 → 查看反馈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8732520" y="3063240"/>
            <a:ext cx="260604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F0"/>
            </a:solidFill>
          </a:ln>
        </p:spPr>
        <p:txBody>
          <a:bodyPr wrap="square" lIns="2032" tIns="2032" rIns="2032" bIns="2032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0182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教师 / 管理员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34405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教师关注评分与诊断；管理员关注模型、超时等系统参数。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8732520" y="4315968"/>
            <a:ext cx="260604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F0"/>
            </a:solidFill>
          </a:ln>
        </p:spPr>
        <p:txBody>
          <a:bodyPr wrap="square" lIns="2032" tIns="2032" rIns="2032" bIns="2032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0182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外部依赖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34405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LLM 既参与 OCR 补识别，也参与评分，但系统本身必须保留兜底路径。</a:t>
            </a:r>
            <a:endParaRPr lang="en-US" sz="1500" dirty="0"/>
          </a:p>
        </p:txBody>
      </p:sp>
      <p:sp>
        <p:nvSpPr>
          <p:cNvPr id="11" name="Text 7"/>
          <p:cNvSpPr/>
          <p:nvPr/>
        </p:nvSpPr>
        <p:spPr>
          <a:xfrm>
            <a:off x="502920" y="6492240"/>
            <a:ext cx="438912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8A2B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数学作业 OCR 与步骤评分系统｜工程化中期版本</a:t>
            </a:r>
            <a:endParaRPr lang="en-US" sz="950" dirty="0"/>
          </a:p>
        </p:txBody>
      </p:sp>
      <p:sp>
        <p:nvSpPr>
          <p:cNvPr id="12" name="Text 8"/>
          <p:cNvSpPr/>
          <p:nvPr/>
        </p:nvSpPr>
        <p:spPr>
          <a:xfrm>
            <a:off x="11521440" y="6419088"/>
            <a:ext cx="27432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98A2B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92608"/>
            <a:ext cx="1051560" cy="256032"/>
          </a:xfrm>
          <a:prstGeom prst="rect">
            <a:avLst/>
          </a:prstGeom>
          <a:solidFill>
            <a:srgbClr val="EAF2FF"/>
          </a:solidFill>
          <a:ln>
            <a:solidFill>
              <a:srgbClr val="EAF2FF"/>
            </a:solidFill>
          </a:ln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F6FD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04 架构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640080"/>
            <a:ext cx="896112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6355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总体架构图（分层视图）</a:t>
            </a:r>
            <a:endParaRPr lang="en-US" sz="2400" dirty="0"/>
          </a:p>
        </p:txBody>
      </p:sp>
      <p:pic>
        <p:nvPicPr>
          <p:cNvPr id="5" name="Image 0" descr="/mnt/data/midterm_ppt/diagrams/architectur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519545"/>
            <a:ext cx="11137392" cy="409323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31520" y="5897880"/>
            <a:ext cx="1874520" cy="256032"/>
          </a:xfrm>
          <a:prstGeom prst="rect">
            <a:avLst/>
          </a:prstGeom>
          <a:solidFill>
            <a:srgbClr val="EAF2FF"/>
          </a:solidFill>
          <a:ln w="12700">
            <a:solidFill>
              <a:srgbClr val="C9DBFF"/>
            </a:solidFill>
          </a:ln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2F6FD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分层职责清晰</a:t>
            </a:r>
            <a:endParaRPr lang="en-US" sz="1150" dirty="0"/>
          </a:p>
        </p:txBody>
      </p:sp>
      <p:sp>
        <p:nvSpPr>
          <p:cNvPr id="7" name="Text 4"/>
          <p:cNvSpPr/>
          <p:nvPr/>
        </p:nvSpPr>
        <p:spPr>
          <a:xfrm>
            <a:off x="2788920" y="5897880"/>
            <a:ext cx="1874520" cy="256032"/>
          </a:xfrm>
          <a:prstGeom prst="rect">
            <a:avLst/>
          </a:prstGeom>
          <a:solidFill>
            <a:srgbClr val="E8F7F3"/>
          </a:solidFill>
          <a:ln w="12700">
            <a:solidFill>
              <a:srgbClr val="BFE7DF"/>
            </a:solidFill>
          </a:ln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F8F7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OCR / 评分解耦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4846320" y="5897880"/>
            <a:ext cx="2011680" cy="256032"/>
          </a:xfrm>
          <a:prstGeom prst="rect">
            <a:avLst/>
          </a:prstGeom>
          <a:solidFill>
            <a:srgbClr val="FFF4DF"/>
          </a:solidFill>
          <a:ln w="12700">
            <a:solidFill>
              <a:srgbClr val="F3D39A"/>
            </a:solidFill>
          </a:ln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C7861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中间结果可落盘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7040880" y="5897880"/>
            <a:ext cx="1965960" cy="256032"/>
          </a:xfrm>
          <a:prstGeom prst="rect">
            <a:avLst/>
          </a:prstGeom>
          <a:solidFill>
            <a:srgbClr val="EAF2FF"/>
          </a:solidFill>
          <a:ln w="12700">
            <a:solidFill>
              <a:srgbClr val="C9DBFF"/>
            </a:solidFill>
          </a:ln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2F6FD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前后端接口稳定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9189720" y="5897880"/>
            <a:ext cx="1828800" cy="256032"/>
          </a:xfrm>
          <a:prstGeom prst="rect">
            <a:avLst/>
          </a:prstGeom>
          <a:solidFill>
            <a:srgbClr val="E8F7F3"/>
          </a:solidFill>
          <a:ln w="12700">
            <a:solidFill>
              <a:srgbClr val="BFE7DF"/>
            </a:solidFill>
          </a:ln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F8F7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后续易扩展</a:t>
            </a:r>
            <a:endParaRPr lang="en-US" sz="1150" dirty="0"/>
          </a:p>
        </p:txBody>
      </p:sp>
      <p:sp>
        <p:nvSpPr>
          <p:cNvPr id="12" name="Text 8"/>
          <p:cNvSpPr/>
          <p:nvPr/>
        </p:nvSpPr>
        <p:spPr>
          <a:xfrm>
            <a:off x="502920" y="6492240"/>
            <a:ext cx="438912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8A2B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数学作业 OCR 与步骤评分系统｜工程化中期版本</a:t>
            </a:r>
            <a:endParaRPr lang="en-US" sz="950" dirty="0"/>
          </a:p>
        </p:txBody>
      </p:sp>
      <p:sp>
        <p:nvSpPr>
          <p:cNvPr id="13" name="Text 9"/>
          <p:cNvSpPr/>
          <p:nvPr/>
        </p:nvSpPr>
        <p:spPr>
          <a:xfrm>
            <a:off x="11521440" y="6419088"/>
            <a:ext cx="27432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98A2B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92608"/>
            <a:ext cx="1051560" cy="256032"/>
          </a:xfrm>
          <a:prstGeom prst="rect">
            <a:avLst/>
          </a:prstGeom>
          <a:solidFill>
            <a:srgbClr val="EAF2FF"/>
          </a:solidFill>
          <a:ln>
            <a:solidFill>
              <a:srgbClr val="EAF2FF"/>
            </a:solidFill>
          </a:ln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F6FD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05 模块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640080"/>
            <a:ext cx="896112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6355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功能模块图（组件关系）</a:t>
            </a:r>
            <a:endParaRPr lang="en-US" sz="2400" dirty="0"/>
          </a:p>
        </p:txBody>
      </p:sp>
      <p:pic>
        <p:nvPicPr>
          <p:cNvPr id="5" name="Image 0" descr="/mnt/data/midterm_ppt/diagrams/modules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23250" y="1371600"/>
            <a:ext cx="3274541" cy="48463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821295" y="3191510"/>
            <a:ext cx="3005455" cy="1207135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F0"/>
            </a:solidFill>
          </a:ln>
        </p:spPr>
        <p:txBody>
          <a:bodyPr wrap="square" lIns="2032" tIns="2032" rIns="2032" bIns="2032" rtlCol="0" anchor="t"/>
          <a:lstStyle/>
          <a:p>
            <a:pPr marL="0" indent="0">
              <a:buNone/>
            </a:pPr>
            <a:r>
              <a:rPr lang="en-US" b="1" dirty="0">
                <a:solidFill>
                  <a:srgbClr val="34405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Controller 负责协议与路由；Service 负责策略；</a:t>
            </a:r>
            <a:endParaRPr lang="en-US" b="1" dirty="0">
              <a:solidFill>
                <a:srgbClr val="344054"/>
              </a:solidFill>
              <a:latin typeface="Noto Sans CJK SC" pitchFamily="34" charset="0"/>
              <a:ea typeface="Noto Sans CJK SC" pitchFamily="34" charset="-122"/>
              <a:cs typeface="Noto Sans CJK SC" pitchFamily="34" charset="-120"/>
            </a:endParaRPr>
          </a:p>
          <a:p>
            <a:pPr marL="0" indent="0">
              <a:buNone/>
            </a:pPr>
            <a:r>
              <a:rPr lang="en-US" b="1" dirty="0">
                <a:solidFill>
                  <a:srgbClr val="34405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Storage 负责留痕与回放。</a:t>
            </a:r>
            <a:endParaRPr lang="en-US" b="1" dirty="0"/>
          </a:p>
        </p:txBody>
      </p:sp>
      <p:sp>
        <p:nvSpPr>
          <p:cNvPr id="10" name="Text 6"/>
          <p:cNvSpPr/>
          <p:nvPr/>
        </p:nvSpPr>
        <p:spPr>
          <a:xfrm>
            <a:off x="502920" y="6492240"/>
            <a:ext cx="438912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8A2B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数学作业 OCR 与步骤评分系统｜工程化中期版本</a:t>
            </a:r>
            <a:endParaRPr lang="en-US" sz="950" dirty="0"/>
          </a:p>
        </p:txBody>
      </p:sp>
      <p:sp>
        <p:nvSpPr>
          <p:cNvPr id="11" name="Text 7"/>
          <p:cNvSpPr/>
          <p:nvPr/>
        </p:nvSpPr>
        <p:spPr>
          <a:xfrm>
            <a:off x="11521440" y="6419088"/>
            <a:ext cx="27432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98A2B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92608"/>
            <a:ext cx="1051560" cy="256032"/>
          </a:xfrm>
          <a:prstGeom prst="rect">
            <a:avLst/>
          </a:prstGeom>
          <a:solidFill>
            <a:srgbClr val="EAF2FF"/>
          </a:solidFill>
          <a:ln>
            <a:solidFill>
              <a:srgbClr val="EAF2FF"/>
            </a:solidFill>
          </a:ln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F6FD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06 流程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640080"/>
            <a:ext cx="896112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6355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核心流程图（上传 → OCR → 分步 → 评分 → 反馈）</a:t>
            </a:r>
            <a:endParaRPr lang="en-US" sz="2400" dirty="0"/>
          </a:p>
        </p:txBody>
      </p:sp>
      <p:pic>
        <p:nvPicPr>
          <p:cNvPr id="5" name="Image 0" descr="/mnt/data/midterm_ppt/diagrams/mainflow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688164"/>
            <a:ext cx="10972800" cy="156143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85800" y="3886200"/>
            <a:ext cx="342900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F0"/>
            </a:solidFill>
          </a:ln>
        </p:spPr>
        <p:txBody>
          <a:bodyPr wrap="square" lIns="2032" tIns="2032" rIns="2032" bIns="2032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10182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关键处理点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34405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OCR 后不是直接评分，而是先做排序、分题、去噪与步骤切分，减少后续判断噪声。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4370832" y="3886200"/>
            <a:ext cx="342900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F0"/>
            </a:solidFill>
          </a:ln>
        </p:spPr>
        <p:txBody>
          <a:bodyPr wrap="square" lIns="2032" tIns="2032" rIns="2032" bIns="2032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10182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降载策略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34405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通过“只评分当前题目”控制请求长度，把整页长文本拆成更稳定的评分单元。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8046720" y="3886200"/>
            <a:ext cx="342900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F0"/>
            </a:solidFill>
          </a:ln>
        </p:spPr>
        <p:txBody>
          <a:bodyPr wrap="square" lIns="2032" tIns="2032" rIns="2032" bIns="2032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10182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回退机制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34405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LLM 评分异常时不阻塞系统演示，直接落回规则评分，并附带诊断信息。</a:t>
            </a:r>
            <a:endParaRPr lang="en-US" sz="1600" dirty="0"/>
          </a:p>
        </p:txBody>
      </p:sp>
      <p:sp>
        <p:nvSpPr>
          <p:cNvPr id="10" name="Text 6"/>
          <p:cNvSpPr/>
          <p:nvPr/>
        </p:nvSpPr>
        <p:spPr>
          <a:xfrm>
            <a:off x="502920" y="6492240"/>
            <a:ext cx="438912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8A2B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数学作业 OCR 与步骤评分系统｜工程化中期版本</a:t>
            </a:r>
            <a:endParaRPr lang="en-US" sz="950" dirty="0"/>
          </a:p>
        </p:txBody>
      </p:sp>
      <p:sp>
        <p:nvSpPr>
          <p:cNvPr id="11" name="Text 7"/>
          <p:cNvSpPr/>
          <p:nvPr/>
        </p:nvSpPr>
        <p:spPr>
          <a:xfrm>
            <a:off x="11521440" y="6419088"/>
            <a:ext cx="27432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98A2B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92608"/>
            <a:ext cx="1051560" cy="256032"/>
          </a:xfrm>
          <a:prstGeom prst="rect">
            <a:avLst/>
          </a:prstGeom>
          <a:solidFill>
            <a:srgbClr val="EAF2FF"/>
          </a:solidFill>
          <a:ln>
            <a:solidFill>
              <a:srgbClr val="EAF2FF"/>
            </a:solidFill>
          </a:ln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F6FD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07 OCR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640080"/>
            <a:ext cx="896112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6355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OCR 模块设计：多引擎策略与回退机制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658368" y="1490472"/>
            <a:ext cx="11430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F6FD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多引擎链路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58368" y="1874520"/>
            <a:ext cx="3977640" cy="786384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F0"/>
            </a:solidFill>
          </a:ln>
        </p:spPr>
        <p:txBody>
          <a:bodyPr wrap="square" lIns="2032" tIns="2032" rIns="2032" bIns="2032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0182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图像预处理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34405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增强、去噪、提高对比度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2651760" y="2679192"/>
            <a:ext cx="0" cy="301752"/>
          </a:xfrm>
          <a:prstGeom prst="line">
            <a:avLst/>
          </a:prstGeom>
          <a:noFill/>
          <a:ln w="19050">
            <a:solidFill>
              <a:srgbClr val="AAB9CF"/>
            </a:solidFill>
            <a:prstDash val="solid"/>
            <a:tailEnd type="triangle"/>
          </a:ln>
        </p:spPr>
      </p:sp>
      <p:sp>
        <p:nvSpPr>
          <p:cNvPr id="8" name="Text 6"/>
          <p:cNvSpPr/>
          <p:nvPr/>
        </p:nvSpPr>
        <p:spPr>
          <a:xfrm>
            <a:off x="658368" y="2862072"/>
            <a:ext cx="3977640" cy="786384"/>
          </a:xfrm>
          <a:prstGeom prst="rect">
            <a:avLst/>
          </a:prstGeom>
          <a:solidFill>
            <a:srgbClr val="FBFDFF"/>
          </a:solidFill>
          <a:ln w="12700">
            <a:solidFill>
              <a:srgbClr val="D9E2F0"/>
            </a:solidFill>
          </a:ln>
        </p:spPr>
        <p:txBody>
          <a:bodyPr wrap="square" lIns="2032" tIns="2032" rIns="2032" bIns="2032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0182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本地 OCR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34405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先走轻量基础识别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2651760" y="3666744"/>
            <a:ext cx="0" cy="301752"/>
          </a:xfrm>
          <a:prstGeom prst="line">
            <a:avLst/>
          </a:prstGeom>
          <a:noFill/>
          <a:ln w="19050">
            <a:solidFill>
              <a:srgbClr val="AAB9CF"/>
            </a:solidFill>
            <a:prstDash val="solid"/>
            <a:tailEnd type="triangle"/>
          </a:ln>
        </p:spPr>
      </p:sp>
      <p:sp>
        <p:nvSpPr>
          <p:cNvPr id="10" name="Text 8"/>
          <p:cNvSpPr/>
          <p:nvPr/>
        </p:nvSpPr>
        <p:spPr>
          <a:xfrm>
            <a:off x="658368" y="3849624"/>
            <a:ext cx="3977640" cy="786384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F0"/>
            </a:solidFill>
          </a:ln>
        </p:spPr>
        <p:txBody>
          <a:bodyPr wrap="square" lIns="2032" tIns="2032" rIns="2032" bIns="2032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0182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多模态 OCR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34405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对复杂公式区域补识别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2651760" y="4654296"/>
            <a:ext cx="0" cy="301752"/>
          </a:xfrm>
          <a:prstGeom prst="line">
            <a:avLst/>
          </a:prstGeom>
          <a:noFill/>
          <a:ln w="19050">
            <a:solidFill>
              <a:srgbClr val="AAB9CF"/>
            </a:solidFill>
            <a:prstDash val="solid"/>
            <a:tailEnd type="triangle"/>
          </a:ln>
        </p:spPr>
      </p:sp>
      <p:sp>
        <p:nvSpPr>
          <p:cNvPr id="12" name="Text 10"/>
          <p:cNvSpPr/>
          <p:nvPr/>
        </p:nvSpPr>
        <p:spPr>
          <a:xfrm>
            <a:off x="658368" y="4837176"/>
            <a:ext cx="3977640" cy="786384"/>
          </a:xfrm>
          <a:prstGeom prst="rect">
            <a:avLst/>
          </a:prstGeom>
          <a:solidFill>
            <a:srgbClr val="FBFDFF"/>
          </a:solidFill>
          <a:ln w="12700">
            <a:solidFill>
              <a:srgbClr val="D9E2F0"/>
            </a:solidFill>
          </a:ln>
        </p:spPr>
        <p:txBody>
          <a:bodyPr wrap="square" lIns="2032" tIns="2032" rIns="2032" bIns="2032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0182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纠错与融合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34405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文本纠错 + 图文纠错 + 合并结果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777240" y="5852160"/>
            <a:ext cx="1353312" cy="256032"/>
          </a:xfrm>
          <a:prstGeom prst="rect">
            <a:avLst/>
          </a:prstGeom>
          <a:solidFill>
            <a:srgbClr val="E8F7F3"/>
          </a:solidFill>
          <a:ln w="12700">
            <a:solidFill>
              <a:srgbClr val="BFE7DF"/>
            </a:solidFill>
          </a:ln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F8F7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中文 / 公式分流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2267712" y="5852160"/>
            <a:ext cx="1143000" cy="256032"/>
          </a:xfrm>
          <a:prstGeom prst="rect">
            <a:avLst/>
          </a:prstGeom>
          <a:solidFill>
            <a:srgbClr val="FFF4DF"/>
          </a:solidFill>
          <a:ln w="12700">
            <a:solidFill>
              <a:srgbClr val="F3D39A"/>
            </a:solidFill>
          </a:ln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C7861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多引擎回退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3538728" y="5852160"/>
            <a:ext cx="914400" cy="256032"/>
          </a:xfrm>
          <a:prstGeom prst="rect">
            <a:avLst/>
          </a:prstGeom>
          <a:solidFill>
            <a:srgbClr val="EAF2FF"/>
          </a:solidFill>
          <a:ln w="12700">
            <a:solidFill>
              <a:srgbClr val="C9DBFF"/>
            </a:solidFill>
          </a:ln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2F6FD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结果融合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4983480" y="1490472"/>
            <a:ext cx="21945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F6FD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问题 - 定位 - 优化 - 结果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846320" y="1847088"/>
            <a:ext cx="1645920" cy="384048"/>
          </a:xfrm>
          <a:prstGeom prst="rect">
            <a:avLst/>
          </a:prstGeom>
          <a:solidFill>
            <a:srgbClr val="EAF2FF"/>
          </a:solidFill>
          <a:ln w="12700">
            <a:solidFill>
              <a:srgbClr val="D9E2F0"/>
            </a:solidFill>
          </a:ln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6355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问题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492240" y="1847088"/>
            <a:ext cx="1828800" cy="384048"/>
          </a:xfrm>
          <a:prstGeom prst="rect">
            <a:avLst/>
          </a:prstGeom>
          <a:solidFill>
            <a:srgbClr val="EAF2FF"/>
          </a:solidFill>
          <a:ln w="12700">
            <a:solidFill>
              <a:srgbClr val="D9E2F0"/>
            </a:solidFill>
          </a:ln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6355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定位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321040" y="1847088"/>
            <a:ext cx="1828800" cy="384048"/>
          </a:xfrm>
          <a:prstGeom prst="rect">
            <a:avLst/>
          </a:prstGeom>
          <a:solidFill>
            <a:srgbClr val="EAF2FF"/>
          </a:solidFill>
          <a:ln w="12700">
            <a:solidFill>
              <a:srgbClr val="D9E2F0"/>
            </a:solidFill>
          </a:ln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6355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优化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0149840" y="1847088"/>
            <a:ext cx="1417320" cy="384048"/>
          </a:xfrm>
          <a:prstGeom prst="rect">
            <a:avLst/>
          </a:prstGeom>
          <a:solidFill>
            <a:srgbClr val="EAF2FF"/>
          </a:solidFill>
          <a:ln w="12700">
            <a:solidFill>
              <a:srgbClr val="D9E2F0"/>
            </a:solidFill>
          </a:ln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6355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结果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846320" y="2231136"/>
            <a:ext cx="1645920" cy="758952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F0"/>
            </a:solidFill>
          </a:ln>
        </p:spPr>
        <p:txBody>
          <a:bodyPr wrap="square" lIns="762" tIns="762" rIns="762" bIns="762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34405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中文与公式混淆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492240" y="2231136"/>
            <a:ext cx="1828800" cy="758952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F0"/>
            </a:solidFill>
          </a:ln>
        </p:spPr>
        <p:txBody>
          <a:bodyPr wrap="square" lIns="762" tIns="762" rIns="762" bIns="762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34405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纯文本 OCR 对公式结构不稳定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8321040" y="2231136"/>
            <a:ext cx="1828800" cy="758952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F0"/>
            </a:solidFill>
          </a:ln>
        </p:spPr>
        <p:txBody>
          <a:bodyPr wrap="square" lIns="762" tIns="762" rIns="762" bIns="762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34405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公式区域走多模态 OCR 补识别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0149840" y="2231136"/>
            <a:ext cx="1417320" cy="758952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F0"/>
            </a:solidFill>
          </a:ln>
        </p:spPr>
        <p:txBody>
          <a:bodyPr wrap="square" lIns="762" tIns="762" rIns="762" bIns="762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34405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减少公式被中文误切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846320" y="2990088"/>
            <a:ext cx="1645920" cy="758952"/>
          </a:xfrm>
          <a:prstGeom prst="rect">
            <a:avLst/>
          </a:prstGeom>
          <a:solidFill>
            <a:srgbClr val="FBFDFF"/>
          </a:solidFill>
          <a:ln w="12700">
            <a:solidFill>
              <a:srgbClr val="D9E2F0"/>
            </a:solidFill>
          </a:ln>
        </p:spPr>
        <p:txBody>
          <a:bodyPr wrap="square" lIns="762" tIns="762" rIns="762" bIns="762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34405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扫描噪声较大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492240" y="2990088"/>
            <a:ext cx="1828800" cy="758952"/>
          </a:xfrm>
          <a:prstGeom prst="rect">
            <a:avLst/>
          </a:prstGeom>
          <a:solidFill>
            <a:srgbClr val="FBFDFF"/>
          </a:solidFill>
          <a:ln w="12700">
            <a:solidFill>
              <a:srgbClr val="D9E2F0"/>
            </a:solidFill>
          </a:ln>
        </p:spPr>
        <p:txBody>
          <a:bodyPr wrap="square" lIns="762" tIns="762" rIns="762" bIns="762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34405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对比度低、边缘模糊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8321040" y="2990088"/>
            <a:ext cx="1828800" cy="758952"/>
          </a:xfrm>
          <a:prstGeom prst="rect">
            <a:avLst/>
          </a:prstGeom>
          <a:solidFill>
            <a:srgbClr val="FBFDFF"/>
          </a:solidFill>
          <a:ln w="12700">
            <a:solidFill>
              <a:srgbClr val="D9E2F0"/>
            </a:solidFill>
          </a:ln>
        </p:spPr>
        <p:txBody>
          <a:bodyPr wrap="square" lIns="762" tIns="762" rIns="762" bIns="762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34405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预处理增强与去噪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10149840" y="2990088"/>
            <a:ext cx="1417320" cy="758952"/>
          </a:xfrm>
          <a:prstGeom prst="rect">
            <a:avLst/>
          </a:prstGeom>
          <a:solidFill>
            <a:srgbClr val="FBFDFF"/>
          </a:solidFill>
          <a:ln w="12700">
            <a:solidFill>
              <a:srgbClr val="D9E2F0"/>
            </a:solidFill>
          </a:ln>
        </p:spPr>
        <p:txBody>
          <a:bodyPr wrap="square" lIns="762" tIns="762" rIns="762" bIns="762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34405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基础识别更稳定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846320" y="3749040"/>
            <a:ext cx="1645920" cy="758952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F0"/>
            </a:solidFill>
          </a:ln>
        </p:spPr>
        <p:txBody>
          <a:bodyPr wrap="square" lIns="762" tIns="762" rIns="762" bIns="762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34405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顺序错乱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6492240" y="3749040"/>
            <a:ext cx="1828800" cy="758952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F0"/>
            </a:solidFill>
          </a:ln>
        </p:spPr>
        <p:txBody>
          <a:bodyPr wrap="square" lIns="762" tIns="762" rIns="762" bIns="762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34405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分块读取未考虑题号与版式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8321040" y="3749040"/>
            <a:ext cx="1828800" cy="758952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F0"/>
            </a:solidFill>
          </a:ln>
        </p:spPr>
        <p:txBody>
          <a:bodyPr wrap="square" lIns="762" tIns="762" rIns="762" bIns="762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34405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题号锚点 + 排序规则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10149840" y="3749040"/>
            <a:ext cx="1417320" cy="758952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F0"/>
            </a:solidFill>
          </a:ln>
        </p:spPr>
        <p:txBody>
          <a:bodyPr wrap="square" lIns="762" tIns="762" rIns="762" bIns="762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34405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后续分题更可靠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4846320" y="4507992"/>
            <a:ext cx="1645920" cy="758952"/>
          </a:xfrm>
          <a:prstGeom prst="rect">
            <a:avLst/>
          </a:prstGeom>
          <a:solidFill>
            <a:srgbClr val="FBFDFF"/>
          </a:solidFill>
          <a:ln w="12700">
            <a:solidFill>
              <a:srgbClr val="D9E2F0"/>
            </a:solidFill>
          </a:ln>
        </p:spPr>
        <p:txBody>
          <a:bodyPr wrap="square" lIns="762" tIns="762" rIns="762" bIns="762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34405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局部识别缺字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6492240" y="4507992"/>
            <a:ext cx="1828800" cy="758952"/>
          </a:xfrm>
          <a:prstGeom prst="rect">
            <a:avLst/>
          </a:prstGeom>
          <a:solidFill>
            <a:srgbClr val="FBFDFF"/>
          </a:solidFill>
          <a:ln w="12700">
            <a:solidFill>
              <a:srgbClr val="D9E2F0"/>
            </a:solidFill>
          </a:ln>
        </p:spPr>
        <p:txBody>
          <a:bodyPr wrap="square" lIns="762" tIns="762" rIns="762" bIns="762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34405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单引擎置信不足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8321040" y="4507992"/>
            <a:ext cx="1828800" cy="758952"/>
          </a:xfrm>
          <a:prstGeom prst="rect">
            <a:avLst/>
          </a:prstGeom>
          <a:solidFill>
            <a:srgbClr val="FBFDFF"/>
          </a:solidFill>
          <a:ln w="12700">
            <a:solidFill>
              <a:srgbClr val="D9E2F0"/>
            </a:solidFill>
          </a:ln>
        </p:spPr>
        <p:txBody>
          <a:bodyPr wrap="square" lIns="762" tIns="762" rIns="762" bIns="762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34405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纠错与融合结果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10149840" y="4507992"/>
            <a:ext cx="1417320" cy="758952"/>
          </a:xfrm>
          <a:prstGeom prst="rect">
            <a:avLst/>
          </a:prstGeom>
          <a:solidFill>
            <a:srgbClr val="FBFDFF"/>
          </a:solidFill>
          <a:ln w="12700">
            <a:solidFill>
              <a:srgbClr val="D9E2F0"/>
            </a:solidFill>
          </a:ln>
        </p:spPr>
        <p:txBody>
          <a:bodyPr wrap="square" lIns="762" tIns="762" rIns="762" bIns="762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34405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可用于评分的文本更完整</a:t>
            </a:r>
            <a:endParaRPr lang="en-US" sz="1200" dirty="0"/>
          </a:p>
        </p:txBody>
      </p:sp>
      <p:sp>
        <p:nvSpPr>
          <p:cNvPr id="38" name="Text 35"/>
          <p:cNvSpPr/>
          <p:nvPr/>
        </p:nvSpPr>
        <p:spPr>
          <a:xfrm>
            <a:off x="502920" y="6492240"/>
            <a:ext cx="438912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8A2B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数学作业 OCR 与步骤评分系统｜工程化中期版本</a:t>
            </a:r>
            <a:endParaRPr lang="en-US" sz="950" dirty="0"/>
          </a:p>
        </p:txBody>
      </p:sp>
      <p:sp>
        <p:nvSpPr>
          <p:cNvPr id="39" name="Text 36"/>
          <p:cNvSpPr/>
          <p:nvPr/>
        </p:nvSpPr>
        <p:spPr>
          <a:xfrm>
            <a:off x="11521440" y="6419088"/>
            <a:ext cx="27432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98A2B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92608"/>
            <a:ext cx="1051560" cy="256032"/>
          </a:xfrm>
          <a:prstGeom prst="rect">
            <a:avLst/>
          </a:prstGeom>
          <a:solidFill>
            <a:srgbClr val="EAF2FF"/>
          </a:solidFill>
          <a:ln>
            <a:solidFill>
              <a:srgbClr val="EAF2FF"/>
            </a:solidFill>
          </a:ln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F6FD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08 分步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640080"/>
            <a:ext cx="896112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6355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步骤切分与顺序识别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658368" y="1508760"/>
            <a:ext cx="480060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F0"/>
            </a:solidFill>
          </a:ln>
        </p:spPr>
        <p:txBody>
          <a:bodyPr wrap="square" lIns="2032" tIns="2032" rIns="2032" bIns="2032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10182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切分依据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34405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换行、编号、等号链、题号锚点等规则共同作用，避免把整题压成一段长文本。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77240" y="2880360"/>
            <a:ext cx="1005840" cy="256032"/>
          </a:xfrm>
          <a:prstGeom prst="rect">
            <a:avLst/>
          </a:prstGeom>
          <a:solidFill>
            <a:srgbClr val="EAF2FF"/>
          </a:solidFill>
          <a:ln w="12700">
            <a:solidFill>
              <a:srgbClr val="C9DBFF"/>
            </a:solidFill>
          </a:ln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2F6FD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换行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1874520" y="2880360"/>
            <a:ext cx="1005840" cy="256032"/>
          </a:xfrm>
          <a:prstGeom prst="rect">
            <a:avLst/>
          </a:prstGeom>
          <a:solidFill>
            <a:srgbClr val="EAF2FF"/>
          </a:solidFill>
          <a:ln w="12700">
            <a:solidFill>
              <a:srgbClr val="C9DBFF"/>
            </a:solidFill>
          </a:ln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2F6FD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编号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2971800" y="2880360"/>
            <a:ext cx="1051560" cy="256032"/>
          </a:xfrm>
          <a:prstGeom prst="rect">
            <a:avLst/>
          </a:prstGeom>
          <a:solidFill>
            <a:srgbClr val="E8F7F3"/>
          </a:solidFill>
          <a:ln w="12700">
            <a:solidFill>
              <a:srgbClr val="BFE7DF"/>
            </a:solidFill>
          </a:ln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F8F7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等号链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4133088" y="2880360"/>
            <a:ext cx="1143000" cy="256032"/>
          </a:xfrm>
          <a:prstGeom prst="rect">
            <a:avLst/>
          </a:prstGeom>
          <a:solidFill>
            <a:srgbClr val="FFF4DF"/>
          </a:solidFill>
          <a:ln w="12700">
            <a:solidFill>
              <a:srgbClr val="F3D39A"/>
            </a:solidFill>
          </a:ln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C7861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题号锚点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5742432" y="1517904"/>
            <a:ext cx="146304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F6FD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二栏阅读顺序处理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897880" y="1938528"/>
            <a:ext cx="96012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CFE0FF"/>
            </a:solidFill>
          </a:ln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6355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左栏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132320" y="1938528"/>
            <a:ext cx="96012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CFE0FF"/>
            </a:solidFill>
          </a:ln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6355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右栏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925312" y="2450592"/>
            <a:ext cx="896112" cy="256032"/>
          </a:xfrm>
          <a:prstGeom prst="rect">
            <a:avLst/>
          </a:prstGeom>
          <a:solidFill>
            <a:srgbClr val="F8FBFF"/>
          </a:solidFill>
          <a:ln w="12700">
            <a:solidFill>
              <a:srgbClr val="D9E2F0"/>
            </a:solidFill>
          </a:ln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350" dirty="0">
                <a:solidFill>
                  <a:srgbClr val="34405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题1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5925312" y="2907792"/>
            <a:ext cx="896112" cy="256032"/>
          </a:xfrm>
          <a:prstGeom prst="rect">
            <a:avLst/>
          </a:prstGeom>
          <a:solidFill>
            <a:srgbClr val="F8FBFF"/>
          </a:solidFill>
          <a:ln w="12700">
            <a:solidFill>
              <a:srgbClr val="D9E2F0"/>
            </a:solidFill>
          </a:ln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350" dirty="0">
                <a:solidFill>
                  <a:srgbClr val="34405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题2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5925312" y="3364992"/>
            <a:ext cx="896112" cy="256032"/>
          </a:xfrm>
          <a:prstGeom prst="rect">
            <a:avLst/>
          </a:prstGeom>
          <a:solidFill>
            <a:srgbClr val="F8FBFF"/>
          </a:solidFill>
          <a:ln w="12700">
            <a:solidFill>
              <a:srgbClr val="D9E2F0"/>
            </a:solidFill>
          </a:ln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350" dirty="0">
                <a:solidFill>
                  <a:srgbClr val="34405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题3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7150608" y="2450592"/>
            <a:ext cx="896112" cy="256032"/>
          </a:xfrm>
          <a:prstGeom prst="rect">
            <a:avLst/>
          </a:prstGeom>
          <a:solidFill>
            <a:srgbClr val="F8FBFF"/>
          </a:solidFill>
          <a:ln w="12700">
            <a:solidFill>
              <a:srgbClr val="D9E2F0"/>
            </a:solidFill>
          </a:ln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350" dirty="0">
                <a:solidFill>
                  <a:srgbClr val="34405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题4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7150608" y="2907792"/>
            <a:ext cx="896112" cy="256032"/>
          </a:xfrm>
          <a:prstGeom prst="rect">
            <a:avLst/>
          </a:prstGeom>
          <a:solidFill>
            <a:srgbClr val="F8FBFF"/>
          </a:solidFill>
          <a:ln w="12700">
            <a:solidFill>
              <a:srgbClr val="D9E2F0"/>
            </a:solidFill>
          </a:ln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350" dirty="0">
                <a:solidFill>
                  <a:srgbClr val="34405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题5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7150608" y="3364992"/>
            <a:ext cx="896112" cy="256032"/>
          </a:xfrm>
          <a:prstGeom prst="rect">
            <a:avLst/>
          </a:prstGeom>
          <a:solidFill>
            <a:srgbClr val="F8FBFF"/>
          </a:solidFill>
          <a:ln w="12700">
            <a:solidFill>
              <a:srgbClr val="D9E2F0"/>
            </a:solidFill>
          </a:ln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350" dirty="0">
                <a:solidFill>
                  <a:srgbClr val="34405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题6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6839712" y="2103120"/>
            <a:ext cx="0" cy="1600200"/>
          </a:xfrm>
          <a:prstGeom prst="line">
            <a:avLst/>
          </a:prstGeom>
          <a:noFill/>
          <a:ln w="12700">
            <a:solidFill>
              <a:srgbClr val="D0D7E2"/>
            </a:solidFill>
            <a:prstDash val="dash"/>
          </a:ln>
        </p:spPr>
      </p:sp>
      <p:sp>
        <p:nvSpPr>
          <p:cNvPr id="20" name="Shape 18"/>
          <p:cNvSpPr/>
          <p:nvPr/>
        </p:nvSpPr>
        <p:spPr>
          <a:xfrm>
            <a:off x="6373368" y="4069080"/>
            <a:ext cx="1325880" cy="0"/>
          </a:xfrm>
          <a:prstGeom prst="line">
            <a:avLst/>
          </a:prstGeom>
          <a:noFill/>
          <a:ln w="15240">
            <a:solidFill>
              <a:srgbClr val="AAB9CF"/>
            </a:solidFill>
            <a:prstDash val="solid"/>
            <a:tailEnd type="triangle"/>
          </a:ln>
        </p:spPr>
      </p:sp>
      <p:sp>
        <p:nvSpPr>
          <p:cNvPr id="21" name="Text 19"/>
          <p:cNvSpPr/>
          <p:nvPr/>
        </p:nvSpPr>
        <p:spPr>
          <a:xfrm>
            <a:off x="5742432" y="4187952"/>
            <a:ext cx="269748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6708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阅读顺序：左列自上而下 → 右列自上而下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8732520" y="1508760"/>
            <a:ext cx="260604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F0"/>
            </a:solidFill>
          </a:ln>
        </p:spPr>
        <p:txBody>
          <a:bodyPr wrap="square" lIns="2032" tIns="2032" rIns="2032" bIns="2032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0182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过滤注释行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34405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如“直接积分”“因此可得”等注释性文本，若不清洗，容易污染评分判断。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658368" y="3886200"/>
            <a:ext cx="10680192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F0"/>
            </a:solidFill>
          </a:ln>
        </p:spPr>
        <p:txBody>
          <a:bodyPr wrap="square" lIns="2032" tIns="2032" rIns="2032" bIns="2032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10182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清洗前后示意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34405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清洗前：题号、注释、答案草稿混在一起。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34405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清洗后：以题号为边界，保留有效步骤链，弱化注释行对评分的干扰。</a:t>
            </a: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502920" y="6492240"/>
            <a:ext cx="438912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8A2B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数学作业 OCR 与步骤评分系统｜工程化中期版本</a:t>
            </a:r>
            <a:endParaRPr lang="en-US" sz="950" dirty="0"/>
          </a:p>
        </p:txBody>
      </p:sp>
      <p:sp>
        <p:nvSpPr>
          <p:cNvPr id="26" name="Text 23"/>
          <p:cNvSpPr/>
          <p:nvPr/>
        </p:nvSpPr>
        <p:spPr>
          <a:xfrm>
            <a:off x="11521440" y="6419088"/>
            <a:ext cx="27432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98A2B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92608"/>
            <a:ext cx="1051560" cy="256032"/>
          </a:xfrm>
          <a:prstGeom prst="rect">
            <a:avLst/>
          </a:prstGeom>
          <a:solidFill>
            <a:srgbClr val="EAF2FF"/>
          </a:solidFill>
          <a:ln>
            <a:solidFill>
              <a:srgbClr val="EAF2FF"/>
            </a:solidFill>
          </a:ln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F6FD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09 评分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640080"/>
            <a:ext cx="896112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6355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评分模块设计：规则评分 + LLM 评分 + 回退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658368" y="1536192"/>
            <a:ext cx="100584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F6FD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评分链路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58368" y="1993392"/>
            <a:ext cx="1783080" cy="658368"/>
          </a:xfrm>
          <a:prstGeom prst="rect">
            <a:avLst/>
          </a:prstGeom>
          <a:solidFill>
            <a:srgbClr val="EAF2FF"/>
          </a:solidFill>
          <a:ln w="12700">
            <a:solidFill>
              <a:srgbClr val="D9E2F0"/>
            </a:solidFill>
          </a:ln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2F6FD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步骤输入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2578608" y="2167128"/>
            <a:ext cx="292608" cy="310896"/>
          </a:xfrm>
          <a:prstGeom prst="chevron">
            <a:avLst/>
          </a:prstGeom>
          <a:solidFill>
            <a:srgbClr val="DFE7F2"/>
          </a:solidFill>
          <a:ln w="6350">
            <a:solidFill>
              <a:srgbClr val="C9D5E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871216" y="1993392"/>
            <a:ext cx="178308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F0"/>
            </a:solidFill>
          </a:ln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6355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规则评分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4791456" y="2167128"/>
            <a:ext cx="292608" cy="310896"/>
          </a:xfrm>
          <a:prstGeom prst="chevron">
            <a:avLst/>
          </a:prstGeom>
          <a:solidFill>
            <a:srgbClr val="DFE7F2"/>
          </a:solidFill>
          <a:ln w="6350">
            <a:solidFill>
              <a:srgbClr val="C9D5E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84064" y="1993392"/>
            <a:ext cx="1783080" cy="658368"/>
          </a:xfrm>
          <a:prstGeom prst="rect">
            <a:avLst/>
          </a:prstGeom>
          <a:solidFill>
            <a:srgbClr val="FFF4DF"/>
          </a:solidFill>
          <a:ln w="12700">
            <a:solidFill>
              <a:srgbClr val="D9E2F0"/>
            </a:solidFill>
          </a:ln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C7861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LLM评分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7004304" y="2167128"/>
            <a:ext cx="292608" cy="310896"/>
          </a:xfrm>
          <a:prstGeom prst="chevron">
            <a:avLst/>
          </a:prstGeom>
          <a:solidFill>
            <a:srgbClr val="DFE7F2"/>
          </a:solidFill>
          <a:ln w="6350">
            <a:solidFill>
              <a:srgbClr val="C9D5E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296912" y="1993392"/>
            <a:ext cx="178308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F0"/>
            </a:solidFill>
          </a:ln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6355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结果归一化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9217152" y="2167128"/>
            <a:ext cx="292608" cy="310896"/>
          </a:xfrm>
          <a:prstGeom prst="chevron">
            <a:avLst/>
          </a:prstGeom>
          <a:solidFill>
            <a:srgbClr val="DFE7F2"/>
          </a:solidFill>
          <a:ln w="6350">
            <a:solidFill>
              <a:srgbClr val="C9D5E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509760" y="1993392"/>
            <a:ext cx="1783080" cy="658368"/>
          </a:xfrm>
          <a:prstGeom prst="rect">
            <a:avLst/>
          </a:prstGeom>
          <a:solidFill>
            <a:srgbClr val="E8F7F3"/>
          </a:solidFill>
          <a:ln w="12700">
            <a:solidFill>
              <a:srgbClr val="D9E2F0"/>
            </a:solidFill>
          </a:ln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F8F7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引擎标识输出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658368" y="3246120"/>
            <a:ext cx="475488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F0"/>
            </a:solidFill>
          </a:ln>
        </p:spPr>
        <p:txBody>
          <a:bodyPr wrap="square" lIns="2032" tIns="2032" rIns="2032" bIns="2032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10182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评分原则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34405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• 正确步骤给满分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34405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• 首个关键错误重点扣分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34405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• 连锁错误不重复重罚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34405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• 评分结果尽量转成逐步分 + 文字反馈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5650992" y="3246120"/>
            <a:ext cx="256032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F0"/>
            </a:solidFill>
          </a:ln>
        </p:spPr>
        <p:txBody>
          <a:bodyPr wrap="square" lIns="2032" tIns="2032" rIns="2032" bIns="2032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0182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规则评分（兜底）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34405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用于接口异常、输出格式不兼容或时延过大时，保障系统仍有结果可展示。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8430768" y="3246120"/>
            <a:ext cx="292608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F0"/>
            </a:solidFill>
          </a:ln>
        </p:spPr>
        <p:txBody>
          <a:bodyPr wrap="square" lIns="2032" tIns="2032" rIns="2032" bIns="2032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0182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LLM 评分（主路径）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34405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负责更细致的步骤语义判断，但必须接受诊断记录与失败回退的约束。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8183880" y="5486400"/>
            <a:ext cx="1097280" cy="274320"/>
          </a:xfrm>
          <a:prstGeom prst="rect">
            <a:avLst/>
          </a:prstGeom>
          <a:solidFill>
            <a:srgbClr val="FFF4DF"/>
          </a:solidFill>
          <a:ln w="12700">
            <a:solidFill>
              <a:srgbClr val="F3D39A"/>
            </a:solidFill>
          </a:ln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C7861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engine=llm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9418320" y="5486400"/>
            <a:ext cx="1371600" cy="274320"/>
          </a:xfrm>
          <a:prstGeom prst="rect">
            <a:avLst/>
          </a:prstGeom>
          <a:solidFill>
            <a:srgbClr val="EAF2FF"/>
          </a:solidFill>
          <a:ln w="12700">
            <a:solidFill>
              <a:srgbClr val="C9DBFF"/>
            </a:solidFill>
          </a:ln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2F6FD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fallback=rule</a:t>
            </a:r>
            <a:endParaRPr lang="en-US" sz="1150" dirty="0"/>
          </a:p>
        </p:txBody>
      </p:sp>
      <p:sp>
        <p:nvSpPr>
          <p:cNvPr id="21" name="Text 18"/>
          <p:cNvSpPr/>
          <p:nvPr/>
        </p:nvSpPr>
        <p:spPr>
          <a:xfrm>
            <a:off x="502920" y="6492240"/>
            <a:ext cx="438912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8A2B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数学作业 OCR 与步骤评分系统｜工程化中期版本</a:t>
            </a:r>
            <a:endParaRPr lang="en-US" sz="950" dirty="0"/>
          </a:p>
        </p:txBody>
      </p:sp>
      <p:sp>
        <p:nvSpPr>
          <p:cNvPr id="22" name="Text 19"/>
          <p:cNvSpPr/>
          <p:nvPr/>
        </p:nvSpPr>
        <p:spPr>
          <a:xfrm>
            <a:off x="11521440" y="6419088"/>
            <a:ext cx="27432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98A2B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92608"/>
            <a:ext cx="1051560" cy="256032"/>
          </a:xfrm>
          <a:prstGeom prst="rect">
            <a:avLst/>
          </a:prstGeom>
          <a:solidFill>
            <a:srgbClr val="EAF2FF"/>
          </a:solidFill>
          <a:ln>
            <a:solidFill>
              <a:srgbClr val="EAF2FF"/>
            </a:solidFill>
          </a:ln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F6FD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10 稳定性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640080"/>
            <a:ext cx="896112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6355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鲁棒性与异常处理：兼容、回退、可观测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658368" y="1536192"/>
            <a:ext cx="141732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F6FD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异常场景与处理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58368" y="1847088"/>
            <a:ext cx="1463040" cy="384048"/>
          </a:xfrm>
          <a:prstGeom prst="rect">
            <a:avLst/>
          </a:prstGeom>
          <a:solidFill>
            <a:srgbClr val="EAF2FF"/>
          </a:solidFill>
          <a:ln w="12700">
            <a:solidFill>
              <a:srgbClr val="D9E2F0"/>
            </a:solidFill>
          </a:ln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6355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异常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2121408" y="1847088"/>
            <a:ext cx="1920240" cy="384048"/>
          </a:xfrm>
          <a:prstGeom prst="rect">
            <a:avLst/>
          </a:prstGeom>
          <a:solidFill>
            <a:srgbClr val="EAF2FF"/>
          </a:solidFill>
          <a:ln w="12700">
            <a:solidFill>
              <a:srgbClr val="D9E2F0"/>
            </a:solidFill>
          </a:ln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6355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现象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041648" y="1847088"/>
            <a:ext cx="2148840" cy="384048"/>
          </a:xfrm>
          <a:prstGeom prst="rect">
            <a:avLst/>
          </a:prstGeom>
          <a:solidFill>
            <a:srgbClr val="EAF2FF"/>
          </a:solidFill>
          <a:ln w="12700">
            <a:solidFill>
              <a:srgbClr val="D9E2F0"/>
            </a:solidFill>
          </a:ln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6355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处理策略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58368" y="2231136"/>
            <a:ext cx="1463040" cy="694944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F0"/>
            </a:solidFill>
          </a:ln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220" dirty="0">
                <a:solidFill>
                  <a:srgbClr val="34405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超时</a:t>
            </a:r>
            <a:endParaRPr lang="en-US" sz="1220" dirty="0"/>
          </a:p>
        </p:txBody>
      </p:sp>
      <p:sp>
        <p:nvSpPr>
          <p:cNvPr id="10" name="Text 8"/>
          <p:cNvSpPr/>
          <p:nvPr/>
        </p:nvSpPr>
        <p:spPr>
          <a:xfrm>
            <a:off x="2121408" y="2231136"/>
            <a:ext cx="1920240" cy="694944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F0"/>
            </a:solidFill>
          </a:ln>
        </p:spPr>
        <p:txBody>
          <a:bodyPr wrap="square" lIns="635" tIns="635" rIns="635" bIns="635" rtlCol="0" anchor="ctr"/>
          <a:lstStyle/>
          <a:p>
            <a:pPr marL="0" indent="0" algn="l">
              <a:buNone/>
            </a:pPr>
            <a:r>
              <a:rPr lang="en-US" sz="1220" dirty="0">
                <a:solidFill>
                  <a:srgbClr val="34405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LLM 长时间无返回</a:t>
            </a:r>
            <a:endParaRPr lang="en-US" sz="1220" dirty="0"/>
          </a:p>
        </p:txBody>
      </p:sp>
      <p:sp>
        <p:nvSpPr>
          <p:cNvPr id="11" name="Text 9"/>
          <p:cNvSpPr/>
          <p:nvPr/>
        </p:nvSpPr>
        <p:spPr>
          <a:xfrm>
            <a:off x="4041648" y="2231136"/>
            <a:ext cx="2148840" cy="694944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F0"/>
            </a:solidFill>
          </a:ln>
        </p:spPr>
        <p:txBody>
          <a:bodyPr wrap="square" lIns="635" tIns="635" rIns="635" bIns="635" rtlCol="0" anchor="ctr"/>
          <a:lstStyle/>
          <a:p>
            <a:pPr marL="0" indent="0" algn="l">
              <a:buNone/>
            </a:pPr>
            <a:r>
              <a:rPr lang="en-US" sz="1220" dirty="0">
                <a:solidFill>
                  <a:srgbClr val="34405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缩短单次文本长度；只评当前题；超时后回退规则评分</a:t>
            </a:r>
            <a:endParaRPr lang="en-US" sz="1220" dirty="0"/>
          </a:p>
        </p:txBody>
      </p:sp>
      <p:sp>
        <p:nvSpPr>
          <p:cNvPr id="12" name="Text 10"/>
          <p:cNvSpPr/>
          <p:nvPr/>
        </p:nvSpPr>
        <p:spPr>
          <a:xfrm>
            <a:off x="658368" y="2926080"/>
            <a:ext cx="1463040" cy="694944"/>
          </a:xfrm>
          <a:prstGeom prst="rect">
            <a:avLst/>
          </a:prstGeom>
          <a:solidFill>
            <a:srgbClr val="FBFDFF"/>
          </a:solidFill>
          <a:ln w="12700">
            <a:solidFill>
              <a:srgbClr val="D9E2F0"/>
            </a:solidFill>
          </a:ln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220" dirty="0">
                <a:solidFill>
                  <a:srgbClr val="34405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404 / 接口变更</a:t>
            </a:r>
            <a:endParaRPr lang="en-US" sz="1220" dirty="0"/>
          </a:p>
        </p:txBody>
      </p:sp>
      <p:sp>
        <p:nvSpPr>
          <p:cNvPr id="13" name="Text 11"/>
          <p:cNvSpPr/>
          <p:nvPr/>
        </p:nvSpPr>
        <p:spPr>
          <a:xfrm>
            <a:off x="2121408" y="2926080"/>
            <a:ext cx="1920240" cy="694944"/>
          </a:xfrm>
          <a:prstGeom prst="rect">
            <a:avLst/>
          </a:prstGeom>
          <a:solidFill>
            <a:srgbClr val="FBFDFF"/>
          </a:solidFill>
          <a:ln w="12700">
            <a:solidFill>
              <a:srgbClr val="D9E2F0"/>
            </a:solidFill>
          </a:ln>
        </p:spPr>
        <p:txBody>
          <a:bodyPr wrap="square" lIns="635" tIns="635" rIns="635" bIns="635" rtlCol="0" anchor="ctr"/>
          <a:lstStyle/>
          <a:p>
            <a:pPr marL="0" indent="0" algn="l">
              <a:buNone/>
            </a:pPr>
            <a:r>
              <a:rPr lang="en-US" sz="1220" dirty="0">
                <a:solidFill>
                  <a:srgbClr val="34405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模型供应商路径不兼容</a:t>
            </a:r>
            <a:endParaRPr lang="en-US" sz="1220" dirty="0"/>
          </a:p>
        </p:txBody>
      </p:sp>
      <p:sp>
        <p:nvSpPr>
          <p:cNvPr id="14" name="Text 12"/>
          <p:cNvSpPr/>
          <p:nvPr/>
        </p:nvSpPr>
        <p:spPr>
          <a:xfrm>
            <a:off x="4041648" y="2926080"/>
            <a:ext cx="2148840" cy="694944"/>
          </a:xfrm>
          <a:prstGeom prst="rect">
            <a:avLst/>
          </a:prstGeom>
          <a:solidFill>
            <a:srgbClr val="FBFDFF"/>
          </a:solidFill>
          <a:ln w="12700">
            <a:solidFill>
              <a:srgbClr val="D9E2F0"/>
            </a:solidFill>
          </a:ln>
        </p:spPr>
        <p:txBody>
          <a:bodyPr wrap="square" lIns="635" tIns="635" rIns="635" bIns="635" rtlCol="0" anchor="ctr"/>
          <a:lstStyle/>
          <a:p>
            <a:pPr marL="0" indent="0" algn="l">
              <a:buNone/>
            </a:pPr>
            <a:r>
              <a:rPr lang="en-US" sz="1220" dirty="0">
                <a:solidFill>
                  <a:srgbClr val="34405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同时兼容 /responses 与 /chat/completions</a:t>
            </a:r>
            <a:endParaRPr lang="en-US" sz="1220" dirty="0"/>
          </a:p>
        </p:txBody>
      </p:sp>
      <p:sp>
        <p:nvSpPr>
          <p:cNvPr id="15" name="Text 13"/>
          <p:cNvSpPr/>
          <p:nvPr/>
        </p:nvSpPr>
        <p:spPr>
          <a:xfrm>
            <a:off x="658368" y="3621024"/>
            <a:ext cx="1463040" cy="694944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F0"/>
            </a:solidFill>
          </a:ln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220" dirty="0">
                <a:solidFill>
                  <a:srgbClr val="34405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响应格式异常</a:t>
            </a:r>
            <a:endParaRPr lang="en-US" sz="1220" dirty="0"/>
          </a:p>
        </p:txBody>
      </p:sp>
      <p:sp>
        <p:nvSpPr>
          <p:cNvPr id="16" name="Text 14"/>
          <p:cNvSpPr/>
          <p:nvPr/>
        </p:nvSpPr>
        <p:spPr>
          <a:xfrm>
            <a:off x="2121408" y="3621024"/>
            <a:ext cx="1920240" cy="694944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F0"/>
            </a:solidFill>
          </a:ln>
        </p:spPr>
        <p:txBody>
          <a:bodyPr wrap="square" lIns="635" tIns="635" rIns="635" bIns="635" rtlCol="0" anchor="ctr"/>
          <a:lstStyle/>
          <a:p>
            <a:pPr marL="0" indent="0" algn="l">
              <a:buNone/>
            </a:pPr>
            <a:r>
              <a:rPr lang="en-US" sz="1220" dirty="0">
                <a:solidFill>
                  <a:srgbClr val="34405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JSON 字段缺失或层级变化</a:t>
            </a:r>
            <a:endParaRPr lang="en-US" sz="1220" dirty="0"/>
          </a:p>
        </p:txBody>
      </p:sp>
      <p:sp>
        <p:nvSpPr>
          <p:cNvPr id="17" name="Text 15"/>
          <p:cNvSpPr/>
          <p:nvPr/>
        </p:nvSpPr>
        <p:spPr>
          <a:xfrm>
            <a:off x="4041648" y="3621024"/>
            <a:ext cx="2148840" cy="694944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F0"/>
            </a:solidFill>
          </a:ln>
        </p:spPr>
        <p:txBody>
          <a:bodyPr wrap="square" lIns="635" tIns="635" rIns="635" bIns="635" rtlCol="0" anchor="ctr"/>
          <a:lstStyle/>
          <a:p>
            <a:pPr marL="0" indent="0" algn="l">
              <a:buNone/>
            </a:pPr>
            <a:r>
              <a:rPr lang="en-US" sz="1220" dirty="0">
                <a:solidFill>
                  <a:srgbClr val="34405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增加解析兜底与错误预览输出</a:t>
            </a:r>
            <a:endParaRPr lang="en-US" sz="1220" dirty="0"/>
          </a:p>
        </p:txBody>
      </p:sp>
      <p:sp>
        <p:nvSpPr>
          <p:cNvPr id="18" name="Text 16"/>
          <p:cNvSpPr/>
          <p:nvPr/>
        </p:nvSpPr>
        <p:spPr>
          <a:xfrm>
            <a:off x="658368" y="4315968"/>
            <a:ext cx="1463040" cy="694944"/>
          </a:xfrm>
          <a:prstGeom prst="rect">
            <a:avLst/>
          </a:prstGeom>
          <a:solidFill>
            <a:srgbClr val="FBFDFF"/>
          </a:solidFill>
          <a:ln w="12700">
            <a:solidFill>
              <a:srgbClr val="D9E2F0"/>
            </a:solidFill>
          </a:ln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220" dirty="0">
                <a:solidFill>
                  <a:srgbClr val="34405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大文本场景</a:t>
            </a:r>
            <a:endParaRPr lang="en-US" sz="1220" dirty="0"/>
          </a:p>
        </p:txBody>
      </p:sp>
      <p:sp>
        <p:nvSpPr>
          <p:cNvPr id="19" name="Text 17"/>
          <p:cNvSpPr/>
          <p:nvPr/>
        </p:nvSpPr>
        <p:spPr>
          <a:xfrm>
            <a:off x="2121408" y="4315968"/>
            <a:ext cx="1920240" cy="694944"/>
          </a:xfrm>
          <a:prstGeom prst="rect">
            <a:avLst/>
          </a:prstGeom>
          <a:solidFill>
            <a:srgbClr val="FBFDFF"/>
          </a:solidFill>
          <a:ln w="12700">
            <a:solidFill>
              <a:srgbClr val="D9E2F0"/>
            </a:solidFill>
          </a:ln>
        </p:spPr>
        <p:txBody>
          <a:bodyPr wrap="square" lIns="635" tIns="635" rIns="635" bIns="635" rtlCol="0" anchor="ctr"/>
          <a:lstStyle/>
          <a:p>
            <a:pPr marL="0" indent="0" algn="l">
              <a:buNone/>
            </a:pPr>
            <a:r>
              <a:rPr lang="en-US" sz="1220" dirty="0">
                <a:solidFill>
                  <a:srgbClr val="34405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整页多题请求过重</a:t>
            </a:r>
            <a:endParaRPr lang="en-US" sz="1220" dirty="0"/>
          </a:p>
        </p:txBody>
      </p:sp>
      <p:sp>
        <p:nvSpPr>
          <p:cNvPr id="20" name="Text 18"/>
          <p:cNvSpPr/>
          <p:nvPr/>
        </p:nvSpPr>
        <p:spPr>
          <a:xfrm>
            <a:off x="4041648" y="4315968"/>
            <a:ext cx="2148840" cy="694944"/>
          </a:xfrm>
          <a:prstGeom prst="rect">
            <a:avLst/>
          </a:prstGeom>
          <a:solidFill>
            <a:srgbClr val="FBFDFF"/>
          </a:solidFill>
          <a:ln w="12700">
            <a:solidFill>
              <a:srgbClr val="D9E2F0"/>
            </a:solidFill>
          </a:ln>
        </p:spPr>
        <p:txBody>
          <a:bodyPr wrap="square" lIns="635" tIns="635" rIns="635" bIns="635" rtlCol="0" anchor="ctr"/>
          <a:lstStyle/>
          <a:p>
            <a:pPr marL="0" indent="0" algn="l">
              <a:buNone/>
            </a:pPr>
            <a:r>
              <a:rPr lang="en-US" sz="1220" dirty="0">
                <a:solidFill>
                  <a:srgbClr val="34405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分页请求 + 当前题评分，降低单次负载</a:t>
            </a:r>
            <a:endParaRPr lang="en-US" sz="1220" dirty="0"/>
          </a:p>
        </p:txBody>
      </p:sp>
      <p:sp>
        <p:nvSpPr>
          <p:cNvPr id="21" name="Text 19"/>
          <p:cNvSpPr/>
          <p:nvPr/>
        </p:nvSpPr>
        <p:spPr>
          <a:xfrm>
            <a:off x="6629400" y="1691640"/>
            <a:ext cx="4663440" cy="3182112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F0"/>
            </a:solidFill>
          </a:ln>
        </p:spPr>
        <p:txBody>
          <a:bodyPr wrap="square" lIns="2032" tIns="2032" rIns="2032" bIns="2032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10182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诊断面板示意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34405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status_code: 200 / 404 / timeout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34405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elapsed_ms: &lt;实测&gt;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34405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endpoint: /responses 或 /chat/completions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34405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engine: llm / rule_fallback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34405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error_preview: 截断后的错误信息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34405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request_scope: current_question / full_page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748272" y="5166360"/>
            <a:ext cx="1965960" cy="274320"/>
          </a:xfrm>
          <a:prstGeom prst="rect">
            <a:avLst/>
          </a:prstGeom>
          <a:solidFill>
            <a:srgbClr val="EAF2FF"/>
          </a:solidFill>
          <a:ln w="12700">
            <a:solidFill>
              <a:srgbClr val="C9DBFF"/>
            </a:solidFill>
          </a:ln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2F6FD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/responses 兼容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8887968" y="5166360"/>
            <a:ext cx="2176272" cy="274320"/>
          </a:xfrm>
          <a:prstGeom prst="rect">
            <a:avLst/>
          </a:prstGeom>
          <a:solidFill>
            <a:srgbClr val="E8F7F3"/>
          </a:solidFill>
          <a:ln w="12700">
            <a:solidFill>
              <a:srgbClr val="BFE7DF"/>
            </a:solidFill>
          </a:ln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F8F7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/chat/completions 兼容</a:t>
            </a:r>
            <a:endParaRPr lang="en-US" sz="1150" dirty="0"/>
          </a:p>
        </p:txBody>
      </p:sp>
      <p:sp>
        <p:nvSpPr>
          <p:cNvPr id="25" name="Text 22"/>
          <p:cNvSpPr/>
          <p:nvPr/>
        </p:nvSpPr>
        <p:spPr>
          <a:xfrm>
            <a:off x="502920" y="6492240"/>
            <a:ext cx="438912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8A2B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数学作业 OCR 与步骤评分系统｜工程化中期版本</a:t>
            </a:r>
            <a:endParaRPr lang="en-US" sz="950" dirty="0"/>
          </a:p>
        </p:txBody>
      </p:sp>
      <p:sp>
        <p:nvSpPr>
          <p:cNvPr id="26" name="Text 23"/>
          <p:cNvSpPr/>
          <p:nvPr/>
        </p:nvSpPr>
        <p:spPr>
          <a:xfrm>
            <a:off x="11521440" y="6419088"/>
            <a:ext cx="27432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98A2B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92608"/>
            <a:ext cx="1051560" cy="256032"/>
          </a:xfrm>
          <a:prstGeom prst="rect">
            <a:avLst/>
          </a:prstGeom>
          <a:solidFill>
            <a:srgbClr val="EAF2FF"/>
          </a:solidFill>
          <a:ln>
            <a:solidFill>
              <a:srgbClr val="EAF2FF"/>
            </a:solidFill>
          </a:ln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F6FD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11 交互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640080"/>
            <a:ext cx="896112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6355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前端交互与可用性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658368" y="1490472"/>
            <a:ext cx="160020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F6FD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页面主视图（示意）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49808" y="1874520"/>
            <a:ext cx="3840480" cy="3291840"/>
          </a:xfrm>
          <a:prstGeom prst="rect">
            <a:avLst/>
          </a:prstGeom>
          <a:solidFill>
            <a:srgbClr val="FFFFFF"/>
          </a:solidFill>
          <a:ln w="15240">
            <a:solidFill>
              <a:srgbClr val="D9E2F0"/>
            </a:solidFill>
          </a:ln>
        </p:spPr>
        <p:txBody>
          <a:bodyPr wrap="square" lIns="1270" tIns="1270" rIns="1270" bIns="127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66708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上传 / 预览区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4828032" y="1874520"/>
            <a:ext cx="4480560" cy="3291840"/>
          </a:xfrm>
          <a:prstGeom prst="rect">
            <a:avLst/>
          </a:prstGeom>
          <a:solidFill>
            <a:srgbClr val="FFFFFF"/>
          </a:solidFill>
          <a:ln w="15240">
            <a:solidFill>
              <a:srgbClr val="D9E2F0"/>
            </a:solidFill>
          </a:ln>
        </p:spPr>
        <p:txBody>
          <a:bodyPr wrap="square" lIns="1270" tIns="1270" rIns="1270" bIns="127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66708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OCR 文本</a:t>
            </a:r>
            <a:endParaRPr lang="en-US" sz="2000" dirty="0"/>
          </a:p>
          <a:p>
            <a:pPr marL="0" indent="0" algn="ctr">
              <a:buNone/>
            </a:pPr>
            <a:r>
              <a:rPr lang="en-US" sz="2000" b="1" dirty="0">
                <a:solidFill>
                  <a:srgbClr val="66708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步骤列表</a:t>
            </a:r>
            <a:endParaRPr lang="en-US" sz="2000" dirty="0"/>
          </a:p>
          <a:p>
            <a:pPr marL="0" indent="0" algn="ctr">
              <a:buNone/>
            </a:pPr>
            <a:r>
              <a:rPr lang="en-US" sz="2000" b="1" dirty="0">
                <a:solidFill>
                  <a:srgbClr val="66708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评分反馈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868680" y="5394960"/>
            <a:ext cx="1234440" cy="274320"/>
          </a:xfrm>
          <a:prstGeom prst="rect">
            <a:avLst/>
          </a:prstGeom>
          <a:solidFill>
            <a:srgbClr val="EAF2FF"/>
          </a:solidFill>
          <a:ln w="12700">
            <a:solidFill>
              <a:srgbClr val="C9DBFF"/>
            </a:solidFill>
          </a:ln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2F6FD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上一题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2240280" y="5394960"/>
            <a:ext cx="1234440" cy="274320"/>
          </a:xfrm>
          <a:prstGeom prst="rect">
            <a:avLst/>
          </a:prstGeom>
          <a:solidFill>
            <a:srgbClr val="EAF2FF"/>
          </a:solidFill>
          <a:ln w="12700">
            <a:solidFill>
              <a:srgbClr val="C9DBFF"/>
            </a:solidFill>
          </a:ln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2F6FD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下一题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5074920" y="5394960"/>
            <a:ext cx="1874520" cy="274320"/>
          </a:xfrm>
          <a:prstGeom prst="rect">
            <a:avLst/>
          </a:prstGeom>
          <a:solidFill>
            <a:srgbClr val="FFF4DF"/>
          </a:solidFill>
          <a:ln w="12700">
            <a:solidFill>
              <a:srgbClr val="F3D39A"/>
            </a:solidFill>
          </a:ln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C7861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只评分当前题目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7150608" y="5394960"/>
            <a:ext cx="1508760" cy="274320"/>
          </a:xfrm>
          <a:prstGeom prst="rect">
            <a:avLst/>
          </a:prstGeom>
          <a:solidFill>
            <a:srgbClr val="E8F7F3"/>
          </a:solidFill>
          <a:ln w="12700">
            <a:solidFill>
              <a:srgbClr val="BFE7DF"/>
            </a:solidFill>
          </a:ln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F8F7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隐藏技术细节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9555480" y="1920240"/>
            <a:ext cx="187452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F0"/>
            </a:solidFill>
          </a:ln>
        </p:spPr>
        <p:txBody>
          <a:bodyPr wrap="square" lIns="2032" tIns="2032" rIns="2032" bIns="2032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0182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双栏布局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34405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左图右结果，减少用户在图片与文本之间来回跳转。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9555480" y="3154680"/>
            <a:ext cx="187452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F0"/>
            </a:solidFill>
          </a:ln>
        </p:spPr>
        <p:txBody>
          <a:bodyPr wrap="square" lIns="2032" tIns="2032" rIns="2032" bIns="2032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0182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分页查看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34405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按题切换而不是整页滚动，降低信息密度，也降低评分请求体量。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9555480" y="4389120"/>
            <a:ext cx="187452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F0"/>
            </a:solidFill>
          </a:ln>
        </p:spPr>
        <p:txBody>
          <a:bodyPr wrap="square" lIns="2032" tIns="2032" rIns="2032" bIns="2032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0182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文案脱敏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34405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把接口名、报错细节收敛到诊断区，主界面只保留可理解反馈。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502920" y="6492240"/>
            <a:ext cx="438912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8A2B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数学作业 OCR 与步骤评分系统｜工程化中期版本</a:t>
            </a:r>
            <a:endParaRPr lang="en-US" sz="950" dirty="0"/>
          </a:p>
        </p:txBody>
      </p:sp>
      <p:sp>
        <p:nvSpPr>
          <p:cNvPr id="17" name="Text 14"/>
          <p:cNvSpPr/>
          <p:nvPr/>
        </p:nvSpPr>
        <p:spPr>
          <a:xfrm>
            <a:off x="11521440" y="6419088"/>
            <a:ext cx="27432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98A2B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92608"/>
            <a:ext cx="1051560" cy="256032"/>
          </a:xfrm>
          <a:prstGeom prst="rect">
            <a:avLst/>
          </a:prstGeom>
          <a:solidFill>
            <a:srgbClr val="EAF2FF"/>
          </a:solidFill>
          <a:ln>
            <a:solidFill>
              <a:srgbClr val="EAF2FF"/>
            </a:solidFill>
          </a:ln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F6FD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12 API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640080"/>
            <a:ext cx="896112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6355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API 设计（接口契约）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658368" y="1481328"/>
            <a:ext cx="1965960" cy="384048"/>
          </a:xfrm>
          <a:prstGeom prst="rect">
            <a:avLst/>
          </a:prstGeom>
          <a:solidFill>
            <a:srgbClr val="EAF2FF"/>
          </a:solidFill>
          <a:ln w="12700">
            <a:solidFill>
              <a:srgbClr val="D9E2F0"/>
            </a:solidFill>
          </a:ln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6355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接口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2624328" y="1481328"/>
            <a:ext cx="2011680" cy="384048"/>
          </a:xfrm>
          <a:prstGeom prst="rect">
            <a:avLst/>
          </a:prstGeom>
          <a:solidFill>
            <a:srgbClr val="EAF2FF"/>
          </a:solidFill>
          <a:ln w="12700">
            <a:solidFill>
              <a:srgbClr val="D9E2F0"/>
            </a:solidFill>
          </a:ln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6355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方法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636008" y="1481328"/>
            <a:ext cx="3337560" cy="384048"/>
          </a:xfrm>
          <a:prstGeom prst="rect">
            <a:avLst/>
          </a:prstGeom>
          <a:solidFill>
            <a:srgbClr val="EAF2FF"/>
          </a:solidFill>
          <a:ln w="12700">
            <a:solidFill>
              <a:srgbClr val="D9E2F0"/>
            </a:solidFill>
          </a:ln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6355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输入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973568" y="1481328"/>
            <a:ext cx="3154680" cy="384048"/>
          </a:xfrm>
          <a:prstGeom prst="rect">
            <a:avLst/>
          </a:prstGeom>
          <a:solidFill>
            <a:srgbClr val="EAF2FF"/>
          </a:solidFill>
          <a:ln w="12700">
            <a:solidFill>
              <a:srgbClr val="D9E2F0"/>
            </a:solidFill>
          </a:ln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6355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输出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58368" y="1865376"/>
            <a:ext cx="196596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F0"/>
            </a:solidFill>
          </a:ln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230" dirty="0">
                <a:solidFill>
                  <a:srgbClr val="34405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/api/ocr</a:t>
            </a:r>
            <a:endParaRPr lang="en-US" sz="1230" dirty="0"/>
          </a:p>
        </p:txBody>
      </p:sp>
      <p:sp>
        <p:nvSpPr>
          <p:cNvPr id="10" name="Text 8"/>
          <p:cNvSpPr/>
          <p:nvPr/>
        </p:nvSpPr>
        <p:spPr>
          <a:xfrm>
            <a:off x="2624328" y="1865376"/>
            <a:ext cx="201168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F0"/>
            </a:solidFill>
          </a:ln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230" dirty="0">
                <a:solidFill>
                  <a:srgbClr val="34405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POST</a:t>
            </a:r>
            <a:endParaRPr lang="en-US" sz="1230" dirty="0"/>
          </a:p>
        </p:txBody>
      </p:sp>
      <p:sp>
        <p:nvSpPr>
          <p:cNvPr id="11" name="Text 9"/>
          <p:cNvSpPr/>
          <p:nvPr/>
        </p:nvSpPr>
        <p:spPr>
          <a:xfrm>
            <a:off x="4636008" y="1865376"/>
            <a:ext cx="333756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F0"/>
            </a:solidFill>
          </a:ln>
        </p:spPr>
        <p:txBody>
          <a:bodyPr wrap="square" lIns="635" tIns="635" rIns="635" bIns="635" rtlCol="0" anchor="ctr"/>
          <a:lstStyle/>
          <a:p>
            <a:pPr marL="0" indent="0" algn="l">
              <a:buNone/>
            </a:pPr>
            <a:r>
              <a:rPr lang="en-US" sz="1230" dirty="0">
                <a:solidFill>
                  <a:srgbClr val="34405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图片 / OCR 参数</a:t>
            </a:r>
            <a:endParaRPr lang="en-US" sz="1230" dirty="0"/>
          </a:p>
        </p:txBody>
      </p:sp>
      <p:sp>
        <p:nvSpPr>
          <p:cNvPr id="12" name="Text 10"/>
          <p:cNvSpPr/>
          <p:nvPr/>
        </p:nvSpPr>
        <p:spPr>
          <a:xfrm>
            <a:off x="7973568" y="1865376"/>
            <a:ext cx="315468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F0"/>
            </a:solidFill>
          </a:ln>
        </p:spPr>
        <p:txBody>
          <a:bodyPr wrap="square" lIns="635" tIns="635" rIns="635" bIns="635" rtlCol="0" anchor="ctr"/>
          <a:lstStyle/>
          <a:p>
            <a:pPr marL="0" indent="0" algn="l">
              <a:buNone/>
            </a:pPr>
            <a:r>
              <a:rPr lang="en-US" sz="1230" dirty="0">
                <a:solidFill>
                  <a:srgbClr val="34405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ocr_text、question_groups、steps</a:t>
            </a:r>
            <a:endParaRPr lang="en-US" sz="1230" dirty="0"/>
          </a:p>
        </p:txBody>
      </p:sp>
      <p:sp>
        <p:nvSpPr>
          <p:cNvPr id="13" name="Text 11"/>
          <p:cNvSpPr/>
          <p:nvPr/>
        </p:nvSpPr>
        <p:spPr>
          <a:xfrm>
            <a:off x="658368" y="2395728"/>
            <a:ext cx="1965960" cy="530352"/>
          </a:xfrm>
          <a:prstGeom prst="rect">
            <a:avLst/>
          </a:prstGeom>
          <a:solidFill>
            <a:srgbClr val="FBFDFF"/>
          </a:solidFill>
          <a:ln w="12700">
            <a:solidFill>
              <a:srgbClr val="D9E2F0"/>
            </a:solidFill>
          </a:ln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230" dirty="0">
                <a:solidFill>
                  <a:srgbClr val="34405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/api/ocr-vision-only</a:t>
            </a:r>
            <a:endParaRPr lang="en-US" sz="1230" dirty="0"/>
          </a:p>
        </p:txBody>
      </p:sp>
      <p:sp>
        <p:nvSpPr>
          <p:cNvPr id="14" name="Text 12"/>
          <p:cNvSpPr/>
          <p:nvPr/>
        </p:nvSpPr>
        <p:spPr>
          <a:xfrm>
            <a:off x="2624328" y="2395728"/>
            <a:ext cx="2011680" cy="530352"/>
          </a:xfrm>
          <a:prstGeom prst="rect">
            <a:avLst/>
          </a:prstGeom>
          <a:solidFill>
            <a:srgbClr val="FBFDFF"/>
          </a:solidFill>
          <a:ln w="12700">
            <a:solidFill>
              <a:srgbClr val="D9E2F0"/>
            </a:solidFill>
          </a:ln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230" dirty="0">
                <a:solidFill>
                  <a:srgbClr val="34405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POST</a:t>
            </a:r>
            <a:endParaRPr lang="en-US" sz="1230" dirty="0"/>
          </a:p>
        </p:txBody>
      </p:sp>
      <p:sp>
        <p:nvSpPr>
          <p:cNvPr id="15" name="Text 13"/>
          <p:cNvSpPr/>
          <p:nvPr/>
        </p:nvSpPr>
        <p:spPr>
          <a:xfrm>
            <a:off x="4636008" y="2395728"/>
            <a:ext cx="3337560" cy="530352"/>
          </a:xfrm>
          <a:prstGeom prst="rect">
            <a:avLst/>
          </a:prstGeom>
          <a:solidFill>
            <a:srgbClr val="FBFDFF"/>
          </a:solidFill>
          <a:ln w="12700">
            <a:solidFill>
              <a:srgbClr val="D9E2F0"/>
            </a:solidFill>
          </a:ln>
        </p:spPr>
        <p:txBody>
          <a:bodyPr wrap="square" lIns="635" tIns="635" rIns="635" bIns="635" rtlCol="0" anchor="ctr"/>
          <a:lstStyle/>
          <a:p>
            <a:pPr marL="0" indent="0" algn="l">
              <a:buNone/>
            </a:pPr>
            <a:r>
              <a:rPr lang="en-US" sz="1230" dirty="0">
                <a:solidFill>
                  <a:srgbClr val="34405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图片 / 视觉 OCR 参数</a:t>
            </a:r>
            <a:endParaRPr lang="en-US" sz="1230" dirty="0"/>
          </a:p>
        </p:txBody>
      </p:sp>
      <p:sp>
        <p:nvSpPr>
          <p:cNvPr id="16" name="Text 14"/>
          <p:cNvSpPr/>
          <p:nvPr/>
        </p:nvSpPr>
        <p:spPr>
          <a:xfrm>
            <a:off x="7973568" y="2395728"/>
            <a:ext cx="3154680" cy="530352"/>
          </a:xfrm>
          <a:prstGeom prst="rect">
            <a:avLst/>
          </a:prstGeom>
          <a:solidFill>
            <a:srgbClr val="FBFDFF"/>
          </a:solidFill>
          <a:ln w="12700">
            <a:solidFill>
              <a:srgbClr val="D9E2F0"/>
            </a:solidFill>
          </a:ln>
        </p:spPr>
        <p:txBody>
          <a:bodyPr wrap="square" lIns="635" tIns="635" rIns="635" bIns="635" rtlCol="0" anchor="ctr"/>
          <a:lstStyle/>
          <a:p>
            <a:pPr marL="0" indent="0" algn="l">
              <a:buNone/>
            </a:pPr>
            <a:r>
              <a:rPr lang="en-US" sz="1230" dirty="0">
                <a:solidFill>
                  <a:srgbClr val="34405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vision_ocr_text、diag</a:t>
            </a:r>
            <a:endParaRPr lang="en-US" sz="1230" dirty="0"/>
          </a:p>
        </p:txBody>
      </p:sp>
      <p:sp>
        <p:nvSpPr>
          <p:cNvPr id="17" name="Text 15"/>
          <p:cNvSpPr/>
          <p:nvPr/>
        </p:nvSpPr>
        <p:spPr>
          <a:xfrm>
            <a:off x="658368" y="2926080"/>
            <a:ext cx="196596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F0"/>
            </a:solidFill>
          </a:ln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230" dirty="0">
                <a:solidFill>
                  <a:srgbClr val="34405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/api/grade</a:t>
            </a:r>
            <a:endParaRPr lang="en-US" sz="1230" dirty="0"/>
          </a:p>
        </p:txBody>
      </p:sp>
      <p:sp>
        <p:nvSpPr>
          <p:cNvPr id="18" name="Text 16"/>
          <p:cNvSpPr/>
          <p:nvPr/>
        </p:nvSpPr>
        <p:spPr>
          <a:xfrm>
            <a:off x="2624328" y="2926080"/>
            <a:ext cx="201168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F0"/>
            </a:solidFill>
          </a:ln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230" dirty="0">
                <a:solidFill>
                  <a:srgbClr val="34405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POST</a:t>
            </a:r>
            <a:endParaRPr lang="en-US" sz="1230" dirty="0"/>
          </a:p>
        </p:txBody>
      </p:sp>
      <p:sp>
        <p:nvSpPr>
          <p:cNvPr id="19" name="Text 17"/>
          <p:cNvSpPr/>
          <p:nvPr/>
        </p:nvSpPr>
        <p:spPr>
          <a:xfrm>
            <a:off x="4636008" y="2926080"/>
            <a:ext cx="333756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F0"/>
            </a:solidFill>
          </a:ln>
        </p:spPr>
        <p:txBody>
          <a:bodyPr wrap="square" lIns="635" tIns="635" rIns="635" bIns="635" rtlCol="0" anchor="ctr"/>
          <a:lstStyle/>
          <a:p>
            <a:pPr marL="0" indent="0" algn="l">
              <a:buNone/>
            </a:pPr>
            <a:r>
              <a:rPr lang="en-US" sz="1230" dirty="0">
                <a:solidFill>
                  <a:srgbClr val="34405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ocr_text、steps、question_index、use_llm</a:t>
            </a:r>
            <a:endParaRPr lang="en-US" sz="1230" dirty="0"/>
          </a:p>
        </p:txBody>
      </p:sp>
      <p:sp>
        <p:nvSpPr>
          <p:cNvPr id="20" name="Text 18"/>
          <p:cNvSpPr/>
          <p:nvPr/>
        </p:nvSpPr>
        <p:spPr>
          <a:xfrm>
            <a:off x="7973568" y="2926080"/>
            <a:ext cx="315468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F0"/>
            </a:solidFill>
          </a:ln>
        </p:spPr>
        <p:txBody>
          <a:bodyPr wrap="square" lIns="635" tIns="635" rIns="635" bIns="635" rtlCol="0" anchor="ctr"/>
          <a:lstStyle/>
          <a:p>
            <a:pPr marL="0" indent="0" algn="l">
              <a:buNone/>
            </a:pPr>
            <a:r>
              <a:rPr lang="en-US" sz="1230" dirty="0">
                <a:solidFill>
                  <a:srgbClr val="34405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step_scores、total_score、feedback、grading_meta</a:t>
            </a:r>
            <a:endParaRPr lang="en-US" sz="1230" dirty="0"/>
          </a:p>
        </p:txBody>
      </p:sp>
      <p:sp>
        <p:nvSpPr>
          <p:cNvPr id="21" name="Text 19"/>
          <p:cNvSpPr/>
          <p:nvPr/>
        </p:nvSpPr>
        <p:spPr>
          <a:xfrm>
            <a:off x="658368" y="3456432"/>
            <a:ext cx="1965960" cy="530352"/>
          </a:xfrm>
          <a:prstGeom prst="rect">
            <a:avLst/>
          </a:prstGeom>
          <a:solidFill>
            <a:srgbClr val="FBFDFF"/>
          </a:solidFill>
          <a:ln w="12700">
            <a:solidFill>
              <a:srgbClr val="D9E2F0"/>
            </a:solidFill>
          </a:ln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230" dirty="0">
                <a:solidFill>
                  <a:srgbClr val="34405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/api/health</a:t>
            </a:r>
            <a:endParaRPr lang="en-US" sz="1230" dirty="0"/>
          </a:p>
        </p:txBody>
      </p:sp>
      <p:sp>
        <p:nvSpPr>
          <p:cNvPr id="22" name="Text 20"/>
          <p:cNvSpPr/>
          <p:nvPr/>
        </p:nvSpPr>
        <p:spPr>
          <a:xfrm>
            <a:off x="2624328" y="3456432"/>
            <a:ext cx="2011680" cy="530352"/>
          </a:xfrm>
          <a:prstGeom prst="rect">
            <a:avLst/>
          </a:prstGeom>
          <a:solidFill>
            <a:srgbClr val="FBFDFF"/>
          </a:solidFill>
          <a:ln w="12700">
            <a:solidFill>
              <a:srgbClr val="D9E2F0"/>
            </a:solidFill>
          </a:ln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230" dirty="0">
                <a:solidFill>
                  <a:srgbClr val="34405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GET</a:t>
            </a:r>
            <a:endParaRPr lang="en-US" sz="1230" dirty="0"/>
          </a:p>
        </p:txBody>
      </p:sp>
      <p:sp>
        <p:nvSpPr>
          <p:cNvPr id="23" name="Text 21"/>
          <p:cNvSpPr/>
          <p:nvPr/>
        </p:nvSpPr>
        <p:spPr>
          <a:xfrm>
            <a:off x="4636008" y="3456432"/>
            <a:ext cx="3337560" cy="530352"/>
          </a:xfrm>
          <a:prstGeom prst="rect">
            <a:avLst/>
          </a:prstGeom>
          <a:solidFill>
            <a:srgbClr val="FBFDFF"/>
          </a:solidFill>
          <a:ln w="12700">
            <a:solidFill>
              <a:srgbClr val="D9E2F0"/>
            </a:solidFill>
          </a:ln>
        </p:spPr>
        <p:txBody>
          <a:bodyPr wrap="square" lIns="635" tIns="635" rIns="635" bIns="635" rtlCol="0" anchor="ctr"/>
          <a:lstStyle/>
          <a:p>
            <a:pPr marL="0" indent="0" algn="l">
              <a:buNone/>
            </a:pPr>
            <a:r>
              <a:rPr lang="en-US" sz="1230" dirty="0">
                <a:solidFill>
                  <a:srgbClr val="34405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无</a:t>
            </a:r>
            <a:endParaRPr lang="en-US" sz="1230" dirty="0"/>
          </a:p>
        </p:txBody>
      </p:sp>
      <p:sp>
        <p:nvSpPr>
          <p:cNvPr id="24" name="Text 22"/>
          <p:cNvSpPr/>
          <p:nvPr/>
        </p:nvSpPr>
        <p:spPr>
          <a:xfrm>
            <a:off x="7973568" y="3456432"/>
            <a:ext cx="3154680" cy="530352"/>
          </a:xfrm>
          <a:prstGeom prst="rect">
            <a:avLst/>
          </a:prstGeom>
          <a:solidFill>
            <a:srgbClr val="FBFDFF"/>
          </a:solidFill>
          <a:ln w="12700">
            <a:solidFill>
              <a:srgbClr val="D9E2F0"/>
            </a:solidFill>
          </a:ln>
        </p:spPr>
        <p:txBody>
          <a:bodyPr wrap="square" lIns="635" tIns="635" rIns="635" bIns="635" rtlCol="0" anchor="ctr"/>
          <a:lstStyle/>
          <a:p>
            <a:pPr marL="0" indent="0" algn="l">
              <a:buNone/>
            </a:pPr>
            <a:r>
              <a:rPr lang="en-US" sz="1230" dirty="0">
                <a:solidFill>
                  <a:srgbClr val="34405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服务状态、可用性信息</a:t>
            </a:r>
            <a:endParaRPr lang="en-US" sz="1230" dirty="0"/>
          </a:p>
        </p:txBody>
      </p:sp>
      <p:sp>
        <p:nvSpPr>
          <p:cNvPr id="25" name="Text 23"/>
          <p:cNvSpPr/>
          <p:nvPr/>
        </p:nvSpPr>
        <p:spPr>
          <a:xfrm>
            <a:off x="658368" y="4434840"/>
            <a:ext cx="155448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F6FD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示例请求 JSON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58368" y="4709160"/>
            <a:ext cx="5138928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F0"/>
            </a:solidFill>
          </a:ln>
        </p:spPr>
        <p:txBody>
          <a:bodyPr wrap="square" lIns="1524" tIns="1524" rIns="1524" bIns="1524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8292A2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1 </a:t>
            </a:r>
            <a:r>
              <a:rPr lang="en-US" sz="1400" dirty="0">
                <a:solidFill>
                  <a:srgbClr val="F8F8F2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{</a:t>
            </a:r>
            <a:r>
              <a:rPr lang="en-US" sz="140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2 </a:t>
            </a:r>
            <a:r>
              <a:rPr lang="en-US" sz="140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</a:t>
            </a:r>
            <a:r>
              <a:rPr lang="en-US" sz="1400" dirty="0">
                <a:solidFill>
                  <a:srgbClr val="F92672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"ocr_text"</a:t>
            </a:r>
            <a:r>
              <a:rPr lang="en-US" sz="1400" dirty="0">
                <a:solidFill>
                  <a:srgbClr val="F8F8F2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:</a:t>
            </a:r>
            <a:r>
              <a:rPr lang="en-US" sz="140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</a:t>
            </a:r>
            <a:r>
              <a:rPr lang="en-US" sz="140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"..."</a:t>
            </a:r>
            <a:r>
              <a:rPr lang="en-US" sz="1400" dirty="0">
                <a:solidFill>
                  <a:srgbClr val="F8F8F2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,</a:t>
            </a:r>
            <a:r>
              <a:rPr lang="en-US" sz="140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3 </a:t>
            </a:r>
            <a:r>
              <a:rPr lang="en-US" sz="140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</a:t>
            </a:r>
            <a:r>
              <a:rPr lang="en-US" sz="1400" dirty="0">
                <a:solidFill>
                  <a:srgbClr val="F92672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"question_index"</a:t>
            </a:r>
            <a:r>
              <a:rPr lang="en-US" sz="1400" dirty="0">
                <a:solidFill>
                  <a:srgbClr val="F8F8F2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:</a:t>
            </a:r>
            <a:r>
              <a:rPr lang="en-US" sz="140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</a:t>
            </a:r>
            <a:r>
              <a:rPr lang="en-US" sz="140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1</a:t>
            </a:r>
            <a:r>
              <a:rPr lang="en-US" sz="1400" dirty="0">
                <a:solidFill>
                  <a:srgbClr val="F8F8F2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,</a:t>
            </a:r>
            <a:r>
              <a:rPr lang="en-US" sz="140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4 </a:t>
            </a:r>
            <a:r>
              <a:rPr lang="en-US" sz="140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</a:t>
            </a:r>
            <a:r>
              <a:rPr lang="en-US" sz="1400" dirty="0">
                <a:solidFill>
                  <a:srgbClr val="F92672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"steps"</a:t>
            </a:r>
            <a:r>
              <a:rPr lang="en-US" sz="1400" dirty="0">
                <a:solidFill>
                  <a:srgbClr val="F8F8F2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:</a:t>
            </a:r>
            <a:r>
              <a:rPr lang="en-US" sz="140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</a:t>
            </a:r>
            <a:r>
              <a:rPr lang="en-US" sz="1400" dirty="0">
                <a:solidFill>
                  <a:srgbClr val="F8F8F2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[</a:t>
            </a:r>
            <a:r>
              <a:rPr lang="en-US" sz="140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"..."</a:t>
            </a:r>
            <a:r>
              <a:rPr lang="en-US" sz="1400" dirty="0">
                <a:solidFill>
                  <a:srgbClr val="F8F8F2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,</a:t>
            </a:r>
            <a:r>
              <a:rPr lang="en-US" sz="140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</a:t>
            </a:r>
            <a:r>
              <a:rPr lang="en-US" sz="140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"..."</a:t>
            </a:r>
            <a:r>
              <a:rPr lang="en-US" sz="1400" dirty="0">
                <a:solidFill>
                  <a:srgbClr val="F8F8F2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]</a:t>
            </a:r>
            <a:r>
              <a:rPr lang="en-US" sz="1400" dirty="0">
                <a:solidFill>
                  <a:srgbClr val="F8F8F2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,</a:t>
            </a:r>
            <a:r>
              <a:rPr lang="en-US" sz="140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5 </a:t>
            </a:r>
            <a:r>
              <a:rPr lang="en-US" sz="140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</a:t>
            </a:r>
            <a:r>
              <a:rPr lang="en-US" sz="1400" dirty="0">
                <a:solidFill>
                  <a:srgbClr val="F92672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"reference_answer"</a:t>
            </a:r>
            <a:r>
              <a:rPr lang="en-US" sz="1400" dirty="0">
                <a:solidFill>
                  <a:srgbClr val="F8F8F2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:</a:t>
            </a:r>
            <a:r>
              <a:rPr lang="en-US" sz="140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</a:t>
            </a:r>
            <a:r>
              <a:rPr lang="en-US" sz="140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"..."</a:t>
            </a:r>
            <a:r>
              <a:rPr lang="en-US" sz="1400" dirty="0">
                <a:solidFill>
                  <a:srgbClr val="F8F8F2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,</a:t>
            </a:r>
            <a:r>
              <a:rPr lang="en-US" sz="140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6 </a:t>
            </a:r>
            <a:r>
              <a:rPr lang="en-US" sz="140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</a:t>
            </a:r>
            <a:r>
              <a:rPr lang="en-US" sz="1400" dirty="0">
                <a:solidFill>
                  <a:srgbClr val="F92672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"use_llm"</a:t>
            </a:r>
            <a:r>
              <a:rPr lang="en-US" sz="1400" dirty="0">
                <a:solidFill>
                  <a:srgbClr val="F8F8F2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:</a:t>
            </a:r>
            <a:r>
              <a:rPr lang="en-US" sz="140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</a:t>
            </a:r>
            <a:r>
              <a:rPr lang="en-US" sz="1400" dirty="0">
                <a:solidFill>
                  <a:srgbClr val="AE81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true</a:t>
            </a:r>
            <a:r>
              <a:rPr lang="en-US" sz="140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7 </a:t>
            </a:r>
            <a:r>
              <a:rPr lang="en-US" sz="1400" dirty="0">
                <a:solidFill>
                  <a:srgbClr val="F8F8F2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}</a:t>
            </a:r>
            <a:endParaRPr lang="en-US" sz="1080" dirty="0"/>
          </a:p>
        </p:txBody>
      </p:sp>
      <p:sp>
        <p:nvSpPr>
          <p:cNvPr id="27" name="Text 25"/>
          <p:cNvSpPr/>
          <p:nvPr/>
        </p:nvSpPr>
        <p:spPr>
          <a:xfrm>
            <a:off x="6144768" y="4434840"/>
            <a:ext cx="155448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F6FD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示例响应 JSON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144768" y="4709160"/>
            <a:ext cx="521208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F0"/>
            </a:solidFill>
          </a:ln>
        </p:spPr>
        <p:txBody>
          <a:bodyPr wrap="square" lIns="1524" tIns="1524" rIns="1524" bIns="1524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8292A2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1 </a:t>
            </a:r>
            <a:r>
              <a:rPr lang="en-US" sz="1400" dirty="0">
                <a:solidFill>
                  <a:srgbClr val="F8F8F2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{</a:t>
            </a:r>
            <a:r>
              <a:rPr lang="en-US" sz="140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2 </a:t>
            </a:r>
            <a:r>
              <a:rPr lang="en-US" sz="140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</a:t>
            </a:r>
            <a:r>
              <a:rPr lang="en-US" sz="1400" dirty="0">
                <a:solidFill>
                  <a:srgbClr val="F92672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"engine"</a:t>
            </a:r>
            <a:r>
              <a:rPr lang="en-US" sz="1400" dirty="0">
                <a:solidFill>
                  <a:srgbClr val="F8F8F2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:</a:t>
            </a:r>
            <a:r>
              <a:rPr lang="en-US" sz="140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</a:t>
            </a:r>
            <a:r>
              <a:rPr lang="en-US" sz="140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"llm"</a:t>
            </a:r>
            <a:r>
              <a:rPr lang="en-US" sz="1400" dirty="0">
                <a:solidFill>
                  <a:srgbClr val="F8F8F2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,</a:t>
            </a:r>
            <a:r>
              <a:rPr lang="en-US" sz="140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3 </a:t>
            </a:r>
            <a:r>
              <a:rPr lang="en-US" sz="140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</a:t>
            </a:r>
            <a:r>
              <a:rPr lang="en-US" sz="1400" dirty="0">
                <a:solidFill>
                  <a:srgbClr val="F92672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"step_scores"</a:t>
            </a:r>
            <a:r>
              <a:rPr lang="en-US" sz="1400" dirty="0">
                <a:solidFill>
                  <a:srgbClr val="F8F8F2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:</a:t>
            </a:r>
            <a:r>
              <a:rPr lang="en-US" sz="140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</a:t>
            </a:r>
            <a:r>
              <a:rPr lang="en-US" sz="1400" dirty="0">
                <a:solidFill>
                  <a:srgbClr val="F8F8F2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[</a:t>
            </a:r>
            <a:r>
              <a:rPr lang="en-US" sz="1400" dirty="0">
                <a:solidFill>
                  <a:srgbClr val="F8F8F2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{</a:t>
            </a:r>
            <a:r>
              <a:rPr lang="en-US" sz="1400" dirty="0">
                <a:solidFill>
                  <a:srgbClr val="F92672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"score"</a:t>
            </a:r>
            <a:r>
              <a:rPr lang="en-US" sz="1400" dirty="0">
                <a:solidFill>
                  <a:srgbClr val="F8F8F2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:</a:t>
            </a:r>
            <a:r>
              <a:rPr lang="en-US" sz="140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</a:t>
            </a:r>
            <a:r>
              <a:rPr lang="en-US" sz="140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2</a:t>
            </a:r>
            <a:r>
              <a:rPr lang="en-US" sz="1400" dirty="0">
                <a:solidFill>
                  <a:srgbClr val="F8F8F2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,</a:t>
            </a:r>
            <a:r>
              <a:rPr lang="en-US" sz="140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</a:t>
            </a:r>
            <a:r>
              <a:rPr lang="en-US" sz="1400" dirty="0">
                <a:solidFill>
                  <a:srgbClr val="F92672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"reason"</a:t>
            </a:r>
            <a:r>
              <a:rPr lang="en-US" sz="1400" dirty="0">
                <a:solidFill>
                  <a:srgbClr val="F8F8F2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:</a:t>
            </a:r>
            <a:r>
              <a:rPr lang="en-US" sz="140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</a:t>
            </a:r>
            <a:r>
              <a:rPr lang="en-US" sz="140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"..."</a:t>
            </a:r>
            <a:r>
              <a:rPr lang="en-US" sz="1400" dirty="0">
                <a:solidFill>
                  <a:srgbClr val="F8F8F2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}</a:t>
            </a:r>
            <a:r>
              <a:rPr lang="en-US" sz="1400" dirty="0">
                <a:solidFill>
                  <a:srgbClr val="F8F8F2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]</a:t>
            </a:r>
            <a:r>
              <a:rPr lang="en-US" sz="1400" dirty="0">
                <a:solidFill>
                  <a:srgbClr val="F8F8F2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,</a:t>
            </a:r>
            <a:r>
              <a:rPr lang="en-US" sz="140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4 </a:t>
            </a:r>
            <a:r>
              <a:rPr lang="en-US" sz="140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</a:t>
            </a:r>
            <a:r>
              <a:rPr lang="en-US" sz="1400" dirty="0">
                <a:solidFill>
                  <a:srgbClr val="F92672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"total_score"</a:t>
            </a:r>
            <a:r>
              <a:rPr lang="en-US" sz="1400" dirty="0">
                <a:solidFill>
                  <a:srgbClr val="F8F8F2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:</a:t>
            </a:r>
            <a:r>
              <a:rPr lang="en-US" sz="140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</a:t>
            </a:r>
            <a:r>
              <a:rPr lang="en-US" sz="140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10</a:t>
            </a:r>
            <a:r>
              <a:rPr lang="en-US" sz="1400" dirty="0">
                <a:solidFill>
                  <a:srgbClr val="F8F8F2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,</a:t>
            </a:r>
            <a:r>
              <a:rPr lang="en-US" sz="140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5 </a:t>
            </a:r>
            <a:r>
              <a:rPr lang="en-US" sz="140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</a:t>
            </a:r>
            <a:r>
              <a:rPr lang="en-US" sz="1400" dirty="0">
                <a:solidFill>
                  <a:srgbClr val="F92672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"feedback"</a:t>
            </a:r>
            <a:r>
              <a:rPr lang="en-US" sz="1400" dirty="0">
                <a:solidFill>
                  <a:srgbClr val="F8F8F2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:</a:t>
            </a:r>
            <a:r>
              <a:rPr lang="en-US" sz="140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</a:t>
            </a:r>
            <a:r>
              <a:rPr lang="en-US" sz="140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"..."</a:t>
            </a:r>
            <a:r>
              <a:rPr lang="en-US" sz="1400" dirty="0">
                <a:solidFill>
                  <a:srgbClr val="F8F8F2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,</a:t>
            </a:r>
            <a:r>
              <a:rPr lang="en-US" sz="140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6 </a:t>
            </a:r>
            <a:r>
              <a:rPr lang="en-US" sz="140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</a:t>
            </a:r>
            <a:r>
              <a:rPr lang="en-US" sz="1400" dirty="0">
                <a:solidFill>
                  <a:srgbClr val="F92672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"grading_meta"</a:t>
            </a:r>
            <a:r>
              <a:rPr lang="en-US" sz="1400" dirty="0">
                <a:solidFill>
                  <a:srgbClr val="F8F8F2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:</a:t>
            </a:r>
            <a:r>
              <a:rPr lang="en-US" sz="140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</a:t>
            </a:r>
            <a:r>
              <a:rPr lang="en-US" sz="1400" dirty="0">
                <a:solidFill>
                  <a:srgbClr val="F8F8F2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{</a:t>
            </a:r>
            <a:r>
              <a:rPr lang="en-US" sz="1400" dirty="0">
                <a:solidFill>
                  <a:srgbClr val="F92672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"status_code"</a:t>
            </a:r>
            <a:r>
              <a:rPr lang="en-US" sz="1400" dirty="0">
                <a:solidFill>
                  <a:srgbClr val="F8F8F2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:</a:t>
            </a:r>
            <a:r>
              <a:rPr lang="en-US" sz="140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</a:t>
            </a:r>
            <a:r>
              <a:rPr lang="en-US" sz="140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200</a:t>
            </a:r>
            <a:r>
              <a:rPr lang="en-US" sz="1400" dirty="0">
                <a:solidFill>
                  <a:srgbClr val="F8F8F2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,</a:t>
            </a:r>
            <a:r>
              <a:rPr lang="en-US" sz="140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</a:t>
            </a:r>
            <a:r>
              <a:rPr lang="en-US" sz="1400" dirty="0">
                <a:solidFill>
                  <a:srgbClr val="F92672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"elapsed_ms"</a:t>
            </a:r>
            <a:r>
              <a:rPr lang="en-US" sz="1400" dirty="0">
                <a:solidFill>
                  <a:srgbClr val="F8F8F2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:</a:t>
            </a:r>
            <a:r>
              <a:rPr lang="en-US" sz="140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</a:t>
            </a:r>
            <a:r>
              <a:rPr lang="en-US" sz="140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"&lt;实测&gt;"</a:t>
            </a:r>
            <a:r>
              <a:rPr lang="en-US" sz="1400" dirty="0">
                <a:solidFill>
                  <a:srgbClr val="F8F8F2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,</a:t>
            </a:r>
            <a:r>
              <a:rPr lang="en-US" sz="140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</a:t>
            </a:r>
            <a:r>
              <a:rPr lang="en-US" sz="1400" dirty="0">
                <a:solidFill>
                  <a:srgbClr val="F92672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"fallback"</a:t>
            </a:r>
            <a:r>
              <a:rPr lang="en-US" sz="1400" dirty="0">
                <a:solidFill>
                  <a:srgbClr val="F8F8F2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:</a:t>
            </a:r>
            <a:r>
              <a:rPr lang="en-US" sz="140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</a:t>
            </a:r>
            <a:r>
              <a:rPr lang="en-US" sz="1400" dirty="0">
                <a:solidFill>
                  <a:srgbClr val="AE81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false</a:t>
            </a:r>
            <a:r>
              <a:rPr lang="en-US" sz="1400" dirty="0">
                <a:solidFill>
                  <a:srgbClr val="F8F8F2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}</a:t>
            </a:r>
            <a:r>
              <a:rPr lang="en-US" sz="140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7 </a:t>
            </a:r>
            <a:r>
              <a:rPr lang="en-US" sz="1400" dirty="0">
                <a:solidFill>
                  <a:srgbClr val="F8F8F2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}</a:t>
            </a:r>
            <a:endParaRPr lang="en-US" sz="1060" dirty="0"/>
          </a:p>
        </p:txBody>
      </p:sp>
      <p:sp>
        <p:nvSpPr>
          <p:cNvPr id="30" name="Text 27"/>
          <p:cNvSpPr/>
          <p:nvPr/>
        </p:nvSpPr>
        <p:spPr>
          <a:xfrm>
            <a:off x="502920" y="6492240"/>
            <a:ext cx="438912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8A2B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数学作业 OCR 与步骤评分系统｜工程化中期版本</a:t>
            </a:r>
            <a:endParaRPr lang="en-US" sz="950" dirty="0"/>
          </a:p>
        </p:txBody>
      </p:sp>
      <p:sp>
        <p:nvSpPr>
          <p:cNvPr id="31" name="Text 28"/>
          <p:cNvSpPr/>
          <p:nvPr/>
        </p:nvSpPr>
        <p:spPr>
          <a:xfrm>
            <a:off x="11521440" y="6419088"/>
            <a:ext cx="27432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98A2B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92608"/>
            <a:ext cx="1051560" cy="256032"/>
          </a:xfrm>
          <a:prstGeom prst="rect">
            <a:avLst/>
          </a:prstGeom>
          <a:solidFill>
            <a:srgbClr val="EAF2FF"/>
          </a:solidFill>
          <a:ln>
            <a:solidFill>
              <a:srgbClr val="EAF2FF"/>
            </a:solidFill>
          </a:ln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F6FD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13 工程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640080"/>
            <a:ext cx="896112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6355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工程实践与规范 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658368" y="1536192"/>
            <a:ext cx="283464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F0"/>
            </a:solidFill>
          </a:ln>
        </p:spPr>
        <p:txBody>
          <a:bodyPr wrap="square" lIns="2032" tIns="2032" rIns="2032" bIns="2032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10182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模块划分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34405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services / config / schemas / static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34405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把策略、配置、数据结构与前端资源分开维护。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3749040" y="1536192"/>
            <a:ext cx="283464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F0"/>
            </a:solidFill>
          </a:ln>
        </p:spPr>
        <p:txBody>
          <a:bodyPr wrap="square" lIns="2032" tIns="2032" rIns="2032" bIns="2032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10182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配置外置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34405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.env 管理模型地址、密钥、超时、开关等参数，减少硬编码。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839712" y="1536192"/>
            <a:ext cx="237744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F0"/>
            </a:solidFill>
          </a:ln>
        </p:spPr>
        <p:txBody>
          <a:bodyPr wrap="square" lIns="2032" tIns="2032" rIns="2032" bIns="2032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10182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可观测性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34405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grading_meta、llm_diag 等字段帮助排查接口与策略问题。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464040" y="1536192"/>
            <a:ext cx="192024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F0"/>
            </a:solidFill>
          </a:ln>
        </p:spPr>
        <p:txBody>
          <a:bodyPr wrap="square" lIns="2032" tIns="2032" rIns="2032" bIns="2032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10182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规范收益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34405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后续替换模型或扩展评分规则时，改动更集中。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58368" y="3273552"/>
            <a:ext cx="118872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F6FD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中期里程碑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1078992" y="4096512"/>
            <a:ext cx="9052560" cy="0"/>
          </a:xfrm>
          <a:prstGeom prst="line">
            <a:avLst/>
          </a:prstGeom>
          <a:noFill/>
          <a:ln w="25400">
            <a:solidFill>
              <a:srgbClr val="C7D3E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04672" y="3886200"/>
            <a:ext cx="548640" cy="420624"/>
          </a:xfrm>
          <a:prstGeom prst="rect">
            <a:avLst/>
          </a:prstGeom>
          <a:solidFill>
            <a:srgbClr val="EAF2FF"/>
          </a:solidFill>
          <a:ln w="15240">
            <a:solidFill>
              <a:srgbClr val="8FB2F1"/>
            </a:solidFill>
          </a:ln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F6FD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M1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93192" y="4498848"/>
            <a:ext cx="137160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34405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OCR 基础链路跑通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2880360" y="3886200"/>
            <a:ext cx="548640" cy="420624"/>
          </a:xfrm>
          <a:prstGeom prst="rect">
            <a:avLst/>
          </a:prstGeom>
          <a:solidFill>
            <a:srgbClr val="EAF2FF"/>
          </a:solidFill>
          <a:ln w="15240">
            <a:solidFill>
              <a:srgbClr val="8FB2F1"/>
            </a:solidFill>
          </a:ln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F6FD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M2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468880" y="4498848"/>
            <a:ext cx="137160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34405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分题 / 分步规则加入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4956048" y="3886200"/>
            <a:ext cx="548640" cy="420624"/>
          </a:xfrm>
          <a:prstGeom prst="rect">
            <a:avLst/>
          </a:prstGeom>
          <a:solidFill>
            <a:srgbClr val="EAF2FF"/>
          </a:solidFill>
          <a:ln w="15240">
            <a:solidFill>
              <a:srgbClr val="8FB2F1"/>
            </a:solidFill>
          </a:ln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F6FD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M3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544568" y="4498848"/>
            <a:ext cx="137160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34405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评分接口与回退完成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7031736" y="3886200"/>
            <a:ext cx="548640" cy="420624"/>
          </a:xfrm>
          <a:prstGeom prst="rect">
            <a:avLst/>
          </a:prstGeom>
          <a:solidFill>
            <a:srgbClr val="EAF2FF"/>
          </a:solidFill>
          <a:ln w="15240">
            <a:solidFill>
              <a:srgbClr val="8FB2F1"/>
            </a:solidFill>
          </a:ln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F6FD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M4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620256" y="4498848"/>
            <a:ext cx="137160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34405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前端分页与诊断展示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9107424" y="3886200"/>
            <a:ext cx="548640" cy="420624"/>
          </a:xfrm>
          <a:prstGeom prst="rect">
            <a:avLst/>
          </a:prstGeom>
          <a:solidFill>
            <a:srgbClr val="FFF4DF"/>
          </a:solidFill>
          <a:ln w="15240">
            <a:solidFill>
              <a:srgbClr val="E0BC78"/>
            </a:solidFill>
          </a:ln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C7861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M5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695944" y="4498848"/>
            <a:ext cx="137160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34405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中期版本可演示</a:t>
            </a:r>
            <a:endParaRPr lang="en-US" sz="1150" dirty="0"/>
          </a:p>
        </p:txBody>
      </p:sp>
      <p:sp>
        <p:nvSpPr>
          <p:cNvPr id="23" name="Text 20"/>
          <p:cNvSpPr/>
          <p:nvPr/>
        </p:nvSpPr>
        <p:spPr>
          <a:xfrm>
            <a:off x="502920" y="6492240"/>
            <a:ext cx="438912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8A2B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数学作业 OCR 与步骤评分系统｜工程化中期版本</a:t>
            </a:r>
            <a:endParaRPr lang="en-US" sz="950" dirty="0"/>
          </a:p>
        </p:txBody>
      </p:sp>
      <p:sp>
        <p:nvSpPr>
          <p:cNvPr id="24" name="Text 21"/>
          <p:cNvSpPr/>
          <p:nvPr/>
        </p:nvSpPr>
        <p:spPr>
          <a:xfrm>
            <a:off x="11521440" y="6419088"/>
            <a:ext cx="27432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98A2B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92608"/>
            <a:ext cx="1051560" cy="256032"/>
          </a:xfrm>
          <a:prstGeom prst="rect">
            <a:avLst/>
          </a:prstGeom>
          <a:solidFill>
            <a:srgbClr val="EAF2FF"/>
          </a:solidFill>
          <a:ln>
            <a:solidFill>
              <a:srgbClr val="EAF2FF"/>
            </a:solidFill>
          </a:ln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F6FD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15 </a:t>
            </a:r>
            <a:r>
              <a:rPr lang="zh-CN" altLang="en-US" sz="1100" b="1" dirty="0">
                <a:solidFill>
                  <a:srgbClr val="2F6FD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目标</a:t>
            </a:r>
            <a:endParaRPr lang="zh-CN" altLang="en-US" sz="1100" b="1" dirty="0">
              <a:solidFill>
                <a:srgbClr val="2F6FDB"/>
              </a:solidFill>
              <a:latin typeface="Noto Sans CJK SC" pitchFamily="34" charset="0"/>
              <a:ea typeface="Noto Sans CJK SC" pitchFamily="34" charset="-122"/>
              <a:cs typeface="Noto Sans CJK SC" pitchFamily="34" charset="-120"/>
            </a:endParaRPr>
          </a:p>
        </p:txBody>
      </p:sp>
      <p:sp>
        <p:nvSpPr>
          <p:cNvPr id="3" name="Text 1"/>
          <p:cNvSpPr/>
          <p:nvPr/>
        </p:nvSpPr>
        <p:spPr>
          <a:xfrm>
            <a:off x="566928" y="640080"/>
            <a:ext cx="896112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6355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问题、风险与下阶段计划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658495" y="1508760"/>
            <a:ext cx="1876425" cy="322580"/>
          </a:xfrm>
          <a:prstGeom prst="rect">
            <a:avLst/>
          </a:prstGeom>
          <a:solidFill>
            <a:srgbClr val="FFFFFF"/>
          </a:solidFill>
          <a:ln w="12700">
            <a:solidFill>
              <a:srgbClr val="F1D8B6"/>
            </a:solidFill>
          </a:ln>
        </p:spPr>
        <p:txBody>
          <a:bodyPr wrap="square" lIns="2032" tIns="2032" rIns="2032" bIns="2032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C7861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当前问题与风险</a:t>
            </a:r>
            <a:endParaRPr lang="en-US" sz="2000" dirty="0"/>
          </a:p>
          <a:p>
            <a:pPr marL="0" indent="0">
              <a:buNone/>
            </a:pP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5989320" y="1508760"/>
            <a:ext cx="1419225" cy="3124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F0"/>
            </a:solidFill>
          </a:ln>
        </p:spPr>
        <p:txBody>
          <a:bodyPr wrap="square" lIns="2032" tIns="2032" rIns="2032" bIns="2032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2F6FD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下阶段计划</a:t>
            </a:r>
            <a:endParaRPr lang="en-US" sz="2000" dirty="0"/>
          </a:p>
          <a:p>
            <a:pPr marL="0" indent="0">
              <a:buNone/>
            </a:pP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658368" y="2487168"/>
            <a:ext cx="507492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8D4AF"/>
            </a:solidFill>
          </a:ln>
        </p:spPr>
        <p:txBody>
          <a:bodyPr wrap="square" lIns="2032" tIns="2032" rIns="2032" bIns="2032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C7861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风险 1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34405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接口稳定性与调用成本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58368" y="3310128"/>
            <a:ext cx="507492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8D4AF"/>
            </a:solidFill>
          </a:ln>
        </p:spPr>
        <p:txBody>
          <a:bodyPr wrap="square" lIns="2032" tIns="2032" rIns="2032" bIns="2032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C7861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风险 2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34405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手写作业质量差异较大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58368" y="4133088"/>
            <a:ext cx="507492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8D4AF"/>
            </a:solidFill>
          </a:ln>
        </p:spPr>
        <p:txBody>
          <a:bodyPr wrap="square" lIns="2032" tIns="2032" rIns="2032" bIns="2032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C7861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风险 3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34405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整页长文本触发超时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58368" y="4956048"/>
            <a:ext cx="507492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8D4AF"/>
            </a:solidFill>
          </a:ln>
        </p:spPr>
        <p:txBody>
          <a:bodyPr wrap="square" lIns="2032" tIns="2032" rIns="2032" bIns="2032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C7861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风险 4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34405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评分标准仍需持续细化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989320" y="2487168"/>
            <a:ext cx="53492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F0"/>
            </a:solidFill>
          </a:ln>
        </p:spPr>
        <p:txBody>
          <a:bodyPr wrap="square" lIns="2032" tIns="2032" rIns="2032" bIns="2032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2F6FD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计划 1</a:t>
            </a:r>
            <a:endParaRPr lang="en-US" sz="1400" dirty="0"/>
          </a:p>
          <a:p>
            <a:pPr marL="0" indent="0">
              <a:buNone/>
            </a:pPr>
            <a:r>
              <a:rPr lang="zh-CN" altLang="en-US" sz="1400" dirty="0"/>
              <a:t>继续优化</a:t>
            </a:r>
            <a:r>
              <a:rPr lang="en-US" altLang="zh-CN" sz="1400" dirty="0"/>
              <a:t> OCR </a:t>
            </a:r>
            <a:r>
              <a:rPr lang="zh-CN" altLang="en-US" sz="1400" dirty="0"/>
              <a:t>识别质量</a:t>
            </a:r>
            <a:endParaRPr lang="zh-CN" alt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989320" y="3310128"/>
            <a:ext cx="53492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F0"/>
            </a:solidFill>
          </a:ln>
        </p:spPr>
        <p:txBody>
          <a:bodyPr wrap="square" lIns="2032" tIns="2032" rIns="2032" bIns="2032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2F6FD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计划 2</a:t>
            </a:r>
            <a:endParaRPr lang="en-US" sz="1400" dirty="0"/>
          </a:p>
          <a:p>
            <a:pPr marL="0" indent="0">
              <a:buNone/>
            </a:pPr>
            <a:r>
              <a:rPr lang="zh-CN" altLang="en-US" sz="1400" dirty="0"/>
              <a:t>增加批量处理与多作业管理能力，扩展系统适用场景</a:t>
            </a:r>
            <a:endParaRPr lang="zh-CN" alt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989320" y="4133088"/>
            <a:ext cx="53492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F0"/>
            </a:solidFill>
          </a:ln>
        </p:spPr>
        <p:txBody>
          <a:bodyPr wrap="square" lIns="2032" tIns="2032" rIns="2032" bIns="2032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2F6FD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计划 3</a:t>
            </a:r>
            <a:endParaRPr lang="en-US" sz="1400" dirty="0"/>
          </a:p>
          <a:p>
            <a:pPr marL="0" indent="0">
              <a:buNone/>
            </a:pPr>
            <a:r>
              <a:rPr lang="zh-CN" altLang="en-US" sz="1400" dirty="0"/>
              <a:t>优化前端交互细节</a:t>
            </a:r>
            <a:endParaRPr lang="zh-CN" alt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989320" y="4956048"/>
            <a:ext cx="53492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F0"/>
            </a:solidFill>
          </a:ln>
        </p:spPr>
        <p:txBody>
          <a:bodyPr wrap="square" lIns="2032" tIns="2032" rIns="2032" bIns="2032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2F6FD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计划 4</a:t>
            </a:r>
            <a:endParaRPr lang="en-US" sz="1400" dirty="0"/>
          </a:p>
          <a:p>
            <a:pPr marL="0" indent="0">
              <a:buNone/>
            </a:pPr>
            <a:r>
              <a:rPr lang="zh-CN" altLang="en-US" sz="1400" dirty="0"/>
              <a:t>完善教师端查看与管理功能</a:t>
            </a:r>
            <a:endParaRPr lang="zh-CN" alt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502920" y="6492240"/>
            <a:ext cx="438912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8A2B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数学作业 OCR 与步骤评分系统｜工程化中期版本</a:t>
            </a:r>
            <a:endParaRPr lang="en-US" sz="950" dirty="0"/>
          </a:p>
        </p:txBody>
      </p:sp>
      <p:sp>
        <p:nvSpPr>
          <p:cNvPr id="18" name="Text 15"/>
          <p:cNvSpPr/>
          <p:nvPr/>
        </p:nvSpPr>
        <p:spPr>
          <a:xfrm>
            <a:off x="11521440" y="6419088"/>
            <a:ext cx="27432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98A2B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16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Noto Sans CJK S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Noto Sans CJK S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Noto Sans CJK S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Noto Sans CJK S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3572</Words>
  <Application>WPS 演示</Application>
  <PresentationFormat>On-screen Show (16:9)</PresentationFormat>
  <Paragraphs>533</Paragraphs>
  <Slides>15</Slides>
  <Notes>16</Notes>
  <HiddenSlides>0</HiddenSlides>
  <MMClips>0</MMClips>
  <ScaleCrop>false</ScaleCrop>
  <HeadingPairs>
    <vt:vector size="6" baseType="variant">
      <vt:variant>
        <vt:lpstr>已用的字体</vt:lpstr>
      </vt:variant>
      <vt:variant>
        <vt:i4>16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15</vt:i4>
      </vt:variant>
    </vt:vector>
  </HeadingPairs>
  <TitlesOfParts>
    <vt:vector size="32" baseType="lpstr">
      <vt:lpstr>Arial</vt:lpstr>
      <vt:lpstr>宋体</vt:lpstr>
      <vt:lpstr>Wingdings</vt:lpstr>
      <vt:lpstr>Noto Sans CJK SC</vt:lpstr>
      <vt:lpstr>Segoe Print</vt:lpstr>
      <vt:lpstr>Noto Sans CJK SC</vt:lpstr>
      <vt:lpstr>Noto Sans CJK SC</vt:lpstr>
      <vt:lpstr>Consolas</vt:lpstr>
      <vt:lpstr>Consolas</vt:lpstr>
      <vt:lpstr>Consolas</vt:lpstr>
      <vt:lpstr>微软雅黑</vt:lpstr>
      <vt:lpstr>Arial Unicode MS</vt:lpstr>
      <vt:lpstr>Calibri</vt:lpstr>
      <vt:lpstr>MingLiU-ExtB</vt:lpstr>
      <vt:lpstr>Saturday Sans Regular</vt:lpstr>
      <vt:lpstr>等线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OpenAI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数学作业OCR与步骤评分系统（工程化中期版本）</dc:title>
  <dc:creator>OpenAI</dc:creator>
  <dc:subject>数学作业OCR与步骤评分系统中期检查</dc:subject>
  <cp:lastModifiedBy>杨昊</cp:lastModifiedBy>
  <cp:revision>2</cp:revision>
  <dcterms:created xsi:type="dcterms:W3CDTF">2026-03-12T09:16:00Z</dcterms:created>
  <dcterms:modified xsi:type="dcterms:W3CDTF">2026-03-13T07:23:11Z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FD661A3B0B194D548568EE3E90F2735F_12</vt:lpwstr>
  </property>
  <property fmtid="{D5CDD505-2E9C-101B-9397-08002B2CF9AE}" pid="3" name="KSOProductBuildVer">
    <vt:lpwstr>2052-12.1.0.23542</vt:lpwstr>
  </property>
</Properties>
</file>