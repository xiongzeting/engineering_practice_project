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7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0" r:id="rId17"/>
    <p:sldId id="271" r:id="rId18"/>
    <p:sldId id="272" r:id="rId19"/>
    <p:sldId id="273" r:id="rId20"/>
    <p:sldId id="274" r:id="rId21"/>
    <p:sldId id="268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本页先给老师一个整体判断：这不是单独的大模型调用页面，而是一个能跑通作业批改流程的系统。</a:t>
            </a:r>
          </a:p>
          <a:p>
            <a:r>
              <a:t>三个数字或状态负责建立可信度：评分 F1、OCR 失败率、工程闭环。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这里重点讲项目价值：不是炫技，而是解决数学作业批改中“过程不可见、反馈难沉淀”的问题。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这里重点讲项目价值：不是炫技，而是解决数学作业批改中“过程不可见、反馈难沉淀”的问题。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这一页解释为什么现在的界面按阶段出现。不是把所有功能摊在一个页面，而是符合真实用户的操作节奏。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架构页说明系统不是纯前端原型，而是有后端服务、模型服务、数据库留痕和知识图谱的分层系统。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这里把功能讲成真实产品能力，而不是技术模块清单。重点是用户端和后台分开。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这一页要强调：LLM 不是自由发挥，而是被明确评分量规约束，尤其是连锁错误不重复重罚。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这一页解释评测设计。老师通常会关心评测是否有对照组，这里明确告诉他：我们专门测了正确步骤是否被误杀。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这一页是汇报中最硬的证据。先讲 v1 误判高，再讲 v2、v3 如何通过规则明确化提升稳定性。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OCR 页不要回避完全匹配率低，而是把它转化为工程取舍：稳定返回、允许校对、评分端容错。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这一页负责解释边界意识。检查时承认不足通常比夸大能力更可信。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知识图谱不要讲得太玄。它现在是轻量标签和掌握度分析，不是完全自动证明系统。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这里强调工程实践而不是模型神话。系统设计承认失败会发生，所以记录、回退和复查都必须存在。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最后收束：不是说系统已经完美，而是已经具备可运行闭环、评测证据和清楚的下一步。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 w="0">
            <a:solidFill>
              <a:srgbClr val="F7FAF9"/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7715250" y="819150"/>
            <a:ext cx="3238500" cy="4619625"/>
          </a:xfrm>
          <a:prstGeom prst="roundRect">
            <a:avLst>
              <a:gd name="adj" fmla="val 4706"/>
            </a:avLst>
          </a:prstGeom>
          <a:solidFill>
            <a:srgbClr val="10564A"/>
          </a:solidFill>
          <a:ln w="0">
            <a:solidFill>
              <a:srgbClr val="105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sp>
        <p:nvSpPr>
          <p:cNvPr id="4" name="圆角矩形 3"/>
          <p:cNvSpPr>
            <a:spLocks noGrp="1"/>
          </p:cNvSpPr>
          <p:nvPr/>
        </p:nvSpPr>
        <p:spPr>
          <a:xfrm>
            <a:off x="8115300" y="1219200"/>
            <a:ext cx="2381250" cy="40005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MathGrade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8115300" y="1695450"/>
            <a:ext cx="2286000" cy="1143000"/>
          </a:xfrm>
          <a:prstGeom prst="roundRect">
            <a:avLst>
              <a:gd name="adj" fmla="val 1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DCEFEA"/>
                </a:solidFill>
              </a:defRPr>
            </a:pPr>
            <a:r>
              <a:rPr sz="1500" b="0">
                <a:solidFill>
                  <a:srgbClr val="DCEFEA"/>
                </a:solidFill>
              </a:rPr>
              <a:t>作业读取 · 步骤评分 </a:t>
            </a:r>
            <a:endParaRPr sz="1500" b="0">
              <a:solidFill>
                <a:srgbClr val="DCEFEA"/>
              </a:solidFill>
            </a:endParaRPr>
          </a:p>
          <a:p>
            <a:pPr algn="l">
              <a:defRPr sz="1500" b="0">
                <a:solidFill>
                  <a:srgbClr val="DCEFEA"/>
                </a:solidFill>
              </a:defRPr>
            </a:pPr>
            <a:r>
              <a:rPr sz="1500" b="0">
                <a:solidFill>
                  <a:srgbClr val="DCEFEA"/>
                </a:solidFill>
              </a:rPr>
              <a:t>错因诊断 · 数据留痕</a:t>
            </a:r>
            <a:endParaRPr sz="1500" b="0">
              <a:solidFill>
                <a:srgbClr val="DCEFE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115300" y="4000500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8115300" y="4011930"/>
            <a:ext cx="219075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OCR + 校对 + 容错评分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115300" y="4438650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115300" y="4435475"/>
            <a:ext cx="219075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学生端 / 教师后台分离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66750" y="1066800"/>
            <a:ext cx="6667500" cy="723900"/>
          </a:xfrm>
          <a:prstGeom prst="roundRect">
            <a:avLst>
              <a:gd name="adj" fmla="val 1578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75" b="1">
                <a:solidFill>
                  <a:srgbClr val="17211F"/>
                </a:solidFill>
              </a:defRPr>
            </a:pPr>
            <a:r>
              <a:rPr sz="3675" b="1">
                <a:solidFill>
                  <a:srgbClr val="17211F"/>
                </a:solidFill>
              </a:rPr>
              <a:t>基于步骤的数学作业批改系统</a:t>
            </a:r>
            <a:endParaRPr sz="3675" b="1">
              <a:solidFill>
                <a:srgbClr val="17211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85800" y="1885950"/>
            <a:ext cx="619125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5F9B"/>
                </a:solidFill>
              </a:defRPr>
            </a:pPr>
            <a:r>
              <a:rPr sz="1575" b="1">
                <a:solidFill>
                  <a:srgbClr val="2B5F9B"/>
                </a:solidFill>
              </a:rPr>
              <a:t>Step-based Scoring System for Mathematics</a:t>
            </a:r>
            <a:endParaRPr sz="1575" b="1">
              <a:solidFill>
                <a:srgbClr val="2B5F9B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85800" y="2400300"/>
            <a:ext cx="6572250" cy="3429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66736F"/>
                </a:solidFill>
              </a:defRPr>
            </a:pPr>
            <a:r>
              <a:rPr sz="1800" b="0">
                <a:solidFill>
                  <a:srgbClr val="66736F"/>
                </a:solidFill>
              </a:rPr>
              <a:t>面向教师批改、学生订正与作业留痕的可运行系统</a:t>
            </a:r>
            <a:endParaRPr sz="1800" b="0">
              <a:solidFill>
                <a:srgbClr val="66736F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66750" y="3619500"/>
            <a:ext cx="2095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圆角矩形 13"/>
          <p:cNvSpPr>
            <a:spLocks noGrp="1"/>
          </p:cNvSpPr>
          <p:nvPr/>
        </p:nvSpPr>
        <p:spPr>
          <a:xfrm>
            <a:off x="857250" y="3790950"/>
            <a:ext cx="171450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564A"/>
                </a:solidFill>
              </a:defRPr>
            </a:pPr>
            <a:r>
              <a:rPr sz="3150" b="1">
                <a:solidFill>
                  <a:srgbClr val="10564A"/>
                </a:solidFill>
              </a:rPr>
              <a:t>0.9306</a:t>
            </a:r>
            <a:endParaRPr sz="3150" b="1">
              <a:solidFill>
                <a:srgbClr val="10564A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57250" y="4343400"/>
            <a:ext cx="1714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11F"/>
                </a:solidFill>
              </a:defRPr>
            </a:pPr>
            <a:r>
              <a:rPr sz="1350" b="1">
                <a:solidFill>
                  <a:srgbClr val="17211F"/>
                </a:solidFill>
              </a:rPr>
              <a:t>评分器 v3 F1</a:t>
            </a:r>
            <a:endParaRPr sz="1350" b="1">
              <a:solidFill>
                <a:srgbClr val="1721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13740" y="4648200"/>
            <a:ext cx="205232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200 题注错评测；对照组 0 误判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3009900" y="3619500"/>
            <a:ext cx="2095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圆角矩形 17"/>
          <p:cNvSpPr>
            <a:spLocks noGrp="1"/>
          </p:cNvSpPr>
          <p:nvPr/>
        </p:nvSpPr>
        <p:spPr>
          <a:xfrm>
            <a:off x="3200400" y="3790950"/>
            <a:ext cx="171450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B5F9B"/>
                </a:solidFill>
              </a:defRPr>
            </a:pPr>
            <a:r>
              <a:rPr sz="3150" b="1">
                <a:solidFill>
                  <a:srgbClr val="2B5F9B"/>
                </a:solidFill>
              </a:rPr>
              <a:t>0%</a:t>
            </a:r>
            <a:endParaRPr sz="3150" b="1">
              <a:solidFill>
                <a:srgbClr val="2B5F9B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3200400" y="4343400"/>
            <a:ext cx="1714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11F"/>
                </a:solidFill>
              </a:defRPr>
            </a:pPr>
            <a:r>
              <a:rPr sz="1350" b="1">
                <a:solidFill>
                  <a:srgbClr val="17211F"/>
                </a:solidFill>
              </a:rPr>
              <a:t>OCR 失败率</a:t>
            </a:r>
            <a:endParaRPr sz="1350" b="1">
              <a:solidFill>
                <a:srgbClr val="17211F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3072130" y="4648200"/>
            <a:ext cx="2519045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数据集</a:t>
            </a:r>
            <a:r>
              <a:rPr lang="zh-CN" sz="975" b="0">
                <a:solidFill>
                  <a:srgbClr val="66736F"/>
                </a:solidFill>
              </a:rPr>
              <a:t>共</a:t>
            </a:r>
            <a:r>
              <a:rPr sz="975" b="0">
                <a:solidFill>
                  <a:srgbClr val="66736F"/>
                </a:solidFill>
              </a:rPr>
              <a:t> </a:t>
            </a:r>
            <a:r>
              <a:rPr lang="en-US" sz="975" b="0">
                <a:solidFill>
                  <a:srgbClr val="66736F"/>
                </a:solidFill>
              </a:rPr>
              <a:t>4</a:t>
            </a:r>
            <a:r>
              <a:rPr sz="975" b="0">
                <a:solidFill>
                  <a:srgbClr val="66736F"/>
                </a:solidFill>
              </a:rPr>
              <a:t>00 张图，稳定性达标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5353050" y="3619500"/>
            <a:ext cx="2095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圆角矩形 21"/>
          <p:cNvSpPr>
            <a:spLocks noGrp="1"/>
          </p:cNvSpPr>
          <p:nvPr/>
        </p:nvSpPr>
        <p:spPr>
          <a:xfrm>
            <a:off x="5543550" y="3790950"/>
            <a:ext cx="171450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D98C24"/>
                </a:solidFill>
              </a:defRPr>
            </a:pPr>
            <a:r>
              <a:rPr sz="3150" b="1">
                <a:solidFill>
                  <a:srgbClr val="D98C24"/>
                </a:solidFill>
              </a:rPr>
              <a:t>已跑通</a:t>
            </a:r>
            <a:endParaRPr sz="3150" b="1">
              <a:solidFill>
                <a:srgbClr val="D98C24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5543550" y="4343400"/>
            <a:ext cx="1714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11F"/>
                </a:solidFill>
              </a:defRPr>
            </a:pPr>
            <a:r>
              <a:rPr sz="1350" b="1">
                <a:solidFill>
                  <a:srgbClr val="17211F"/>
                </a:solidFill>
              </a:rPr>
              <a:t>工程闭环</a:t>
            </a:r>
            <a:endParaRPr sz="1350" b="1">
              <a:solidFill>
                <a:srgbClr val="17211F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5400040" y="4648200"/>
            <a:ext cx="2051685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登录、读取、评分、历史与报告</a:t>
            </a:r>
            <a:endParaRPr sz="975" b="0">
              <a:solidFill>
                <a:srgbClr val="66736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圆角矩形 2"/>
          <p:cNvSpPr>
            <a:spLocks noGrp="1"/>
          </p:cNvSpPr>
          <p:nvPr/>
        </p:nvSpPr>
        <p:spPr>
          <a:xfrm>
            <a:off x="609600" y="628650"/>
            <a:ext cx="723900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211F"/>
                </a:solidFill>
              </a:defRPr>
            </a:pPr>
            <a:r>
              <a:rPr lang="zh-CN" sz="2475" b="1">
                <a:solidFill>
                  <a:srgbClr val="17211F"/>
                </a:solidFill>
              </a:rPr>
              <a:t>成员贡献</a:t>
            </a:r>
            <a:endParaRPr lang="zh-CN" sz="2475" b="1">
              <a:solidFill>
                <a:srgbClr val="17211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00800"/>
            <a:ext cx="9620250" cy="14288"/>
          </a:xfrm>
          <a:prstGeom prst="rect">
            <a:avLst/>
          </a:prstGeom>
          <a:solidFill>
            <a:srgbClr val="DDE7E3"/>
          </a:solidFill>
          <a:ln w="0">
            <a:solidFill>
              <a:srgbClr val="DDE7E3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11191875" y="6438900"/>
            <a:ext cx="4000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2</a:t>
            </a:r>
            <a:endParaRPr sz="975" b="0">
              <a:solidFill>
                <a:srgbClr val="66736F"/>
              </a:solidFill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1828800" y="1772920"/>
          <a:ext cx="8534400" cy="2234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4950"/>
                <a:gridCol w="4184650"/>
                <a:gridCol w="28448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姓名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工作内容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贡献程度</a:t>
                      </a:r>
                      <a:endParaRPr lang="zh-CN" altLang="en-US"/>
                    </a:p>
                  </a:txBody>
                  <a:tcPr/>
                </a:tc>
              </a:tr>
              <a:tr h="7105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杨仕晨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负责系统整体设计</a:t>
                      </a:r>
                      <a:r>
                        <a:rPr lang="en-US" altLang="zh-CN"/>
                        <a:t>，</a:t>
                      </a:r>
                      <a:r>
                        <a:rPr lang="zh-CN" altLang="en-US"/>
                        <a:t>部分文档</a:t>
                      </a:r>
                      <a:r>
                        <a:rPr lang="en-US" altLang="zh-CN"/>
                        <a:t>、PPT</a:t>
                      </a:r>
                      <a:r>
                        <a:rPr lang="zh-CN" altLang="en-US"/>
                        <a:t>编写</a:t>
                      </a:r>
                      <a:r>
                        <a:rPr lang="en-US" altLang="zh-CN"/>
                        <a:t>，OCR</a:t>
                      </a:r>
                      <a:r>
                        <a:rPr lang="zh-CN" altLang="en-US"/>
                        <a:t>及批改方案设计实现</a:t>
                      </a:r>
                      <a:r>
                        <a:rPr lang="en-US" altLang="zh-CN"/>
                        <a:t>，</a:t>
                      </a:r>
                      <a:r>
                        <a:rPr lang="zh-CN" altLang="en-US"/>
                        <a:t>系统效果测评</a:t>
                      </a:r>
                      <a:r>
                        <a:rPr lang="en-US" altLang="zh-CN"/>
                        <a:t>。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30%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杨昊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负责部分文档</a:t>
                      </a:r>
                      <a:r>
                        <a:rPr lang="en-US" altLang="zh-CN"/>
                        <a:t>、PPT</a:t>
                      </a:r>
                      <a:r>
                        <a:rPr lang="zh-CN" altLang="en-US"/>
                        <a:t>编写</a:t>
                      </a:r>
                      <a:r>
                        <a:rPr lang="en-US" altLang="zh-CN"/>
                        <a:t>，</a:t>
                      </a:r>
                      <a:r>
                        <a:rPr lang="zh-CN" altLang="en-US"/>
                        <a:t>前端页面编写</a:t>
                      </a:r>
                      <a:r>
                        <a:rPr lang="en-US" altLang="zh-CN"/>
                        <a:t>、</a:t>
                      </a:r>
                      <a:r>
                        <a:rPr lang="zh-CN" altLang="en-US"/>
                        <a:t>优化</a:t>
                      </a:r>
                      <a:r>
                        <a:rPr lang="en-US" altLang="zh-CN"/>
                        <a:t>。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24%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杨栋梁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负责部分文档</a:t>
                      </a:r>
                      <a:r>
                        <a:rPr lang="en-US" altLang="zh-CN"/>
                        <a:t>、PPT</a:t>
                      </a:r>
                      <a:r>
                        <a:rPr lang="zh-CN" altLang="en-US"/>
                        <a:t>编写</a:t>
                      </a:r>
                      <a:r>
                        <a:rPr lang="en-US" altLang="zh-CN"/>
                        <a:t>，</a:t>
                      </a:r>
                      <a:r>
                        <a:rPr lang="zh-CN" altLang="en-US"/>
                        <a:t>知识图谱</a:t>
                      </a:r>
                      <a:r>
                        <a:rPr lang="en-US" altLang="zh-CN"/>
                        <a:t>、</a:t>
                      </a:r>
                      <a:r>
                        <a:rPr lang="zh-CN" altLang="en-US"/>
                        <a:t>教师端等部分实现</a:t>
                      </a:r>
                      <a:r>
                        <a:rPr lang="en-US" altLang="zh-CN"/>
                        <a:t>。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22%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熊泽廷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负责部分文档</a:t>
                      </a:r>
                      <a:r>
                        <a:rPr lang="en-US" altLang="zh-CN"/>
                        <a:t>、PPT</a:t>
                      </a:r>
                      <a:r>
                        <a:rPr lang="zh-CN" altLang="en-US"/>
                        <a:t>编写</a:t>
                      </a:r>
                      <a:r>
                        <a:rPr lang="en-US" altLang="zh-CN"/>
                        <a:t>，</a:t>
                      </a:r>
                      <a:r>
                        <a:rPr lang="zh-CN" altLang="en-US"/>
                        <a:t>后端接口实现</a:t>
                      </a:r>
                      <a:r>
                        <a:rPr lang="en-US" altLang="zh-CN"/>
                        <a:t>。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24%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09600" y="304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r>
              <a:rPr sz="975" b="1">
                <a:solidFill>
                  <a:srgbClr val="2B5F9B"/>
                </a:solidFill>
              </a:rPr>
              <a:t>02 / 项目定位</a:t>
            </a:r>
            <a:endParaRPr sz="975" b="1">
              <a:solidFill>
                <a:srgbClr val="2B5F9B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628650"/>
            <a:ext cx="723900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211F"/>
                </a:solidFill>
              </a:defRPr>
            </a:pPr>
            <a:r>
              <a:rPr sz="2475" b="1">
                <a:solidFill>
                  <a:srgbClr val="17211F"/>
                </a:solidFill>
              </a:rPr>
              <a:t>为什么要做“步骤级”批改？</a:t>
            </a:r>
            <a:endParaRPr sz="2475" b="1">
              <a:solidFill>
                <a:srgbClr val="17211F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104900"/>
            <a:ext cx="838200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36F"/>
                </a:solidFill>
              </a:defRPr>
            </a:pPr>
            <a:r>
              <a:rPr sz="1275" b="0">
                <a:solidFill>
                  <a:srgbClr val="66736F"/>
                </a:solidFill>
              </a:rPr>
              <a:t>传统整题评分无法解释过程，本项目把批改推进到步骤诊断和数据沉淀。</a:t>
            </a:r>
            <a:endParaRPr sz="1275" b="0">
              <a:solidFill>
                <a:srgbClr val="66736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00800"/>
            <a:ext cx="9620250" cy="14288"/>
          </a:xfrm>
          <a:prstGeom prst="rect">
            <a:avLst/>
          </a:prstGeom>
          <a:solidFill>
            <a:srgbClr val="DDE7E3"/>
          </a:solidFill>
          <a:ln w="0">
            <a:solidFill>
              <a:srgbClr val="DDE7E3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11191875" y="6438900"/>
            <a:ext cx="4000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2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04850" y="2000250"/>
            <a:ext cx="31432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圆角矩形 8"/>
          <p:cNvSpPr>
            <a:spLocks noGrp="1"/>
          </p:cNvSpPr>
          <p:nvPr/>
        </p:nvSpPr>
        <p:spPr>
          <a:xfrm>
            <a:off x="704850" y="2000250"/>
            <a:ext cx="57150" cy="180975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 w="0">
            <a:solidFill>
              <a:srgbClr val="B42318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171700"/>
            <a:ext cx="272415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传统批改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914400" y="2571750"/>
            <a:ext cx="2724150" cy="1066800"/>
          </a:xfrm>
          <a:prstGeom prst="roundRect">
            <a:avLst>
              <a:gd name="adj" fmla="val 1071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只给整题分，学生只知道“错了”，但难定位是哪一步、哪类错。</a:t>
            </a:r>
            <a:endParaRPr sz="1200" b="0">
              <a:solidFill>
                <a:srgbClr val="66736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514850" y="2000250"/>
            <a:ext cx="31432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圆角矩形 12"/>
          <p:cNvSpPr>
            <a:spLocks noGrp="1"/>
          </p:cNvSpPr>
          <p:nvPr/>
        </p:nvSpPr>
        <p:spPr>
          <a:xfrm>
            <a:off x="4514850" y="2000250"/>
            <a:ext cx="57150" cy="1809750"/>
          </a:xfrm>
          <a:prstGeom prst="roundRect">
            <a:avLst>
              <a:gd name="adj" fmla="val 50000"/>
            </a:avLst>
          </a:prstGeom>
          <a:solidFill>
            <a:srgbClr val="D98C24"/>
          </a:solidFill>
          <a:ln w="0">
            <a:solidFill>
              <a:srgbClr val="D98C24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4724400" y="2171700"/>
            <a:ext cx="272415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教师负担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724400" y="2571750"/>
            <a:ext cx="2724150" cy="1066800"/>
          </a:xfrm>
          <a:prstGeom prst="roundRect">
            <a:avLst>
              <a:gd name="adj" fmla="val 1071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多题、多步骤逐项检查耗时高，批量作业难形成结构化数据。</a:t>
            </a:r>
            <a:endParaRPr sz="1200" b="0">
              <a:solidFill>
                <a:srgbClr val="66736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324850" y="2000250"/>
            <a:ext cx="31432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圆角矩形 16"/>
          <p:cNvSpPr>
            <a:spLocks noGrp="1"/>
          </p:cNvSpPr>
          <p:nvPr/>
        </p:nvSpPr>
        <p:spPr>
          <a:xfrm>
            <a:off x="8324850" y="2000250"/>
            <a:ext cx="57150" cy="1809750"/>
          </a:xfrm>
          <a:prstGeom prst="roundRect">
            <a:avLst>
              <a:gd name="adj" fmla="val 50000"/>
            </a:avLst>
          </a:prstGeom>
          <a:solidFill>
            <a:srgbClr val="10564A"/>
          </a:solidFill>
          <a:ln w="0">
            <a:solidFill>
              <a:srgbClr val="10564A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8534400" y="2171700"/>
            <a:ext cx="272415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本项目目标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534400" y="2571750"/>
            <a:ext cx="2724150" cy="1066800"/>
          </a:xfrm>
          <a:prstGeom prst="roundRect">
            <a:avLst>
              <a:gd name="adj" fmla="val 1071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把题目拆成步骤：逐步评分、错因解释、知识点映射、历史留痕。</a:t>
            </a:r>
            <a:endParaRPr sz="1200" b="0">
              <a:solidFill>
                <a:srgbClr val="66736F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619250" y="4476750"/>
            <a:ext cx="8953500" cy="1000125"/>
          </a:xfrm>
          <a:prstGeom prst="roundRect">
            <a:avLst>
              <a:gd name="adj" fmla="val 11429"/>
            </a:avLst>
          </a:prstGeom>
          <a:solidFill>
            <a:srgbClr val="E4F2ED"/>
          </a:solidFill>
          <a:ln w="9525">
            <a:solidFill>
              <a:srgbClr val="CFE5D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圆角矩形 20"/>
          <p:cNvSpPr>
            <a:spLocks noGrp="1"/>
          </p:cNvSpPr>
          <p:nvPr/>
        </p:nvSpPr>
        <p:spPr>
          <a:xfrm>
            <a:off x="1943100" y="4695825"/>
            <a:ext cx="1143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564A"/>
                </a:solidFill>
              </a:defRPr>
            </a:pPr>
            <a:r>
              <a:rPr sz="1350" b="1">
                <a:solidFill>
                  <a:srgbClr val="10564A"/>
                </a:solidFill>
              </a:rPr>
              <a:t>核心定位</a:t>
            </a:r>
            <a:endParaRPr sz="1350" b="1">
              <a:solidFill>
                <a:srgbClr val="10564A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3143250" y="4648200"/>
            <a:ext cx="7239000" cy="381000"/>
          </a:xfrm>
          <a:prstGeom prst="roundRect">
            <a:avLst>
              <a:gd name="adj" fmla="val 3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211F"/>
                </a:solidFill>
              </a:defRPr>
            </a:pPr>
            <a:r>
              <a:rPr sz="1950" b="1">
                <a:solidFill>
                  <a:srgbClr val="17211F"/>
                </a:solidFill>
              </a:rPr>
              <a:t>把重复判断、过程留痕和初步反馈自动化。</a:t>
            </a:r>
            <a:endParaRPr sz="1950" b="1">
              <a:solidFill>
                <a:srgbClr val="17211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09600" y="304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r>
              <a:rPr sz="975" b="1">
                <a:solidFill>
                  <a:srgbClr val="2B5F9B"/>
                </a:solidFill>
              </a:rPr>
              <a:t>03 / 用户流程</a:t>
            </a:r>
            <a:endParaRPr sz="975" b="1">
              <a:solidFill>
                <a:srgbClr val="2B5F9B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628650"/>
            <a:ext cx="723900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211F"/>
                </a:solidFill>
              </a:defRPr>
            </a:pPr>
            <a:r>
              <a:rPr sz="2475" b="1">
                <a:solidFill>
                  <a:srgbClr val="17211F"/>
                </a:solidFill>
              </a:rPr>
              <a:t>从图片到反馈的任务流</a:t>
            </a:r>
            <a:endParaRPr sz="2475" b="1">
              <a:solidFill>
                <a:srgbClr val="17211F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104900"/>
            <a:ext cx="838200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36F"/>
                </a:solidFill>
              </a:defRPr>
            </a:pPr>
            <a:r>
              <a:rPr sz="1275" b="0">
                <a:solidFill>
                  <a:srgbClr val="66736F"/>
                </a:solidFill>
              </a:rPr>
              <a:t>上传前只显示上传；读取后校对；确认后评分，降低页面噪声。</a:t>
            </a:r>
            <a:endParaRPr sz="1275" b="0">
              <a:solidFill>
                <a:srgbClr val="66736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00800"/>
            <a:ext cx="9620250" cy="14288"/>
          </a:xfrm>
          <a:prstGeom prst="rect">
            <a:avLst/>
          </a:prstGeom>
          <a:solidFill>
            <a:srgbClr val="DDE7E3"/>
          </a:solidFill>
          <a:ln w="0">
            <a:solidFill>
              <a:srgbClr val="DDE7E3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11191875" y="6438900"/>
            <a:ext cx="4000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3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66750" y="2381250"/>
            <a:ext cx="1809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椭圆 8"/>
          <p:cNvSpPr>
            <a:spLocks noGrp="1"/>
          </p:cNvSpPr>
          <p:nvPr/>
        </p:nvSpPr>
        <p:spPr>
          <a:xfrm>
            <a:off x="857250" y="2628900"/>
            <a:ext cx="419100" cy="419100"/>
          </a:xfrm>
          <a:prstGeom prst="ellipse">
            <a:avLst/>
          </a:prstGeom>
          <a:solidFill>
            <a:srgbClr val="10564A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57250" y="2655570"/>
            <a:ext cx="4191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276350" y="2644140"/>
            <a:ext cx="1428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211F"/>
                </a:solidFill>
              </a:defRPr>
            </a:pPr>
            <a:r>
              <a:rPr sz="1575" b="1">
                <a:solidFill>
                  <a:srgbClr val="17211F"/>
                </a:solidFill>
              </a:rPr>
              <a:t>上传作业</a:t>
            </a:r>
            <a:endParaRPr sz="1575" b="1">
              <a:solidFill>
                <a:srgbClr val="17211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57250" y="3152775"/>
            <a:ext cx="1381125" cy="419100"/>
          </a:xfrm>
          <a:prstGeom prst="roundRect">
            <a:avLst>
              <a:gd name="adj" fmla="val 2727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36F"/>
                </a:solidFill>
              </a:defRPr>
            </a:pPr>
            <a:r>
              <a:rPr sz="1050" b="0">
                <a:solidFill>
                  <a:srgbClr val="66736F"/>
                </a:solidFill>
              </a:rPr>
              <a:t>多张图片组成一份作业</a:t>
            </a:r>
            <a:endParaRPr sz="1050" b="0">
              <a:solidFill>
                <a:srgbClr val="66736F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2914650" y="2381250"/>
            <a:ext cx="1809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椭圆 14"/>
          <p:cNvSpPr>
            <a:spLocks noGrp="1"/>
          </p:cNvSpPr>
          <p:nvPr/>
        </p:nvSpPr>
        <p:spPr>
          <a:xfrm>
            <a:off x="3105150" y="2628900"/>
            <a:ext cx="419100" cy="419100"/>
          </a:xfrm>
          <a:prstGeom prst="ellipse">
            <a:avLst/>
          </a:prstGeom>
          <a:solidFill>
            <a:srgbClr val="10564A"/>
          </a:solidFill>
          <a:ln w="0">
            <a:noFill/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3105150" y="2655570"/>
            <a:ext cx="4191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3524250" y="2649855"/>
            <a:ext cx="1428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211F"/>
                </a:solidFill>
              </a:defRPr>
            </a:pPr>
            <a:r>
              <a:rPr sz="1575" b="1">
                <a:solidFill>
                  <a:srgbClr val="17211F"/>
                </a:solidFill>
              </a:rPr>
              <a:t>读取内容</a:t>
            </a:r>
            <a:endParaRPr sz="1575" b="1">
              <a:solidFill>
                <a:srgbClr val="17211F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3067050" y="3152775"/>
            <a:ext cx="1381125" cy="419100"/>
          </a:xfrm>
          <a:prstGeom prst="roundRect">
            <a:avLst>
              <a:gd name="adj" fmla="val 2727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36F"/>
                </a:solidFill>
              </a:defRPr>
            </a:pPr>
            <a:r>
              <a:rPr sz="1050" b="0">
                <a:solidFill>
                  <a:srgbClr val="66736F"/>
                </a:solidFill>
              </a:rPr>
              <a:t>多模态模型转写题干与步骤</a:t>
            </a:r>
            <a:endParaRPr sz="1050" b="0">
              <a:solidFill>
                <a:srgbClr val="66736F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5162550" y="2381250"/>
            <a:ext cx="1809750" cy="1809750"/>
          </a:xfrm>
          <a:prstGeom prst="roundRect">
            <a:avLst>
              <a:gd name="adj" fmla="val 6316"/>
            </a:avLst>
          </a:prstGeom>
          <a:solidFill>
            <a:srgbClr val="EAF2FA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椭圆 20"/>
          <p:cNvSpPr>
            <a:spLocks noGrp="1"/>
          </p:cNvSpPr>
          <p:nvPr/>
        </p:nvSpPr>
        <p:spPr>
          <a:xfrm>
            <a:off x="5353050" y="2628900"/>
            <a:ext cx="419100" cy="419100"/>
          </a:xfrm>
          <a:prstGeom prst="ellipse">
            <a:avLst/>
          </a:prstGeom>
          <a:solidFill>
            <a:srgbClr val="2B5F9B"/>
          </a:solidFill>
          <a:ln w="0">
            <a:noFill/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5353050" y="2667000"/>
            <a:ext cx="4191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5776595" y="2626995"/>
            <a:ext cx="1428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211F"/>
                </a:solidFill>
              </a:defRPr>
            </a:pPr>
            <a:r>
              <a:rPr sz="1575" b="1">
                <a:solidFill>
                  <a:srgbClr val="17211F"/>
                </a:solidFill>
              </a:rPr>
              <a:t>确认文本</a:t>
            </a:r>
            <a:endParaRPr sz="1575" b="1">
              <a:solidFill>
                <a:srgbClr val="17211F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5276850" y="3183255"/>
            <a:ext cx="1381125" cy="419100"/>
          </a:xfrm>
          <a:prstGeom prst="roundRect">
            <a:avLst>
              <a:gd name="adj" fmla="val 2727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36F"/>
                </a:solidFill>
              </a:defRPr>
            </a:pPr>
            <a:r>
              <a:rPr sz="1050" b="0">
                <a:solidFill>
                  <a:srgbClr val="66736F"/>
                </a:solidFill>
              </a:rPr>
              <a:t>用户校对，减少识别误差</a:t>
            </a:r>
            <a:endParaRPr sz="1050" b="0">
              <a:solidFill>
                <a:srgbClr val="66736F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7410450" y="2381250"/>
            <a:ext cx="1809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7" name="椭圆 26"/>
          <p:cNvSpPr>
            <a:spLocks noGrp="1"/>
          </p:cNvSpPr>
          <p:nvPr/>
        </p:nvSpPr>
        <p:spPr>
          <a:xfrm>
            <a:off x="7600950" y="2628900"/>
            <a:ext cx="419100" cy="419100"/>
          </a:xfrm>
          <a:prstGeom prst="ellipse">
            <a:avLst/>
          </a:prstGeom>
          <a:solidFill>
            <a:srgbClr val="10564A"/>
          </a:solidFill>
          <a:ln w="0">
            <a:noFill/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7600950" y="2644140"/>
            <a:ext cx="4191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8028940" y="2626995"/>
            <a:ext cx="1428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211F"/>
                </a:solidFill>
              </a:defRPr>
            </a:pPr>
            <a:r>
              <a:rPr sz="1575" b="1">
                <a:solidFill>
                  <a:srgbClr val="17211F"/>
                </a:solidFill>
              </a:rPr>
              <a:t>步骤评分</a:t>
            </a:r>
            <a:endParaRPr sz="1575" b="1">
              <a:solidFill>
                <a:srgbClr val="17211F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562850" y="3183255"/>
            <a:ext cx="1381125" cy="419100"/>
          </a:xfrm>
          <a:prstGeom prst="roundRect">
            <a:avLst>
              <a:gd name="adj" fmla="val 2727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36F"/>
                </a:solidFill>
              </a:defRPr>
            </a:pPr>
            <a:r>
              <a:rPr sz="1050" b="0">
                <a:solidFill>
                  <a:srgbClr val="66736F"/>
                </a:solidFill>
              </a:rPr>
              <a:t>量规 + LLM </a:t>
            </a:r>
            <a:endParaRPr sz="1050" b="0">
              <a:solidFill>
                <a:srgbClr val="66736F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9658350" y="2381250"/>
            <a:ext cx="1809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3" name="椭圆 32"/>
          <p:cNvSpPr>
            <a:spLocks noGrp="1"/>
          </p:cNvSpPr>
          <p:nvPr/>
        </p:nvSpPr>
        <p:spPr>
          <a:xfrm>
            <a:off x="9848850" y="2628900"/>
            <a:ext cx="419100" cy="419100"/>
          </a:xfrm>
          <a:prstGeom prst="ellipse">
            <a:avLst/>
          </a:prstGeom>
          <a:solidFill>
            <a:srgbClr val="10564A"/>
          </a:solidFill>
          <a:ln w="0">
            <a:noFill/>
            <a:prstDash val="solid"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9848850" y="2655570"/>
            <a:ext cx="4191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10260330" y="2626995"/>
            <a:ext cx="1428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211F"/>
                </a:solidFill>
              </a:defRPr>
            </a:pPr>
            <a:r>
              <a:rPr sz="1575" b="1">
                <a:solidFill>
                  <a:srgbClr val="17211F"/>
                </a:solidFill>
              </a:rPr>
              <a:t>归档复习</a:t>
            </a:r>
            <a:endParaRPr sz="1575" b="1">
              <a:solidFill>
                <a:srgbClr val="17211F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9813925" y="3182620"/>
            <a:ext cx="1381125" cy="419100"/>
          </a:xfrm>
          <a:prstGeom prst="roundRect">
            <a:avLst>
              <a:gd name="adj" fmla="val 2727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36F"/>
                </a:solidFill>
              </a:defRPr>
            </a:pPr>
            <a:r>
              <a:rPr sz="1050" b="0">
                <a:solidFill>
                  <a:srgbClr val="66736F"/>
                </a:solidFill>
              </a:rPr>
              <a:t>历史、收藏、错题本、报告</a:t>
            </a:r>
            <a:endParaRPr sz="1050" b="0">
              <a:solidFill>
                <a:srgbClr val="66736F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2000250" y="4810125"/>
            <a:ext cx="81915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8" name="圆角矩形 37"/>
          <p:cNvSpPr>
            <a:spLocks noGrp="1"/>
          </p:cNvSpPr>
          <p:nvPr/>
        </p:nvSpPr>
        <p:spPr>
          <a:xfrm>
            <a:off x="2266950" y="5040630"/>
            <a:ext cx="1524000" cy="247650"/>
          </a:xfrm>
          <a:prstGeom prst="roundRect">
            <a:avLst>
              <a:gd name="adj" fmla="val 4615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564A"/>
                </a:solidFill>
              </a:defRPr>
            </a:pPr>
            <a:r>
              <a:rPr sz="1350" b="1">
                <a:solidFill>
                  <a:srgbClr val="10564A"/>
                </a:solidFill>
              </a:rPr>
              <a:t>交互取舍</a:t>
            </a:r>
            <a:endParaRPr sz="1350" b="1">
              <a:solidFill>
                <a:srgbClr val="10564A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3356610" y="5025390"/>
            <a:ext cx="6986270" cy="304800"/>
          </a:xfrm>
          <a:prstGeom prst="roundRect">
            <a:avLst>
              <a:gd name="adj" fmla="val 375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11F"/>
                </a:solidFill>
              </a:defRPr>
            </a:pPr>
            <a:r>
              <a:rPr sz="1500" b="0">
                <a:solidFill>
                  <a:srgbClr val="17211F"/>
                </a:solidFill>
              </a:rPr>
              <a:t>把复杂能力按阶段展开：上传前不出现校对和评分，用户只需要完成当前任务。</a:t>
            </a:r>
            <a:endParaRPr sz="1500" b="0">
              <a:solidFill>
                <a:srgbClr val="17211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09600" y="304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r>
              <a:rPr sz="975" b="1">
                <a:solidFill>
                  <a:srgbClr val="2B5F9B"/>
                </a:solidFill>
              </a:rPr>
              <a:t>04 / 工程架构</a:t>
            </a:r>
            <a:endParaRPr sz="975" b="1">
              <a:solidFill>
                <a:srgbClr val="2B5F9B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628650"/>
            <a:ext cx="723900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211F"/>
                </a:solidFill>
              </a:defRPr>
            </a:pPr>
            <a:r>
              <a:rPr sz="2475" b="1">
                <a:solidFill>
                  <a:srgbClr val="17211F"/>
                </a:solidFill>
              </a:rPr>
              <a:t>系统架构：前后端 + 模型 + 数据留痕</a:t>
            </a:r>
            <a:endParaRPr sz="2475" b="1">
              <a:solidFill>
                <a:srgbClr val="17211F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104900"/>
            <a:ext cx="838200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36F"/>
                </a:solidFill>
              </a:defRPr>
            </a:pPr>
            <a:r>
              <a:rPr sz="1275" b="0">
                <a:solidFill>
                  <a:srgbClr val="66736F"/>
                </a:solidFill>
              </a:rPr>
              <a:t>依赖轻、可本地部署、模型失败可回退，诊断信息可追踪。</a:t>
            </a:r>
            <a:endParaRPr sz="1275" b="0">
              <a:solidFill>
                <a:srgbClr val="66736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00800"/>
            <a:ext cx="9620250" cy="14288"/>
          </a:xfrm>
          <a:prstGeom prst="rect">
            <a:avLst/>
          </a:prstGeom>
          <a:solidFill>
            <a:srgbClr val="DDE7E3"/>
          </a:solidFill>
          <a:ln w="0">
            <a:solidFill>
              <a:srgbClr val="DDE7E3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11191875" y="6438900"/>
            <a:ext cx="4000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4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66750" y="2047875"/>
            <a:ext cx="2333625" cy="195262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圆角矩形 8"/>
          <p:cNvSpPr>
            <a:spLocks noGrp="1"/>
          </p:cNvSpPr>
          <p:nvPr/>
        </p:nvSpPr>
        <p:spPr>
          <a:xfrm>
            <a:off x="876300" y="2276475"/>
            <a:ext cx="1390650" cy="323850"/>
          </a:xfrm>
          <a:prstGeom prst="roundRect">
            <a:avLst>
              <a:gd name="adj" fmla="val 50000"/>
            </a:avLst>
          </a:prstGeom>
          <a:solidFill>
            <a:srgbClr val="EAF2FA"/>
          </a:solidFill>
          <a:ln w="0">
            <a:solidFill>
              <a:srgbClr val="EAF2F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64870" y="2287905"/>
            <a:ext cx="139065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B5F9B"/>
                </a:solidFill>
              </a:defRPr>
            </a:pPr>
            <a:r>
              <a:rPr sz="975" b="1">
                <a:solidFill>
                  <a:srgbClr val="2B5F9B"/>
                </a:solidFill>
              </a:rPr>
              <a:t>前端应用</a:t>
            </a:r>
            <a:endParaRPr sz="975" b="1">
              <a:solidFill>
                <a:srgbClr val="2B5F9B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89305" y="2794635"/>
            <a:ext cx="2211705" cy="819150"/>
          </a:xfrm>
          <a:prstGeom prst="roundRect">
            <a:avLst>
              <a:gd name="adj" fmla="val 139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11F"/>
                </a:solidFill>
              </a:defRPr>
            </a:pPr>
            <a:r>
              <a:rPr sz="1350" b="0">
                <a:solidFill>
                  <a:srgbClr val="17211F"/>
                </a:solidFill>
              </a:rPr>
              <a:t>static/index.html</a:t>
            </a:r>
            <a:endParaRPr sz="1350" b="0">
              <a:solidFill>
                <a:srgbClr val="17211F"/>
              </a:solidFill>
            </a:endParaRPr>
          </a:p>
          <a:p>
            <a:pPr algn="l">
              <a:defRPr sz="1350" b="0">
                <a:solidFill>
                  <a:srgbClr val="17211F"/>
                </a:solidFill>
              </a:defRPr>
            </a:pPr>
            <a:r>
              <a:rPr sz="1350" b="0">
                <a:solidFill>
                  <a:srgbClr val="17211F"/>
                </a:solidFill>
              </a:rPr>
              <a:t>static/app.js</a:t>
            </a:r>
            <a:endParaRPr sz="1350" b="0">
              <a:solidFill>
                <a:srgbClr val="17211F"/>
              </a:solidFill>
            </a:endParaRPr>
          </a:p>
          <a:p>
            <a:pPr algn="l">
              <a:defRPr sz="1350" b="0">
                <a:solidFill>
                  <a:srgbClr val="17211F"/>
                </a:solidFill>
              </a:defRPr>
            </a:pPr>
            <a:r>
              <a:rPr sz="1350" b="0">
                <a:solidFill>
                  <a:srgbClr val="17211F"/>
                </a:solidFill>
              </a:rPr>
              <a:t>KaTeX 渲染 / 多页面路由</a:t>
            </a:r>
            <a:endParaRPr sz="1350" b="0">
              <a:solidFill>
                <a:srgbClr val="17211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381375" y="2047875"/>
            <a:ext cx="2333625" cy="195262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圆角矩形 12"/>
          <p:cNvSpPr>
            <a:spLocks noGrp="1"/>
          </p:cNvSpPr>
          <p:nvPr/>
        </p:nvSpPr>
        <p:spPr>
          <a:xfrm>
            <a:off x="3590925" y="2276475"/>
            <a:ext cx="1390650" cy="323850"/>
          </a:xfrm>
          <a:prstGeom prst="roundRect">
            <a:avLst>
              <a:gd name="adj" fmla="val 50000"/>
            </a:avLst>
          </a:prstGeom>
          <a:solidFill>
            <a:srgbClr val="E4F2ED"/>
          </a:solidFill>
          <a:ln w="0">
            <a:solidFill>
              <a:srgbClr val="E4F2ED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3602355" y="2276475"/>
            <a:ext cx="139065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0564A"/>
                </a:solidFill>
              </a:defRPr>
            </a:pPr>
            <a:r>
              <a:rPr sz="975" b="1">
                <a:solidFill>
                  <a:srgbClr val="10564A"/>
                </a:solidFill>
              </a:rPr>
              <a:t>FastAPI 服务层</a:t>
            </a:r>
            <a:endParaRPr sz="975" b="1">
              <a:solidFill>
                <a:srgbClr val="10564A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3538855" y="2828925"/>
            <a:ext cx="2127250" cy="819150"/>
          </a:xfrm>
          <a:prstGeom prst="roundRect">
            <a:avLst>
              <a:gd name="adj" fmla="val 139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11F"/>
                </a:solidFill>
              </a:defRPr>
            </a:pPr>
            <a:r>
              <a:rPr sz="1350" b="0">
                <a:solidFill>
                  <a:srgbClr val="17211F"/>
                </a:solidFill>
              </a:rPr>
              <a:t>认证 / 上传 / OCR / 评分</a:t>
            </a:r>
            <a:endParaRPr sz="1350" b="0">
              <a:solidFill>
                <a:srgbClr val="17211F"/>
              </a:solidFill>
            </a:endParaRPr>
          </a:p>
          <a:p>
            <a:pPr algn="l">
              <a:defRPr sz="1350" b="0">
                <a:solidFill>
                  <a:srgbClr val="17211F"/>
                </a:solidFill>
              </a:defRPr>
            </a:pPr>
            <a:r>
              <a:rPr sz="1350" b="0">
                <a:solidFill>
                  <a:srgbClr val="17211F"/>
                </a:solidFill>
              </a:rPr>
              <a:t>历史 / 收藏 / 错题 / 后台</a:t>
            </a:r>
            <a:endParaRPr sz="1350" b="0">
              <a:solidFill>
                <a:srgbClr val="1721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096000" y="2047875"/>
            <a:ext cx="2333625" cy="195262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圆角矩形 16"/>
          <p:cNvSpPr>
            <a:spLocks noGrp="1"/>
          </p:cNvSpPr>
          <p:nvPr/>
        </p:nvSpPr>
        <p:spPr>
          <a:xfrm>
            <a:off x="6305550" y="2276475"/>
            <a:ext cx="1390650" cy="323850"/>
          </a:xfrm>
          <a:prstGeom prst="roundRect">
            <a:avLst>
              <a:gd name="adj" fmla="val 50000"/>
            </a:avLst>
          </a:prstGeom>
          <a:solidFill>
            <a:srgbClr val="FFF2DE"/>
          </a:solidFill>
          <a:ln w="0">
            <a:solidFill>
              <a:srgbClr val="FFF2DE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6316980" y="2287905"/>
            <a:ext cx="139065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D98C24"/>
                </a:solidFill>
              </a:defRPr>
            </a:pPr>
            <a:r>
              <a:rPr sz="975" b="1">
                <a:solidFill>
                  <a:srgbClr val="D98C24"/>
                </a:solidFill>
              </a:rPr>
              <a:t>模型能力</a:t>
            </a:r>
            <a:endParaRPr sz="975" b="1">
              <a:solidFill>
                <a:srgbClr val="D98C24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324600" y="2828925"/>
            <a:ext cx="1809750" cy="819150"/>
          </a:xfrm>
          <a:prstGeom prst="roundRect">
            <a:avLst>
              <a:gd name="adj" fmla="val 139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11F"/>
                </a:solidFill>
              </a:defRPr>
            </a:pPr>
            <a:r>
              <a:rPr sz="1350" b="0">
                <a:solidFill>
                  <a:srgbClr val="17211F"/>
                </a:solidFill>
              </a:rPr>
              <a:t>多模态读取</a:t>
            </a:r>
            <a:endParaRPr sz="1350" b="0">
              <a:solidFill>
                <a:srgbClr val="17211F"/>
              </a:solidFill>
            </a:endParaRPr>
          </a:p>
          <a:p>
            <a:pPr algn="l">
              <a:defRPr sz="1350" b="0">
                <a:solidFill>
                  <a:srgbClr val="17211F"/>
                </a:solidFill>
              </a:defRPr>
            </a:pPr>
            <a:r>
              <a:rPr sz="1350" b="0">
                <a:solidFill>
                  <a:srgbClr val="17211F"/>
                </a:solidFill>
              </a:rPr>
              <a:t>文本推理评分</a:t>
            </a:r>
            <a:endParaRPr sz="1350" b="0">
              <a:solidFill>
                <a:srgbClr val="17211F"/>
              </a:solidFill>
            </a:endParaRPr>
          </a:p>
          <a:p>
            <a:pPr algn="l">
              <a:defRPr sz="1350" b="0">
                <a:solidFill>
                  <a:srgbClr val="17211F"/>
                </a:solidFill>
              </a:defRPr>
            </a:pPr>
            <a:r>
              <a:rPr sz="1350" b="0">
                <a:solidFill>
                  <a:srgbClr val="17211F"/>
                </a:solidFill>
              </a:rPr>
              <a:t>报告生成</a:t>
            </a:r>
            <a:endParaRPr sz="1350" b="0">
              <a:solidFill>
                <a:srgbClr val="17211F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810625" y="2047875"/>
            <a:ext cx="2333625" cy="195262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圆角矩形 20"/>
          <p:cNvSpPr>
            <a:spLocks noGrp="1"/>
          </p:cNvSpPr>
          <p:nvPr/>
        </p:nvSpPr>
        <p:spPr>
          <a:xfrm>
            <a:off x="9020175" y="2276475"/>
            <a:ext cx="1390650" cy="323850"/>
          </a:xfrm>
          <a:prstGeom prst="roundRect">
            <a:avLst>
              <a:gd name="adj" fmla="val 50000"/>
            </a:avLst>
          </a:prstGeom>
          <a:solidFill>
            <a:srgbClr val="E4F2ED"/>
          </a:solidFill>
          <a:ln w="0">
            <a:solidFill>
              <a:srgbClr val="E4F2ED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9020175" y="2287905"/>
            <a:ext cx="1390650" cy="1905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96D5B"/>
                </a:solidFill>
              </a:defRPr>
            </a:pPr>
            <a:r>
              <a:rPr sz="975" b="1">
                <a:solidFill>
                  <a:srgbClr val="196D5B"/>
                </a:solidFill>
              </a:rPr>
              <a:t>SQLite + 知识图谱</a:t>
            </a:r>
            <a:endParaRPr sz="975" b="1">
              <a:solidFill>
                <a:srgbClr val="196D5B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945245" y="2840355"/>
            <a:ext cx="2332990" cy="819150"/>
          </a:xfrm>
          <a:prstGeom prst="roundRect">
            <a:avLst>
              <a:gd name="adj" fmla="val 139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11F"/>
                </a:solidFill>
              </a:defRPr>
            </a:pPr>
            <a:r>
              <a:rPr sz="1350" b="0">
                <a:solidFill>
                  <a:srgbClr val="17211F"/>
                </a:solidFill>
              </a:rPr>
              <a:t>用户、记录、收藏、错题</a:t>
            </a:r>
            <a:endParaRPr sz="1350" b="0">
              <a:solidFill>
                <a:srgbClr val="17211F"/>
              </a:solidFill>
            </a:endParaRPr>
          </a:p>
          <a:p>
            <a:pPr algn="l">
              <a:defRPr sz="1350" b="0">
                <a:solidFill>
                  <a:srgbClr val="17211F"/>
                </a:solidFill>
              </a:defRPr>
            </a:pPr>
            <a:r>
              <a:rPr sz="1350" b="0">
                <a:solidFill>
                  <a:srgbClr val="17211F"/>
                </a:solidFill>
              </a:rPr>
              <a:t>失败日志、40 个知识点</a:t>
            </a:r>
            <a:endParaRPr sz="1350" b="0">
              <a:solidFill>
                <a:srgbClr val="17211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09600" y="304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r>
              <a:rPr sz="975" b="1">
                <a:solidFill>
                  <a:srgbClr val="2B5F9B"/>
                </a:solidFill>
              </a:rPr>
              <a:t>05 / 功能覆盖</a:t>
            </a:r>
            <a:endParaRPr sz="975" b="1">
              <a:solidFill>
                <a:srgbClr val="2B5F9B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628650"/>
            <a:ext cx="723900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211F"/>
                </a:solidFill>
              </a:defRPr>
            </a:pPr>
            <a:r>
              <a:rPr sz="2475" b="1">
                <a:solidFill>
                  <a:srgbClr val="17211F"/>
                </a:solidFill>
              </a:rPr>
              <a:t>已实现的产品能力</a:t>
            </a:r>
            <a:endParaRPr sz="2475" b="1">
              <a:solidFill>
                <a:srgbClr val="17211F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104900"/>
            <a:ext cx="838200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36F"/>
                </a:solidFill>
              </a:defRPr>
            </a:pPr>
            <a:r>
              <a:rPr sz="1275" b="0">
                <a:solidFill>
                  <a:srgbClr val="66736F"/>
                </a:solidFill>
              </a:rPr>
              <a:t>用户端与后台分离，普通学生不接触管理能力。</a:t>
            </a:r>
            <a:endParaRPr sz="1275" b="0">
              <a:solidFill>
                <a:srgbClr val="66736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00800"/>
            <a:ext cx="9620250" cy="14288"/>
          </a:xfrm>
          <a:prstGeom prst="rect">
            <a:avLst/>
          </a:prstGeom>
          <a:solidFill>
            <a:srgbClr val="DDE7E3"/>
          </a:solidFill>
          <a:ln w="0">
            <a:solidFill>
              <a:srgbClr val="DDE7E3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11191875" y="6438900"/>
            <a:ext cx="4000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5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81050" y="1762125"/>
            <a:ext cx="4953000" cy="36195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圆角矩形 8"/>
          <p:cNvSpPr>
            <a:spLocks noGrp="1"/>
          </p:cNvSpPr>
          <p:nvPr/>
        </p:nvSpPr>
        <p:spPr>
          <a:xfrm>
            <a:off x="6457950" y="1762125"/>
            <a:ext cx="4953000" cy="3619500"/>
          </a:xfrm>
          <a:prstGeom prst="roundRect">
            <a:avLst>
              <a:gd name="adj" fmla="val 3158"/>
            </a:avLst>
          </a:prstGeom>
          <a:solidFill>
            <a:srgbClr val="FBFCFC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圆角矩形 9"/>
          <p:cNvSpPr>
            <a:spLocks noGrp="1"/>
          </p:cNvSpPr>
          <p:nvPr/>
        </p:nvSpPr>
        <p:spPr>
          <a:xfrm>
            <a:off x="1123950" y="2095500"/>
            <a:ext cx="171450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0564A"/>
                </a:solidFill>
              </a:defRPr>
            </a:pPr>
            <a:r>
              <a:rPr sz="2025" b="1">
                <a:solidFill>
                  <a:srgbClr val="10564A"/>
                </a:solidFill>
              </a:rPr>
              <a:t>学生端</a:t>
            </a:r>
            <a:endParaRPr sz="2025" b="1">
              <a:solidFill>
                <a:srgbClr val="10564A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800850" y="2095500"/>
            <a:ext cx="209550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2B5F9B"/>
                </a:solidFill>
              </a:defRPr>
            </a:pPr>
            <a:r>
              <a:rPr sz="2025" b="1">
                <a:solidFill>
                  <a:srgbClr val="2B5F9B"/>
                </a:solidFill>
              </a:rPr>
              <a:t>教师 / 后台</a:t>
            </a:r>
            <a:endParaRPr sz="2025" b="1">
              <a:solidFill>
                <a:srgbClr val="2B5F9B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43000" y="2667000"/>
            <a:ext cx="3810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11F"/>
                </a:solidFill>
              </a:defRPr>
            </a:pPr>
            <a:r>
              <a:rPr sz="1500" b="0">
                <a:solidFill>
                  <a:srgbClr val="17211F"/>
                </a:solidFill>
              </a:rPr>
              <a:t>✓ 作业图片上传与文本通道</a:t>
            </a:r>
            <a:endParaRPr sz="1500" b="0">
              <a:solidFill>
                <a:srgbClr val="17211F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143000" y="3124200"/>
            <a:ext cx="3810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11F"/>
                </a:solidFill>
              </a:defRPr>
            </a:pPr>
            <a:r>
              <a:rPr sz="1500" b="0">
                <a:solidFill>
                  <a:srgbClr val="17211F"/>
                </a:solidFill>
              </a:rPr>
              <a:t>✓ 读取后校对、确认后评分</a:t>
            </a:r>
            <a:endParaRPr sz="1500" b="0">
              <a:solidFill>
                <a:srgbClr val="17211F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143000" y="3581400"/>
            <a:ext cx="3810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11F"/>
                </a:solidFill>
              </a:defRPr>
            </a:pPr>
            <a:r>
              <a:rPr sz="1500" b="0">
                <a:solidFill>
                  <a:srgbClr val="17211F"/>
                </a:solidFill>
              </a:rPr>
              <a:t>✓ 总分、逐步得分、反馈与报告</a:t>
            </a:r>
            <a:endParaRPr sz="1500" b="0">
              <a:solidFill>
                <a:srgbClr val="17211F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143000" y="4038600"/>
            <a:ext cx="3810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11F"/>
                </a:solidFill>
              </a:defRPr>
            </a:pPr>
            <a:r>
              <a:rPr sz="1500" b="0">
                <a:solidFill>
                  <a:srgbClr val="17211F"/>
                </a:solidFill>
              </a:rPr>
              <a:t>✓ 历史恢复、收藏作业、错题本</a:t>
            </a:r>
            <a:endParaRPr sz="1500" b="0">
              <a:solidFill>
                <a:srgbClr val="1721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143000" y="4495800"/>
            <a:ext cx="3810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11F"/>
                </a:solidFill>
              </a:defRPr>
            </a:pPr>
            <a:r>
              <a:rPr sz="1500" b="0">
                <a:solidFill>
                  <a:srgbClr val="17211F"/>
                </a:solidFill>
              </a:rPr>
              <a:t>✓ 知识点标签与掌握度接口</a:t>
            </a:r>
            <a:endParaRPr sz="1500" b="0">
              <a:solidFill>
                <a:srgbClr val="17211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819900" y="2667000"/>
            <a:ext cx="3810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11F"/>
                </a:solidFill>
              </a:defRPr>
            </a:pPr>
            <a:r>
              <a:rPr sz="1500" b="0">
                <a:solidFill>
                  <a:srgbClr val="17211F"/>
                </a:solidFill>
              </a:rPr>
              <a:t>✓ student / teacher 角色权限</a:t>
            </a:r>
            <a:endParaRPr sz="1500" b="0">
              <a:solidFill>
                <a:srgbClr val="17211F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819900" y="3124200"/>
            <a:ext cx="3810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11F"/>
                </a:solidFill>
              </a:defRPr>
            </a:pPr>
            <a:r>
              <a:rPr sz="1500" b="0">
                <a:solidFill>
                  <a:srgbClr val="17211F"/>
                </a:solidFill>
              </a:rPr>
              <a:t>✓ 用户列表与系统概览</a:t>
            </a:r>
            <a:endParaRPr sz="1500" b="0">
              <a:solidFill>
                <a:srgbClr val="17211F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819900" y="3581400"/>
            <a:ext cx="3810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11F"/>
                </a:solidFill>
              </a:defRPr>
            </a:pPr>
            <a:r>
              <a:rPr sz="1500" b="0">
                <a:solidFill>
                  <a:srgbClr val="17211F"/>
                </a:solidFill>
              </a:rPr>
              <a:t>✓ 知识图谱节点管理</a:t>
            </a:r>
            <a:endParaRPr sz="1500" b="0">
              <a:solidFill>
                <a:srgbClr val="17211F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819900" y="4038600"/>
            <a:ext cx="3810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11F"/>
                </a:solidFill>
              </a:defRPr>
            </a:pPr>
            <a:r>
              <a:rPr sz="1500" b="0">
                <a:solidFill>
                  <a:srgbClr val="17211F"/>
                </a:solidFill>
              </a:rPr>
              <a:t>✓ 模型失败日志与诊断</a:t>
            </a:r>
            <a:endParaRPr sz="1500" b="0">
              <a:solidFill>
                <a:srgbClr val="17211F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819900" y="4495800"/>
            <a:ext cx="3810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11F"/>
                </a:solidFill>
              </a:defRPr>
            </a:pPr>
            <a:r>
              <a:rPr sz="1500" b="0">
                <a:solidFill>
                  <a:srgbClr val="17211F"/>
                </a:solidFill>
              </a:rPr>
              <a:t>✓ 后续班级/作业管理入口</a:t>
            </a:r>
            <a:endParaRPr sz="1500" b="0">
              <a:solidFill>
                <a:srgbClr val="17211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09600" y="304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r>
              <a:rPr sz="975" b="1">
                <a:solidFill>
                  <a:srgbClr val="2B5F9B"/>
                </a:solidFill>
              </a:rPr>
              <a:t>06 / 评分策略</a:t>
            </a:r>
            <a:endParaRPr sz="975" b="1">
              <a:solidFill>
                <a:srgbClr val="2B5F9B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628650"/>
            <a:ext cx="723900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211F"/>
                </a:solidFill>
              </a:defRPr>
            </a:pPr>
            <a:r>
              <a:rPr sz="2475" b="1">
                <a:solidFill>
                  <a:srgbClr val="17211F"/>
                </a:solidFill>
              </a:rPr>
              <a:t>分步评分核心：有量规、有权重、有复核</a:t>
            </a:r>
            <a:endParaRPr sz="2475" b="1">
              <a:solidFill>
                <a:srgbClr val="17211F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104900"/>
            <a:ext cx="838200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36F"/>
                </a:solidFill>
              </a:defRPr>
            </a:pPr>
            <a:r>
              <a:rPr sz="1275" b="0">
                <a:solidFill>
                  <a:srgbClr val="66736F"/>
                </a:solidFill>
              </a:rPr>
              <a:t>明确判分口径，避免模型凭感觉给分。</a:t>
            </a:r>
            <a:endParaRPr sz="1275" b="0">
              <a:solidFill>
                <a:srgbClr val="66736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00800"/>
            <a:ext cx="9620250" cy="14288"/>
          </a:xfrm>
          <a:prstGeom prst="rect">
            <a:avLst/>
          </a:prstGeom>
          <a:solidFill>
            <a:srgbClr val="DDE7E3"/>
          </a:solidFill>
          <a:ln w="0">
            <a:solidFill>
              <a:srgbClr val="DDE7E3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11191875" y="6438900"/>
            <a:ext cx="4000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6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00100" y="1857375"/>
            <a:ext cx="49530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1857375"/>
            <a:ext cx="57150" cy="1333500"/>
          </a:xfrm>
          <a:prstGeom prst="roundRect">
            <a:avLst>
              <a:gd name="adj" fmla="val 50000"/>
            </a:avLst>
          </a:prstGeom>
          <a:solidFill>
            <a:srgbClr val="10564A"/>
          </a:solidFill>
          <a:ln w="0">
            <a:solidFill>
              <a:srgbClr val="10564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009650" y="2028825"/>
            <a:ext cx="45339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只评数学对错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009650" y="2428875"/>
            <a:ext cx="4533900" cy="590550"/>
          </a:xfrm>
          <a:prstGeom prst="roundRect">
            <a:avLst>
              <a:gd name="adj" fmla="val 19355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风格、跳步、表达简洁不直接扣分。</a:t>
            </a:r>
            <a:endParaRPr sz="1200" b="0">
              <a:solidFill>
                <a:srgbClr val="66736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457950" y="1857375"/>
            <a:ext cx="49530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圆角矩形 12"/>
          <p:cNvSpPr>
            <a:spLocks noGrp="1"/>
          </p:cNvSpPr>
          <p:nvPr/>
        </p:nvSpPr>
        <p:spPr>
          <a:xfrm>
            <a:off x="6457950" y="1857375"/>
            <a:ext cx="57150" cy="1333500"/>
          </a:xfrm>
          <a:prstGeom prst="roundRect">
            <a:avLst>
              <a:gd name="adj" fmla="val 50000"/>
            </a:avLst>
          </a:prstGeom>
          <a:solidFill>
            <a:srgbClr val="10564A"/>
          </a:solidFill>
          <a:ln w="0">
            <a:solidFill>
              <a:srgbClr val="10564A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6667500" y="2028825"/>
            <a:ext cx="45339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局部错误局部扣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667500" y="2428875"/>
            <a:ext cx="4533900" cy="590550"/>
          </a:xfrm>
          <a:prstGeom prst="roundRect">
            <a:avLst>
              <a:gd name="adj" fmla="val 19355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数字、正负号、变量替换按小错处理。</a:t>
            </a:r>
            <a:endParaRPr sz="1200" b="0">
              <a:solidFill>
                <a:srgbClr val="66736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00100" y="3714750"/>
            <a:ext cx="49530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0100" y="3714750"/>
            <a:ext cx="57150" cy="133350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 w="0">
            <a:solidFill>
              <a:srgbClr val="B42318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1009650" y="3886200"/>
            <a:ext cx="45339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方法错误重扣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009650" y="4286250"/>
            <a:ext cx="4533900" cy="590550"/>
          </a:xfrm>
          <a:prstGeom prst="roundRect">
            <a:avLst>
              <a:gd name="adj" fmla="val 19355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公式记错、推导方向错误才大幅扣分。</a:t>
            </a:r>
            <a:endParaRPr sz="1200" b="0">
              <a:solidFill>
                <a:srgbClr val="66736F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457950" y="3714750"/>
            <a:ext cx="49530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圆角矩形 20"/>
          <p:cNvSpPr>
            <a:spLocks noGrp="1"/>
          </p:cNvSpPr>
          <p:nvPr/>
        </p:nvSpPr>
        <p:spPr>
          <a:xfrm>
            <a:off x="6457950" y="3714750"/>
            <a:ext cx="57150" cy="1333500"/>
          </a:xfrm>
          <a:prstGeom prst="roundRect">
            <a:avLst>
              <a:gd name="adj" fmla="val 50000"/>
            </a:avLst>
          </a:prstGeom>
          <a:solidFill>
            <a:srgbClr val="10564A"/>
          </a:solidFill>
          <a:ln w="0">
            <a:solidFill>
              <a:srgbClr val="10564A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6667500" y="3886200"/>
            <a:ext cx="45339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连锁不重复罚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667500" y="4286250"/>
            <a:ext cx="4533900" cy="590550"/>
          </a:xfrm>
          <a:prstGeom prst="roundRect">
            <a:avLst>
              <a:gd name="adj" fmla="val 19355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根错误已扣，后续沿用不重复重罚。</a:t>
            </a:r>
            <a:endParaRPr sz="1200" b="0">
              <a:solidFill>
                <a:srgbClr val="66736F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2571750" y="5476875"/>
            <a:ext cx="7048500" cy="533400"/>
          </a:xfrm>
          <a:prstGeom prst="roundRect">
            <a:avLst>
              <a:gd name="adj" fmla="val 21429"/>
            </a:avLst>
          </a:prstGeom>
          <a:solidFill>
            <a:srgbClr val="E4F2ED"/>
          </a:solidFill>
          <a:ln w="9525">
            <a:solidFill>
              <a:srgbClr val="CFE5D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5" name="圆角矩形 24"/>
          <p:cNvSpPr>
            <a:spLocks noGrp="1"/>
          </p:cNvSpPr>
          <p:nvPr/>
        </p:nvSpPr>
        <p:spPr>
          <a:xfrm>
            <a:off x="2800350" y="5581650"/>
            <a:ext cx="65722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564A"/>
                </a:solidFill>
              </a:defRPr>
            </a:pPr>
            <a:r>
              <a:rPr sz="1350" b="1">
                <a:solidFill>
                  <a:srgbClr val="10564A"/>
                </a:solidFill>
              </a:rPr>
              <a:t>评分口径：正确满分；计算小错约 80%；方法错低分；总分按 0.5 分粒度归整。</a:t>
            </a:r>
            <a:endParaRPr sz="1350" b="1">
              <a:solidFill>
                <a:srgbClr val="10564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09600" y="304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r>
              <a:rPr sz="975" b="1">
                <a:solidFill>
                  <a:srgbClr val="2B5F9B"/>
                </a:solidFill>
              </a:rPr>
              <a:t>07 / 量化评测</a:t>
            </a:r>
            <a:endParaRPr sz="975" b="1">
              <a:solidFill>
                <a:srgbClr val="2B5F9B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628650"/>
            <a:ext cx="723900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211F"/>
                </a:solidFill>
              </a:defRPr>
            </a:pPr>
            <a:r>
              <a:rPr sz="2475" b="1">
                <a:solidFill>
                  <a:srgbClr val="17211F"/>
                </a:solidFill>
              </a:rPr>
              <a:t>评分评测：先证明“能判错且少误杀”</a:t>
            </a:r>
            <a:endParaRPr sz="2475" b="1">
              <a:solidFill>
                <a:srgbClr val="17211F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104900"/>
            <a:ext cx="838200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36F"/>
                </a:solidFill>
              </a:defRPr>
            </a:pPr>
            <a:r>
              <a:rPr sz="1275" b="0">
                <a:solidFill>
                  <a:srgbClr val="66736F"/>
                </a:solidFill>
              </a:rPr>
              <a:t>如果系统把正确步骤也判错，就无法用于教学。</a:t>
            </a:r>
            <a:endParaRPr sz="1275" b="0">
              <a:solidFill>
                <a:srgbClr val="66736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00800"/>
            <a:ext cx="9620250" cy="14288"/>
          </a:xfrm>
          <a:prstGeom prst="rect">
            <a:avLst/>
          </a:prstGeom>
          <a:solidFill>
            <a:srgbClr val="DDE7E3"/>
          </a:solidFill>
          <a:ln w="0">
            <a:solidFill>
              <a:srgbClr val="DDE7E3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11191875" y="6438900"/>
            <a:ext cx="4000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7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23900" y="1952625"/>
            <a:ext cx="2095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圆角矩形 8"/>
          <p:cNvSpPr>
            <a:spLocks noGrp="1"/>
          </p:cNvSpPr>
          <p:nvPr/>
        </p:nvSpPr>
        <p:spPr>
          <a:xfrm>
            <a:off x="914400" y="2124075"/>
            <a:ext cx="171450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564A"/>
                </a:solidFill>
              </a:defRPr>
            </a:pPr>
            <a:r>
              <a:rPr sz="3150" b="1">
                <a:solidFill>
                  <a:srgbClr val="10564A"/>
                </a:solidFill>
              </a:rPr>
              <a:t>200</a:t>
            </a:r>
            <a:endParaRPr sz="3150" b="1">
              <a:solidFill>
                <a:srgbClr val="10564A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676525"/>
            <a:ext cx="1714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11F"/>
                </a:solidFill>
              </a:defRPr>
            </a:pPr>
            <a:r>
              <a:rPr sz="1350" b="1">
                <a:solidFill>
                  <a:srgbClr val="17211F"/>
                </a:solidFill>
              </a:rPr>
              <a:t>MATH 文本题</a:t>
            </a:r>
            <a:endParaRPr sz="1350" b="1">
              <a:solidFill>
                <a:srgbClr val="17211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914400" y="2981325"/>
            <a:ext cx="17145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人工注入错误 + 对照组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105150" y="1952625"/>
            <a:ext cx="2095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圆角矩形 12"/>
          <p:cNvSpPr>
            <a:spLocks noGrp="1"/>
          </p:cNvSpPr>
          <p:nvPr/>
        </p:nvSpPr>
        <p:spPr>
          <a:xfrm>
            <a:off x="3295650" y="2124075"/>
            <a:ext cx="171450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B5F9B"/>
                </a:solidFill>
              </a:defRPr>
            </a:pPr>
            <a:r>
              <a:rPr sz="3150" b="1">
                <a:solidFill>
                  <a:srgbClr val="2B5F9B"/>
                </a:solidFill>
              </a:rPr>
              <a:t>191</a:t>
            </a:r>
            <a:endParaRPr sz="3150" b="1">
              <a:solidFill>
                <a:srgbClr val="2B5F9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295650" y="2676525"/>
            <a:ext cx="1714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11F"/>
                </a:solidFill>
              </a:defRPr>
            </a:pPr>
            <a:r>
              <a:rPr sz="1350" b="1">
                <a:solidFill>
                  <a:srgbClr val="17211F"/>
                </a:solidFill>
              </a:rPr>
              <a:t>对照组步骤</a:t>
            </a:r>
            <a:endParaRPr sz="1350" b="1">
              <a:solidFill>
                <a:srgbClr val="17211F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3295650" y="2981325"/>
            <a:ext cx="17145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要求正确步骤不被误判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5486400" y="1952625"/>
            <a:ext cx="2095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圆角矩形 16"/>
          <p:cNvSpPr>
            <a:spLocks noGrp="1"/>
          </p:cNvSpPr>
          <p:nvPr/>
        </p:nvSpPr>
        <p:spPr>
          <a:xfrm>
            <a:off x="5676900" y="2124075"/>
            <a:ext cx="171450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D98C24"/>
                </a:solidFill>
              </a:defRPr>
            </a:pPr>
            <a:r>
              <a:rPr sz="3150" b="1">
                <a:solidFill>
                  <a:srgbClr val="D98C24"/>
                </a:solidFill>
              </a:rPr>
              <a:t>4 类</a:t>
            </a:r>
            <a:endParaRPr sz="3150" b="1">
              <a:solidFill>
                <a:srgbClr val="D98C24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5676900" y="2676525"/>
            <a:ext cx="1714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11F"/>
                </a:solidFill>
              </a:defRPr>
            </a:pPr>
            <a:r>
              <a:rPr sz="1350" b="1">
                <a:solidFill>
                  <a:srgbClr val="17211F"/>
                </a:solidFill>
              </a:rPr>
              <a:t>错误类型</a:t>
            </a:r>
            <a:endParaRPr sz="1350" b="1">
              <a:solidFill>
                <a:srgbClr val="17211F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676900" y="2947035"/>
            <a:ext cx="17145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insert / numeric / sign / variable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867650" y="1952625"/>
            <a:ext cx="2095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圆角矩形 20"/>
          <p:cNvSpPr>
            <a:spLocks noGrp="1"/>
          </p:cNvSpPr>
          <p:nvPr/>
        </p:nvSpPr>
        <p:spPr>
          <a:xfrm>
            <a:off x="8058150" y="2124075"/>
            <a:ext cx="171450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96D5B"/>
                </a:solidFill>
              </a:defRPr>
            </a:pPr>
            <a:r>
              <a:rPr sz="3150" b="1">
                <a:solidFill>
                  <a:srgbClr val="196D5B"/>
                </a:solidFill>
              </a:rPr>
              <a:t>F1</a:t>
            </a:r>
            <a:endParaRPr sz="3150" b="1">
              <a:solidFill>
                <a:srgbClr val="196D5B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058150" y="2676525"/>
            <a:ext cx="1714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11F"/>
                </a:solidFill>
              </a:defRPr>
            </a:pPr>
            <a:r>
              <a:rPr sz="1350" b="1">
                <a:solidFill>
                  <a:srgbClr val="17211F"/>
                </a:solidFill>
              </a:rPr>
              <a:t>核心指标</a:t>
            </a:r>
            <a:endParaRPr sz="1350" b="1">
              <a:solidFill>
                <a:srgbClr val="17211F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058150" y="2981325"/>
            <a:ext cx="17145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Precision + Recall 平衡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476375" y="4095750"/>
            <a:ext cx="923925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5" name="圆角矩形 24"/>
          <p:cNvSpPr>
            <a:spLocks noGrp="1"/>
          </p:cNvSpPr>
          <p:nvPr/>
        </p:nvSpPr>
        <p:spPr>
          <a:xfrm>
            <a:off x="1857375" y="4381500"/>
            <a:ext cx="1143000" cy="247650"/>
          </a:xfrm>
          <a:prstGeom prst="roundRect">
            <a:avLst>
              <a:gd name="adj" fmla="val 4615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564A"/>
                </a:solidFill>
              </a:defRPr>
            </a:pPr>
            <a:r>
              <a:rPr sz="1500" b="1">
                <a:solidFill>
                  <a:srgbClr val="10564A"/>
                </a:solidFill>
              </a:rPr>
              <a:t>评测逻辑</a:t>
            </a:r>
            <a:endParaRPr sz="1500" b="1">
              <a:solidFill>
                <a:srgbClr val="10564A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3051810" y="4274820"/>
            <a:ext cx="6953250" cy="3429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211F"/>
                </a:solidFill>
              </a:defRPr>
            </a:pPr>
            <a:r>
              <a:rPr sz="1650" b="1">
                <a:solidFill>
                  <a:srgbClr val="17211F"/>
                </a:solidFill>
              </a:rPr>
              <a:t>召回错误很重要，但对照组误判同样重要：</a:t>
            </a:r>
            <a:endParaRPr sz="1650" b="1">
              <a:solidFill>
                <a:srgbClr val="17211F"/>
              </a:solidFill>
            </a:endParaRPr>
          </a:p>
          <a:p>
            <a:pPr algn="l">
              <a:defRPr sz="1650" b="1">
                <a:solidFill>
                  <a:srgbClr val="17211F"/>
                </a:solidFill>
              </a:defRPr>
            </a:pPr>
            <a:r>
              <a:rPr sz="1650" b="1">
                <a:solidFill>
                  <a:srgbClr val="17211F"/>
                </a:solidFill>
              </a:rPr>
              <a:t>教学评分宁可保守，也不能把正确步骤批成错误。</a:t>
            </a:r>
            <a:endParaRPr sz="1650" b="1">
              <a:solidFill>
                <a:srgbClr val="17211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09600" y="304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r>
              <a:rPr sz="975" b="1">
                <a:solidFill>
                  <a:srgbClr val="2B5F9B"/>
                </a:solidFill>
              </a:rPr>
              <a:t>08 / 评测结果</a:t>
            </a:r>
            <a:endParaRPr sz="975" b="1">
              <a:solidFill>
                <a:srgbClr val="2B5F9B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628650"/>
            <a:ext cx="723900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211F"/>
                </a:solidFill>
              </a:defRPr>
            </a:pPr>
            <a:r>
              <a:rPr sz="2475" b="1">
                <a:solidFill>
                  <a:srgbClr val="17211F"/>
                </a:solidFill>
              </a:rPr>
              <a:t>评分效果：从“高误判”到“可用”</a:t>
            </a:r>
            <a:endParaRPr sz="2475" b="1">
              <a:solidFill>
                <a:srgbClr val="17211F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104900"/>
            <a:ext cx="838200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36F"/>
                </a:solidFill>
              </a:defRPr>
            </a:pPr>
            <a:r>
              <a:rPr sz="1275" b="0">
                <a:solidFill>
                  <a:srgbClr val="66736F"/>
                </a:solidFill>
              </a:rPr>
              <a:t>v3 problem-level F1 达到 0.9306，对照组保持 0 误判。</a:t>
            </a:r>
            <a:endParaRPr sz="1275" b="0">
              <a:solidFill>
                <a:srgbClr val="66736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00800"/>
            <a:ext cx="9620250" cy="14288"/>
          </a:xfrm>
          <a:prstGeom prst="rect">
            <a:avLst/>
          </a:prstGeom>
          <a:solidFill>
            <a:srgbClr val="DDE7E3"/>
          </a:solidFill>
          <a:ln w="0">
            <a:solidFill>
              <a:srgbClr val="DDE7E3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6496050"/>
            <a:ext cx="6191250" cy="2095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6736F"/>
                </a:solidFill>
              </a:defRPr>
            </a:pPr>
            <a:r>
              <a:rPr sz="900" b="0">
                <a:solidFill>
                  <a:srgbClr val="66736F"/>
                </a:solidFill>
              </a:rPr>
              <a:t>工程实践课题 5 · 数学公式识别与作业解题步骤评分系统</a:t>
            </a:r>
            <a:endParaRPr sz="900" b="0">
              <a:solidFill>
                <a:srgbClr val="66736F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1191875" y="6438900"/>
            <a:ext cx="4000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8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42950" y="1809750"/>
            <a:ext cx="25717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圆角矩形 8"/>
          <p:cNvSpPr>
            <a:spLocks noGrp="1"/>
          </p:cNvSpPr>
          <p:nvPr/>
        </p:nvSpPr>
        <p:spPr>
          <a:xfrm>
            <a:off x="933450" y="1981200"/>
            <a:ext cx="219075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564A"/>
                </a:solidFill>
              </a:defRPr>
            </a:pPr>
            <a:r>
              <a:rPr sz="3150" b="1">
                <a:solidFill>
                  <a:srgbClr val="10564A"/>
                </a:solidFill>
              </a:rPr>
              <a:t>0.9306</a:t>
            </a:r>
            <a:endParaRPr sz="3150" b="1">
              <a:solidFill>
                <a:srgbClr val="10564A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33450" y="2533650"/>
            <a:ext cx="2190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11F"/>
                </a:solidFill>
              </a:defRPr>
            </a:pPr>
            <a:r>
              <a:rPr sz="1350" b="1">
                <a:solidFill>
                  <a:srgbClr val="17211F"/>
                </a:solidFill>
              </a:rPr>
              <a:t>v3 Problem-level F1</a:t>
            </a:r>
            <a:endParaRPr sz="1350" b="1">
              <a:solidFill>
                <a:srgbClr val="17211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933450" y="2838450"/>
            <a:ext cx="2190750" cy="381000"/>
          </a:xfrm>
          <a:prstGeom prst="roundRect">
            <a:avLst>
              <a:gd name="adj" fmla="val 3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Precision=1.00，Recall=0.8701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638550" y="1809750"/>
            <a:ext cx="25717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圆角矩形 12"/>
          <p:cNvSpPr>
            <a:spLocks noGrp="1"/>
          </p:cNvSpPr>
          <p:nvPr/>
        </p:nvSpPr>
        <p:spPr>
          <a:xfrm>
            <a:off x="3829050" y="1981200"/>
            <a:ext cx="219075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B5F9B"/>
                </a:solidFill>
              </a:defRPr>
            </a:pPr>
            <a:r>
              <a:rPr sz="3150" b="1">
                <a:solidFill>
                  <a:srgbClr val="2B5F9B"/>
                </a:solidFill>
              </a:rPr>
              <a:t>0</a:t>
            </a:r>
            <a:endParaRPr sz="3150" b="1">
              <a:solidFill>
                <a:srgbClr val="2B5F9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829050" y="2533650"/>
            <a:ext cx="2190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11F"/>
                </a:solidFill>
              </a:defRPr>
            </a:pPr>
            <a:r>
              <a:rPr sz="1350" b="1">
                <a:solidFill>
                  <a:srgbClr val="17211F"/>
                </a:solidFill>
              </a:rPr>
              <a:t>对照组误判</a:t>
            </a:r>
            <a:endParaRPr sz="1350" b="1">
              <a:solidFill>
                <a:srgbClr val="17211F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3829050" y="2838450"/>
            <a:ext cx="2190750" cy="381000"/>
          </a:xfrm>
          <a:prstGeom prst="roundRect">
            <a:avLst>
              <a:gd name="adj" fmla="val 3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46 题、191 步，step FPR=0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534150" y="1809750"/>
            <a:ext cx="25717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圆角矩形 16"/>
          <p:cNvSpPr>
            <a:spLocks noGrp="1"/>
          </p:cNvSpPr>
          <p:nvPr/>
        </p:nvSpPr>
        <p:spPr>
          <a:xfrm>
            <a:off x="6724650" y="1981200"/>
            <a:ext cx="219075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D98C24"/>
                </a:solidFill>
              </a:defRPr>
            </a:pPr>
            <a:r>
              <a:rPr sz="3150" b="1">
                <a:solidFill>
                  <a:srgbClr val="D98C24"/>
                </a:solidFill>
              </a:rPr>
              <a:t>+0.1842</a:t>
            </a:r>
            <a:endParaRPr sz="3150" b="1">
              <a:solidFill>
                <a:srgbClr val="D98C24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724650" y="2533650"/>
            <a:ext cx="21907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11F"/>
                </a:solidFill>
              </a:defRPr>
            </a:pPr>
            <a:r>
              <a:rPr sz="1350" b="1">
                <a:solidFill>
                  <a:srgbClr val="17211F"/>
                </a:solidFill>
              </a:rPr>
              <a:t>F1 提升</a:t>
            </a:r>
            <a:endParaRPr sz="1350" b="1">
              <a:solidFill>
                <a:srgbClr val="17211F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724650" y="2838450"/>
            <a:ext cx="2190750" cy="381000"/>
          </a:xfrm>
          <a:prstGeom prst="roundRect">
            <a:avLst>
              <a:gd name="adj" fmla="val 3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v2 0.9117 → v3 0.9306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38200" y="3857625"/>
            <a:ext cx="2095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问题级 F1 演进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38200" y="4305300"/>
            <a:ext cx="17145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7211F"/>
                </a:solidFill>
              </a:defRPr>
            </a:pPr>
            <a:r>
              <a:rPr sz="1125" b="1">
                <a:solidFill>
                  <a:srgbClr val="17211F"/>
                </a:solidFill>
              </a:rPr>
              <a:t>v1 基线</a:t>
            </a:r>
            <a:endParaRPr sz="1125" b="1">
              <a:solidFill>
                <a:srgbClr val="17211F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2647950" y="4333875"/>
            <a:ext cx="3143250" cy="171450"/>
          </a:xfrm>
          <a:prstGeom prst="roundRect">
            <a:avLst>
              <a:gd name="adj" fmla="val 50000"/>
            </a:avLst>
          </a:prstGeom>
          <a:solidFill>
            <a:srgbClr val="EDF2F0"/>
          </a:solidFill>
          <a:ln w="0">
            <a:solidFill>
              <a:srgbClr val="EDF2F0"/>
            </a:solidFill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2647950" y="4333875"/>
            <a:ext cx="1404090" cy="17145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 w="0">
            <a:solidFill>
              <a:srgbClr val="B42318"/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5905500" y="4295775"/>
            <a:ext cx="8572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44.7%</a:t>
            </a:r>
            <a:endParaRPr sz="1125" b="1">
              <a:solidFill>
                <a:srgbClr val="B42318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38200" y="4724400"/>
            <a:ext cx="17145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7211F"/>
                </a:solidFill>
              </a:defRPr>
            </a:pPr>
            <a:r>
              <a:rPr sz="1125" b="1">
                <a:solidFill>
                  <a:srgbClr val="17211F"/>
                </a:solidFill>
              </a:rPr>
              <a:t>v2 量规</a:t>
            </a:r>
            <a:endParaRPr sz="1125" b="1">
              <a:solidFill>
                <a:srgbClr val="17211F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2647950" y="4752975"/>
            <a:ext cx="3143250" cy="171450"/>
          </a:xfrm>
          <a:prstGeom prst="roundRect">
            <a:avLst>
              <a:gd name="adj" fmla="val 50000"/>
            </a:avLst>
          </a:prstGeom>
          <a:solidFill>
            <a:srgbClr val="EDF2F0"/>
          </a:solidFill>
          <a:ln w="0">
            <a:solidFill>
              <a:srgbClr val="EDF2F0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2647950" y="4752975"/>
            <a:ext cx="2865701" cy="171450"/>
          </a:xfrm>
          <a:prstGeom prst="roundRect">
            <a:avLst>
              <a:gd name="adj" fmla="val 50000"/>
            </a:avLst>
          </a:prstGeom>
          <a:solidFill>
            <a:srgbClr val="2B5F9B"/>
          </a:solidFill>
          <a:ln w="0">
            <a:solidFill>
              <a:srgbClr val="2B5F9B"/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5905500" y="4714875"/>
            <a:ext cx="8572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B5F9B"/>
                </a:solidFill>
              </a:defRPr>
            </a:pPr>
            <a:r>
              <a:rPr sz="1125" b="1">
                <a:solidFill>
                  <a:srgbClr val="2B5F9B"/>
                </a:solidFill>
              </a:rPr>
              <a:t>91.2%</a:t>
            </a:r>
            <a:endParaRPr sz="1125" b="1">
              <a:solidFill>
                <a:srgbClr val="2B5F9B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838200" y="5143500"/>
            <a:ext cx="17145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7211F"/>
                </a:solidFill>
              </a:defRPr>
            </a:pPr>
            <a:r>
              <a:rPr sz="1125" b="1">
                <a:solidFill>
                  <a:srgbClr val="17211F"/>
                </a:solidFill>
              </a:rPr>
              <a:t>v3 当前</a:t>
            </a:r>
            <a:endParaRPr sz="1125" b="1">
              <a:solidFill>
                <a:srgbClr val="17211F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2647950" y="5172075"/>
            <a:ext cx="3143250" cy="171450"/>
          </a:xfrm>
          <a:prstGeom prst="roundRect">
            <a:avLst>
              <a:gd name="adj" fmla="val 50000"/>
            </a:avLst>
          </a:prstGeom>
          <a:solidFill>
            <a:srgbClr val="EDF2F0"/>
          </a:solidFill>
          <a:ln w="0">
            <a:solidFill>
              <a:srgbClr val="EDF2F0"/>
            </a:solidFill>
            <a:prstDash val="solid"/>
          </a:ln>
        </p:spPr>
      </p:sp>
      <p:sp>
        <p:nvSpPr>
          <p:cNvPr id="31" name="圆角矩形 30"/>
          <p:cNvSpPr>
            <a:spLocks noGrp="1"/>
          </p:cNvSpPr>
          <p:nvPr/>
        </p:nvSpPr>
        <p:spPr>
          <a:xfrm>
            <a:off x="2647950" y="5172075"/>
            <a:ext cx="2925108" cy="171450"/>
          </a:xfrm>
          <a:prstGeom prst="roundRect">
            <a:avLst>
              <a:gd name="adj" fmla="val 50000"/>
            </a:avLst>
          </a:prstGeom>
          <a:solidFill>
            <a:srgbClr val="10564A"/>
          </a:solidFill>
          <a:ln w="0">
            <a:solidFill>
              <a:srgbClr val="10564A"/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5905500" y="5133975"/>
            <a:ext cx="8572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0564A"/>
                </a:solidFill>
              </a:defRPr>
            </a:pPr>
            <a:r>
              <a:rPr sz="1125" b="1">
                <a:solidFill>
                  <a:srgbClr val="10564A"/>
                </a:solidFill>
              </a:rPr>
              <a:t>93.1%</a:t>
            </a:r>
            <a:endParaRPr sz="1125" b="1">
              <a:solidFill>
                <a:srgbClr val="10564A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858000" y="3857625"/>
            <a:ext cx="2095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variable recall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6858000" y="4305300"/>
            <a:ext cx="17145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7211F"/>
                </a:solidFill>
              </a:defRPr>
            </a:pPr>
            <a:r>
              <a:rPr sz="1125" b="1">
                <a:solidFill>
                  <a:srgbClr val="17211F"/>
                </a:solidFill>
              </a:rPr>
              <a:t>v2</a:t>
            </a:r>
            <a:endParaRPr sz="1125" b="1">
              <a:solidFill>
                <a:srgbClr val="17211F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8667750" y="4333875"/>
            <a:ext cx="2381250" cy="171450"/>
          </a:xfrm>
          <a:prstGeom prst="roundRect">
            <a:avLst>
              <a:gd name="adj" fmla="val 50000"/>
            </a:avLst>
          </a:prstGeom>
          <a:solidFill>
            <a:srgbClr val="EDF2F0"/>
          </a:solidFill>
          <a:ln w="0">
            <a:solidFill>
              <a:srgbClr val="EDF2F0"/>
            </a:solidFill>
            <a:prstDash val="solid"/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8667750" y="4333875"/>
            <a:ext cx="1503997" cy="171450"/>
          </a:xfrm>
          <a:prstGeom prst="roundRect">
            <a:avLst>
              <a:gd name="adj" fmla="val 50000"/>
            </a:avLst>
          </a:prstGeom>
          <a:solidFill>
            <a:srgbClr val="D98C24"/>
          </a:solidFill>
          <a:ln w="0">
            <a:solidFill>
              <a:srgbClr val="D98C24"/>
            </a:solidFill>
            <a:prstDash val="solid"/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11163300" y="4295775"/>
            <a:ext cx="8572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D98C24"/>
                </a:solidFill>
              </a:defRPr>
            </a:pPr>
            <a:r>
              <a:rPr sz="1125" b="1">
                <a:solidFill>
                  <a:srgbClr val="D98C24"/>
                </a:solidFill>
              </a:rPr>
              <a:t>63.2%</a:t>
            </a:r>
            <a:endParaRPr sz="1125" b="1">
              <a:solidFill>
                <a:srgbClr val="D98C24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6858000" y="4724400"/>
            <a:ext cx="17145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7211F"/>
                </a:solidFill>
              </a:defRPr>
            </a:pPr>
            <a:r>
              <a:rPr sz="1125" b="1">
                <a:solidFill>
                  <a:srgbClr val="17211F"/>
                </a:solidFill>
              </a:rPr>
              <a:t>v3</a:t>
            </a:r>
            <a:endParaRPr sz="1125" b="1">
              <a:solidFill>
                <a:srgbClr val="17211F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8667750" y="4752975"/>
            <a:ext cx="2381250" cy="171450"/>
          </a:xfrm>
          <a:prstGeom prst="roundRect">
            <a:avLst>
              <a:gd name="adj" fmla="val 50000"/>
            </a:avLst>
          </a:prstGeom>
          <a:solidFill>
            <a:srgbClr val="EDF2F0"/>
          </a:solidFill>
          <a:ln w="0">
            <a:solidFill>
              <a:srgbClr val="EDF2F0"/>
            </a:solidFill>
            <a:prstDash val="solid"/>
          </a:ln>
        </p:spPr>
      </p:sp>
      <p:sp>
        <p:nvSpPr>
          <p:cNvPr id="40" name="圆角矩形 39"/>
          <p:cNvSpPr>
            <a:spLocks noGrp="1"/>
          </p:cNvSpPr>
          <p:nvPr/>
        </p:nvSpPr>
        <p:spPr>
          <a:xfrm>
            <a:off x="8667750" y="4752975"/>
            <a:ext cx="1942624" cy="171450"/>
          </a:xfrm>
          <a:prstGeom prst="roundRect">
            <a:avLst>
              <a:gd name="adj" fmla="val 50000"/>
            </a:avLst>
          </a:prstGeom>
          <a:solidFill>
            <a:srgbClr val="10564A"/>
          </a:solidFill>
          <a:ln w="0">
            <a:solidFill>
              <a:srgbClr val="10564A"/>
            </a:solidFill>
            <a:prstDash val="solid"/>
          </a:ln>
        </p:spPr>
      </p:sp>
      <p:sp>
        <p:nvSpPr>
          <p:cNvPr id="41" name="圆角矩形 40"/>
          <p:cNvSpPr>
            <a:spLocks noGrp="1"/>
          </p:cNvSpPr>
          <p:nvPr/>
        </p:nvSpPr>
        <p:spPr>
          <a:xfrm>
            <a:off x="11163300" y="4714875"/>
            <a:ext cx="8572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0564A"/>
                </a:solidFill>
              </a:defRPr>
            </a:pPr>
            <a:r>
              <a:rPr sz="1125" b="1">
                <a:solidFill>
                  <a:srgbClr val="10564A"/>
                </a:solidFill>
              </a:rPr>
              <a:t>81.6%</a:t>
            </a:r>
            <a:endParaRPr sz="1125" b="1">
              <a:solidFill>
                <a:srgbClr val="10564A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6858000" y="5238750"/>
            <a:ext cx="371475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736F"/>
                </a:solidFill>
              </a:defRPr>
            </a:pPr>
            <a:r>
              <a:rPr sz="1350" b="0">
                <a:solidFill>
                  <a:srgbClr val="66736F"/>
                </a:solidFill>
              </a:rPr>
              <a:t>结论：通过重写评分量规和变量一致性规则，系统由“容易误杀”转向“保守可信”。</a:t>
            </a:r>
            <a:endParaRPr sz="1350" b="0">
              <a:solidFill>
                <a:srgbClr val="66736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09600" y="304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r>
              <a:rPr sz="975" b="1">
                <a:solidFill>
                  <a:srgbClr val="2B5F9B"/>
                </a:solidFill>
              </a:rPr>
              <a:t>09 / OCR 评测</a:t>
            </a:r>
            <a:endParaRPr sz="975" b="1">
              <a:solidFill>
                <a:srgbClr val="2B5F9B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628650"/>
            <a:ext cx="723900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211F"/>
                </a:solidFill>
              </a:defRPr>
            </a:pPr>
            <a:r>
              <a:rPr sz="2475" b="1">
                <a:solidFill>
                  <a:srgbClr val="17211F"/>
                </a:solidFill>
              </a:rPr>
              <a:t>识别稳定，但仍需校对与容错</a:t>
            </a:r>
            <a:endParaRPr sz="2475" b="1">
              <a:solidFill>
                <a:srgbClr val="17211F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104900"/>
            <a:ext cx="838200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36F"/>
                </a:solidFill>
              </a:defRPr>
            </a:pPr>
            <a:r>
              <a:rPr sz="1275" b="0">
                <a:solidFill>
                  <a:srgbClr val="66736F"/>
                </a:solidFill>
              </a:rPr>
              <a:t>4 个数据集各 100 题，token-CER 越低越好。</a:t>
            </a:r>
            <a:endParaRPr sz="1275" b="0">
              <a:solidFill>
                <a:srgbClr val="66736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00800"/>
            <a:ext cx="9620250" cy="14288"/>
          </a:xfrm>
          <a:prstGeom prst="rect">
            <a:avLst/>
          </a:prstGeom>
          <a:solidFill>
            <a:srgbClr val="DDE7E3"/>
          </a:solidFill>
          <a:ln w="0">
            <a:solidFill>
              <a:srgbClr val="DDE7E3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11191875" y="6438900"/>
            <a:ext cx="4000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9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42950" y="1809750"/>
            <a:ext cx="24765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圆角矩形 8"/>
          <p:cNvSpPr>
            <a:spLocks noGrp="1"/>
          </p:cNvSpPr>
          <p:nvPr/>
        </p:nvSpPr>
        <p:spPr>
          <a:xfrm>
            <a:off x="933450" y="1981200"/>
            <a:ext cx="209550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B5F9B"/>
                </a:solidFill>
              </a:defRPr>
            </a:pPr>
            <a:r>
              <a:rPr sz="3150" b="1">
                <a:solidFill>
                  <a:srgbClr val="2B5F9B"/>
                </a:solidFill>
              </a:rPr>
              <a:t>0%</a:t>
            </a:r>
            <a:endParaRPr sz="3150" b="1">
              <a:solidFill>
                <a:srgbClr val="2B5F9B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33450" y="2533650"/>
            <a:ext cx="2095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11F"/>
                </a:solidFill>
              </a:defRPr>
            </a:pPr>
            <a:r>
              <a:rPr sz="1350" b="1">
                <a:solidFill>
                  <a:srgbClr val="17211F"/>
                </a:solidFill>
              </a:rPr>
              <a:t>API 失败率</a:t>
            </a:r>
            <a:endParaRPr sz="1350" b="1">
              <a:solidFill>
                <a:srgbClr val="17211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933450" y="2838450"/>
            <a:ext cx="2095500" cy="238125"/>
          </a:xfrm>
          <a:prstGeom prst="roundRect">
            <a:avLst>
              <a:gd name="adj" fmla="val 48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400 张图均无调用失败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524250" y="1809750"/>
            <a:ext cx="24765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圆角矩形 12"/>
          <p:cNvSpPr>
            <a:spLocks noGrp="1"/>
          </p:cNvSpPr>
          <p:nvPr/>
        </p:nvSpPr>
        <p:spPr>
          <a:xfrm>
            <a:off x="3714750" y="1981200"/>
            <a:ext cx="209550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D98C24"/>
                </a:solidFill>
              </a:defRPr>
            </a:pPr>
            <a:r>
              <a:rPr sz="3150" b="1">
                <a:solidFill>
                  <a:srgbClr val="D98C24"/>
                </a:solidFill>
              </a:rPr>
              <a:t>4%-14%</a:t>
            </a:r>
            <a:endParaRPr sz="3150" b="1">
              <a:solidFill>
                <a:srgbClr val="D98C24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714750" y="2533650"/>
            <a:ext cx="2095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11F"/>
                </a:solidFill>
              </a:defRPr>
            </a:pPr>
            <a:r>
              <a:rPr sz="1350" b="1">
                <a:solidFill>
                  <a:srgbClr val="17211F"/>
                </a:solidFill>
              </a:rPr>
              <a:t>完全匹配率</a:t>
            </a:r>
            <a:endParaRPr sz="1350" b="1">
              <a:solidFill>
                <a:srgbClr val="17211F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3714750" y="2838450"/>
            <a:ext cx="2095500" cy="238125"/>
          </a:xfrm>
          <a:prstGeom prst="roundRect">
            <a:avLst>
              <a:gd name="adj" fmla="val 48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说明不能追求全自动闭环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305550" y="1809750"/>
            <a:ext cx="24765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圆角矩形 16"/>
          <p:cNvSpPr>
            <a:spLocks noGrp="1"/>
          </p:cNvSpPr>
          <p:nvPr/>
        </p:nvSpPr>
        <p:spPr>
          <a:xfrm>
            <a:off x="6496050" y="1981200"/>
            <a:ext cx="209550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564A"/>
                </a:solidFill>
              </a:defRPr>
            </a:pPr>
            <a:r>
              <a:rPr sz="3150" b="1">
                <a:solidFill>
                  <a:srgbClr val="10564A"/>
                </a:solidFill>
              </a:rPr>
              <a:t>0.246</a:t>
            </a:r>
            <a:endParaRPr sz="3150" b="1">
              <a:solidFill>
                <a:srgbClr val="10564A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496050" y="2533650"/>
            <a:ext cx="2095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11F"/>
                </a:solidFill>
              </a:defRPr>
            </a:pPr>
            <a:r>
              <a:rPr sz="1350" b="1">
                <a:solidFill>
                  <a:srgbClr val="17211F"/>
                </a:solidFill>
              </a:rPr>
              <a:t>最低 CER mean</a:t>
            </a:r>
            <a:endParaRPr sz="1350" b="1">
              <a:solidFill>
                <a:srgbClr val="17211F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496050" y="2838450"/>
            <a:ext cx="2095500" cy="238125"/>
          </a:xfrm>
          <a:prstGeom prst="roundRect">
            <a:avLst>
              <a:gd name="adj" fmla="val 48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Aida-Calculus 数据集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38200" y="3810000"/>
            <a:ext cx="2095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CER 均值对比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38200" y="4267200"/>
            <a:ext cx="17145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7211F"/>
                </a:solidFill>
              </a:defRPr>
            </a:pPr>
            <a:r>
              <a:rPr sz="1125" b="1">
                <a:solidFill>
                  <a:srgbClr val="17211F"/>
                </a:solidFill>
              </a:rPr>
              <a:t>MathWriting</a:t>
            </a:r>
            <a:endParaRPr sz="1125" b="1">
              <a:solidFill>
                <a:srgbClr val="17211F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2647950" y="4295775"/>
            <a:ext cx="4000500" cy="171450"/>
          </a:xfrm>
          <a:prstGeom prst="roundRect">
            <a:avLst>
              <a:gd name="adj" fmla="val 50000"/>
            </a:avLst>
          </a:prstGeom>
          <a:solidFill>
            <a:srgbClr val="EDF2F0"/>
          </a:solidFill>
          <a:ln w="0">
            <a:solidFill>
              <a:srgbClr val="EDF2F0"/>
            </a:solidFill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2647950" y="4295775"/>
            <a:ext cx="3164840" cy="171450"/>
          </a:xfrm>
          <a:prstGeom prst="roundRect">
            <a:avLst>
              <a:gd name="adj" fmla="val 50000"/>
            </a:avLst>
          </a:prstGeom>
          <a:solidFill>
            <a:srgbClr val="10564A"/>
          </a:solidFill>
          <a:ln w="0">
            <a:solidFill>
              <a:srgbClr val="10564A"/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6762750" y="4257675"/>
            <a:ext cx="8572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0564A"/>
                </a:solidFill>
              </a:defRPr>
            </a:pPr>
            <a:r>
              <a:rPr sz="1125" b="1">
                <a:solidFill>
                  <a:srgbClr val="10564A"/>
                </a:solidFill>
              </a:rPr>
              <a:t>35.6%</a:t>
            </a:r>
            <a:endParaRPr sz="1125" b="1">
              <a:solidFill>
                <a:srgbClr val="10564A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38200" y="4686300"/>
            <a:ext cx="17145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7211F"/>
                </a:solidFill>
              </a:defRPr>
            </a:pPr>
            <a:r>
              <a:rPr sz="1125" b="1">
                <a:solidFill>
                  <a:srgbClr val="17211F"/>
                </a:solidFill>
              </a:rPr>
              <a:t>IM2LATEX</a:t>
            </a:r>
            <a:endParaRPr sz="1125" b="1">
              <a:solidFill>
                <a:srgbClr val="17211F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2647950" y="4714875"/>
            <a:ext cx="4000500" cy="171450"/>
          </a:xfrm>
          <a:prstGeom prst="roundRect">
            <a:avLst>
              <a:gd name="adj" fmla="val 50000"/>
            </a:avLst>
          </a:prstGeom>
          <a:solidFill>
            <a:srgbClr val="EDF2F0"/>
          </a:solidFill>
          <a:ln w="0">
            <a:solidFill>
              <a:srgbClr val="EDF2F0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2647950" y="4714875"/>
            <a:ext cx="2961259" cy="171450"/>
          </a:xfrm>
          <a:prstGeom prst="roundRect">
            <a:avLst>
              <a:gd name="adj" fmla="val 50000"/>
            </a:avLst>
          </a:prstGeom>
          <a:solidFill>
            <a:srgbClr val="2B5F9B"/>
          </a:solidFill>
          <a:ln w="0">
            <a:solidFill>
              <a:srgbClr val="2B5F9B"/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6762750" y="4676775"/>
            <a:ext cx="8572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B5F9B"/>
                </a:solidFill>
              </a:defRPr>
            </a:pPr>
            <a:r>
              <a:rPr sz="1125" b="1">
                <a:solidFill>
                  <a:srgbClr val="2B5F9B"/>
                </a:solidFill>
              </a:rPr>
              <a:t>33.3%</a:t>
            </a:r>
            <a:endParaRPr sz="1125" b="1">
              <a:solidFill>
                <a:srgbClr val="2B5F9B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838200" y="5105400"/>
            <a:ext cx="17145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7211F"/>
                </a:solidFill>
              </a:defRPr>
            </a:pPr>
            <a:r>
              <a:rPr sz="1125" b="1">
                <a:solidFill>
                  <a:srgbClr val="17211F"/>
                </a:solidFill>
              </a:rPr>
              <a:t>Aida</a:t>
            </a:r>
            <a:endParaRPr sz="1125" b="1">
              <a:solidFill>
                <a:srgbClr val="17211F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2647950" y="5133975"/>
            <a:ext cx="4000500" cy="171450"/>
          </a:xfrm>
          <a:prstGeom prst="roundRect">
            <a:avLst>
              <a:gd name="adj" fmla="val 50000"/>
            </a:avLst>
          </a:prstGeom>
          <a:solidFill>
            <a:srgbClr val="EDF2F0"/>
          </a:solidFill>
          <a:ln w="0">
            <a:solidFill>
              <a:srgbClr val="EDF2F0"/>
            </a:solidFill>
            <a:prstDash val="solid"/>
          </a:ln>
        </p:spPr>
      </p:sp>
      <p:sp>
        <p:nvSpPr>
          <p:cNvPr id="31" name="圆角矩形 30"/>
          <p:cNvSpPr>
            <a:spLocks noGrp="1"/>
          </p:cNvSpPr>
          <p:nvPr/>
        </p:nvSpPr>
        <p:spPr>
          <a:xfrm>
            <a:off x="2647950" y="5133975"/>
            <a:ext cx="2190496" cy="171450"/>
          </a:xfrm>
          <a:prstGeom prst="roundRect">
            <a:avLst>
              <a:gd name="adj" fmla="val 50000"/>
            </a:avLst>
          </a:prstGeom>
          <a:solidFill>
            <a:srgbClr val="D98C24"/>
          </a:solidFill>
          <a:ln w="0">
            <a:solidFill>
              <a:srgbClr val="D98C24"/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6762750" y="5095875"/>
            <a:ext cx="8572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D98C24"/>
                </a:solidFill>
              </a:defRPr>
            </a:pPr>
            <a:r>
              <a:rPr sz="1125" b="1">
                <a:solidFill>
                  <a:srgbClr val="D98C24"/>
                </a:solidFill>
              </a:rPr>
              <a:t>24.6%</a:t>
            </a:r>
            <a:endParaRPr sz="1125" b="1">
              <a:solidFill>
                <a:srgbClr val="D98C24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838200" y="5524500"/>
            <a:ext cx="171450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7211F"/>
                </a:solidFill>
              </a:defRPr>
            </a:pPr>
            <a:r>
              <a:rPr sz="1125" b="1">
                <a:solidFill>
                  <a:srgbClr val="17211F"/>
                </a:solidFill>
              </a:rPr>
              <a:t>CROHME</a:t>
            </a:r>
            <a:endParaRPr sz="1125" b="1">
              <a:solidFill>
                <a:srgbClr val="17211F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2647950" y="5553075"/>
            <a:ext cx="4000500" cy="171450"/>
          </a:xfrm>
          <a:prstGeom prst="roundRect">
            <a:avLst>
              <a:gd name="adj" fmla="val 50000"/>
            </a:avLst>
          </a:prstGeom>
          <a:solidFill>
            <a:srgbClr val="EDF2F0"/>
          </a:solidFill>
          <a:ln w="0">
            <a:solidFill>
              <a:srgbClr val="EDF2F0"/>
            </a:solidFill>
            <a:prstDash val="solid"/>
          </a:ln>
        </p:spPr>
      </p:sp>
      <p:sp>
        <p:nvSpPr>
          <p:cNvPr id="35" name="圆角矩形 34"/>
          <p:cNvSpPr>
            <a:spLocks noGrp="1"/>
          </p:cNvSpPr>
          <p:nvPr/>
        </p:nvSpPr>
        <p:spPr>
          <a:xfrm>
            <a:off x="2647950" y="5553075"/>
            <a:ext cx="3039491" cy="171450"/>
          </a:xfrm>
          <a:prstGeom prst="roundRect">
            <a:avLst>
              <a:gd name="adj" fmla="val 50000"/>
            </a:avLst>
          </a:prstGeom>
          <a:solidFill>
            <a:srgbClr val="196D5B"/>
          </a:solidFill>
          <a:ln w="0">
            <a:solidFill>
              <a:srgbClr val="196D5B"/>
            </a:solidFill>
            <a:prstDash val="solid"/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6762750" y="5514975"/>
            <a:ext cx="8572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6D5B"/>
                </a:solidFill>
              </a:defRPr>
            </a:pPr>
            <a:r>
              <a:rPr sz="1125" b="1">
                <a:solidFill>
                  <a:srgbClr val="196D5B"/>
                </a:solidFill>
              </a:rPr>
              <a:t>34.2%</a:t>
            </a:r>
            <a:endParaRPr sz="1125" b="1">
              <a:solidFill>
                <a:srgbClr val="196D5B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8194675" y="4240530"/>
            <a:ext cx="3143250" cy="1476375"/>
          </a:xfrm>
          <a:prstGeom prst="roundRect">
            <a:avLst>
              <a:gd name="adj" fmla="val 7742"/>
            </a:avLst>
          </a:prstGeom>
          <a:solidFill>
            <a:srgbClr val="EAF2FA"/>
          </a:solidFill>
          <a:ln w="9525">
            <a:solidFill>
              <a:srgbClr val="D6E6F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8" name="圆角矩形 37"/>
          <p:cNvSpPr>
            <a:spLocks noGrp="1"/>
          </p:cNvSpPr>
          <p:nvPr/>
        </p:nvSpPr>
        <p:spPr>
          <a:xfrm>
            <a:off x="8480425" y="4392930"/>
            <a:ext cx="123825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B5F9B"/>
                </a:solidFill>
              </a:defRPr>
            </a:pPr>
            <a:r>
              <a:rPr sz="1500" b="1">
                <a:solidFill>
                  <a:srgbClr val="2B5F9B"/>
                </a:solidFill>
              </a:rPr>
              <a:t>工程策略</a:t>
            </a:r>
            <a:endParaRPr sz="1500" b="1">
              <a:solidFill>
                <a:srgbClr val="2B5F9B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8446135" y="4792980"/>
            <a:ext cx="2857500" cy="552450"/>
          </a:xfrm>
          <a:prstGeom prst="roundRect">
            <a:avLst>
              <a:gd name="adj" fmla="val 2069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11F"/>
                </a:solidFill>
              </a:defRPr>
            </a:pPr>
            <a:r>
              <a:rPr sz="1350" b="0">
                <a:solidFill>
                  <a:srgbClr val="17211F"/>
                </a:solidFill>
              </a:rPr>
              <a:t>默认多模态读取 + 用户校对 + 评分端容错。比单纯追 OCR 完全匹配率更稳。</a:t>
            </a:r>
            <a:endParaRPr sz="1350" b="0">
              <a:solidFill>
                <a:srgbClr val="17211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09600" y="304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r>
              <a:rPr sz="975" b="1">
                <a:solidFill>
                  <a:srgbClr val="2B5F9B"/>
                </a:solidFill>
              </a:rPr>
              <a:t>10 / OCR 边界</a:t>
            </a:r>
            <a:endParaRPr sz="975" b="1">
              <a:solidFill>
                <a:srgbClr val="2B5F9B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628650"/>
            <a:ext cx="723900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211F"/>
                </a:solidFill>
              </a:defRPr>
            </a:pPr>
            <a:r>
              <a:rPr sz="2475" b="1">
                <a:solidFill>
                  <a:srgbClr val="17211F"/>
                </a:solidFill>
              </a:rPr>
              <a:t>工程上选择 OCR + 校对 + 容错评分</a:t>
            </a:r>
            <a:endParaRPr sz="2475" b="1">
              <a:solidFill>
                <a:srgbClr val="17211F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104900"/>
            <a:ext cx="838200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36F"/>
                </a:solidFill>
              </a:defRPr>
            </a:pPr>
            <a:r>
              <a:rPr sz="1275" b="0">
                <a:solidFill>
                  <a:srgbClr val="66736F"/>
                </a:solidFill>
              </a:rPr>
              <a:t>识别不是完美输入，因此系统保留人工校对入口。</a:t>
            </a:r>
            <a:endParaRPr sz="1275" b="0">
              <a:solidFill>
                <a:srgbClr val="66736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00800"/>
            <a:ext cx="9620250" cy="14288"/>
          </a:xfrm>
          <a:prstGeom prst="rect">
            <a:avLst/>
          </a:prstGeom>
          <a:solidFill>
            <a:srgbClr val="DDE7E3"/>
          </a:solidFill>
          <a:ln w="0">
            <a:solidFill>
              <a:srgbClr val="DDE7E3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11191875" y="6438900"/>
            <a:ext cx="4000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10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666875" y="2023745"/>
            <a:ext cx="31432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圆角矩形 8"/>
          <p:cNvSpPr>
            <a:spLocks noGrp="1"/>
          </p:cNvSpPr>
          <p:nvPr/>
        </p:nvSpPr>
        <p:spPr>
          <a:xfrm>
            <a:off x="1666875" y="2023745"/>
            <a:ext cx="57150" cy="1809750"/>
          </a:xfrm>
          <a:prstGeom prst="roundRect">
            <a:avLst>
              <a:gd name="adj" fmla="val 50000"/>
            </a:avLst>
          </a:prstGeom>
          <a:solidFill>
            <a:srgbClr val="10564A"/>
          </a:solidFill>
          <a:ln w="0">
            <a:solidFill>
              <a:srgbClr val="10564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876425" y="2195195"/>
            <a:ext cx="272415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A 简单公式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876425" y="2595245"/>
            <a:ext cx="2724150" cy="1066800"/>
          </a:xfrm>
          <a:prstGeom prst="roundRect">
            <a:avLst>
              <a:gd name="adj" fmla="val 1071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单层分式、单个上下标，识别效果接近可用。</a:t>
            </a:r>
            <a:endParaRPr sz="1200" b="0">
              <a:solidFill>
                <a:srgbClr val="66736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086600" y="2045335"/>
            <a:ext cx="31432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86600" y="2045335"/>
            <a:ext cx="57150" cy="1809750"/>
          </a:xfrm>
          <a:prstGeom prst="roundRect">
            <a:avLst>
              <a:gd name="adj" fmla="val 50000"/>
            </a:avLst>
          </a:prstGeom>
          <a:solidFill>
            <a:srgbClr val="D98C24"/>
          </a:solidFill>
          <a:ln w="0">
            <a:solidFill>
              <a:srgbClr val="D98C24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7296150" y="2216785"/>
            <a:ext cx="272415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B 复杂</a:t>
            </a:r>
            <a:r>
              <a:rPr lang="zh-CN" sz="1500" b="1">
                <a:solidFill>
                  <a:srgbClr val="17211F"/>
                </a:solidFill>
              </a:rPr>
              <a:t>公式</a:t>
            </a:r>
            <a:endParaRPr lang="zh-CN" sz="1500" b="1">
              <a:solidFill>
                <a:srgbClr val="17211F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296150" y="2616835"/>
            <a:ext cx="2724150" cy="1066800"/>
          </a:xfrm>
          <a:prstGeom prst="roundRect">
            <a:avLst>
              <a:gd name="adj" fmla="val 1071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结构大多保留，但字符、上下标、括号可能出错。</a:t>
            </a:r>
            <a:endParaRPr sz="1200" b="0">
              <a:solidFill>
                <a:srgbClr val="66736F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666875" y="4524375"/>
            <a:ext cx="8858250" cy="895350"/>
          </a:xfrm>
          <a:prstGeom prst="roundRect">
            <a:avLst>
              <a:gd name="adj" fmla="val 12766"/>
            </a:avLst>
          </a:prstGeom>
          <a:solidFill>
            <a:srgbClr val="E4F2ED"/>
          </a:solidFill>
          <a:ln w="9525">
            <a:solidFill>
              <a:srgbClr val="CFE5D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圆角矩形 20"/>
          <p:cNvSpPr>
            <a:spLocks noGrp="1"/>
          </p:cNvSpPr>
          <p:nvPr/>
        </p:nvSpPr>
        <p:spPr>
          <a:xfrm>
            <a:off x="2047875" y="4800600"/>
            <a:ext cx="1143000" cy="247650"/>
          </a:xfrm>
          <a:prstGeom prst="roundRect">
            <a:avLst>
              <a:gd name="adj" fmla="val 4615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564A"/>
                </a:solidFill>
              </a:defRPr>
            </a:pPr>
            <a:r>
              <a:rPr sz="1500" b="1">
                <a:solidFill>
                  <a:srgbClr val="10564A"/>
                </a:solidFill>
              </a:rPr>
              <a:t>最终路线</a:t>
            </a:r>
            <a:endParaRPr sz="1500" b="1">
              <a:solidFill>
                <a:srgbClr val="10564A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3190875" y="4787900"/>
            <a:ext cx="6572250" cy="3429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11F"/>
                </a:solidFill>
              </a:defRPr>
            </a:pPr>
            <a:r>
              <a:rPr sz="1725" b="1">
                <a:solidFill>
                  <a:srgbClr val="17211F"/>
                </a:solidFill>
              </a:rPr>
              <a:t>让识别、校对、评分容错形成可靠流程。</a:t>
            </a:r>
            <a:endParaRPr sz="1725" b="1">
              <a:solidFill>
                <a:srgbClr val="17211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09600" y="304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r>
              <a:rPr sz="975" b="1">
                <a:solidFill>
                  <a:srgbClr val="2B5F9B"/>
                </a:solidFill>
              </a:rPr>
              <a:t>11 / 知识图谱</a:t>
            </a:r>
            <a:endParaRPr sz="975" b="1">
              <a:solidFill>
                <a:srgbClr val="2B5F9B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628650"/>
            <a:ext cx="723900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211F"/>
                </a:solidFill>
              </a:defRPr>
            </a:pPr>
            <a:r>
              <a:rPr sz="2475" b="1">
                <a:solidFill>
                  <a:srgbClr val="17211F"/>
                </a:solidFill>
              </a:rPr>
              <a:t>轻量知识图谱支撑错因诊断</a:t>
            </a:r>
            <a:endParaRPr sz="2475" b="1">
              <a:solidFill>
                <a:srgbClr val="17211F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104900"/>
            <a:ext cx="838200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36F"/>
                </a:solidFill>
              </a:defRPr>
            </a:pPr>
            <a:r>
              <a:rPr sz="1275" b="0">
                <a:solidFill>
                  <a:srgbClr val="66736F"/>
                </a:solidFill>
              </a:rPr>
              <a:t>40 个 K1-K12 数学知识点，用于标签、错题本和掌握度分析。</a:t>
            </a:r>
            <a:endParaRPr sz="1275" b="0">
              <a:solidFill>
                <a:srgbClr val="66736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00800"/>
            <a:ext cx="9620250" cy="14288"/>
          </a:xfrm>
          <a:prstGeom prst="rect">
            <a:avLst/>
          </a:prstGeom>
          <a:solidFill>
            <a:srgbClr val="DDE7E3"/>
          </a:solidFill>
          <a:ln w="0">
            <a:solidFill>
              <a:srgbClr val="DDE7E3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11191875" y="6438900"/>
            <a:ext cx="4000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11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62000" y="1952625"/>
            <a:ext cx="22860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圆角矩形 8"/>
          <p:cNvSpPr>
            <a:spLocks noGrp="1"/>
          </p:cNvSpPr>
          <p:nvPr/>
        </p:nvSpPr>
        <p:spPr>
          <a:xfrm>
            <a:off x="952500" y="2124075"/>
            <a:ext cx="190500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564A"/>
                </a:solidFill>
              </a:defRPr>
            </a:pPr>
            <a:r>
              <a:rPr sz="3150" b="1">
                <a:solidFill>
                  <a:srgbClr val="10564A"/>
                </a:solidFill>
              </a:rPr>
              <a:t>40</a:t>
            </a:r>
            <a:endParaRPr sz="3150" b="1">
              <a:solidFill>
                <a:srgbClr val="10564A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52500" y="2676525"/>
            <a:ext cx="1905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11F"/>
                </a:solidFill>
              </a:defRPr>
            </a:pPr>
            <a:r>
              <a:rPr sz="1350" b="1">
                <a:solidFill>
                  <a:srgbClr val="17211F"/>
                </a:solidFill>
              </a:rPr>
              <a:t>知识点节点</a:t>
            </a:r>
            <a:endParaRPr sz="1350" b="1">
              <a:solidFill>
                <a:srgbClr val="17211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952500" y="2981325"/>
            <a:ext cx="19050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小学 / 初中 / 高中覆盖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352800" y="1952625"/>
            <a:ext cx="22860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圆角矩形 12"/>
          <p:cNvSpPr>
            <a:spLocks noGrp="1"/>
          </p:cNvSpPr>
          <p:nvPr/>
        </p:nvSpPr>
        <p:spPr>
          <a:xfrm>
            <a:off x="3543300" y="2124075"/>
            <a:ext cx="190500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B5F9B"/>
                </a:solidFill>
              </a:defRPr>
            </a:pPr>
            <a:r>
              <a:rPr sz="3150" b="1">
                <a:solidFill>
                  <a:srgbClr val="2B5F9B"/>
                </a:solidFill>
              </a:rPr>
              <a:t>DAG</a:t>
            </a:r>
            <a:endParaRPr sz="3150" b="1">
              <a:solidFill>
                <a:srgbClr val="2B5F9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543300" y="2676525"/>
            <a:ext cx="1905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11F"/>
                </a:solidFill>
              </a:defRPr>
            </a:pPr>
            <a:r>
              <a:rPr sz="1350" b="1">
                <a:solidFill>
                  <a:srgbClr val="17211F"/>
                </a:solidFill>
              </a:rPr>
              <a:t>先修关系</a:t>
            </a:r>
            <a:endParaRPr sz="1350" b="1">
              <a:solidFill>
                <a:srgbClr val="17211F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3543300" y="2981325"/>
            <a:ext cx="19050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支持薄弱项追踪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5943600" y="1952625"/>
            <a:ext cx="22860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圆角矩形 16"/>
          <p:cNvSpPr>
            <a:spLocks noGrp="1"/>
          </p:cNvSpPr>
          <p:nvPr/>
        </p:nvSpPr>
        <p:spPr>
          <a:xfrm>
            <a:off x="6134100" y="2124075"/>
            <a:ext cx="1905000" cy="51435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D98C24"/>
                </a:solidFill>
              </a:defRPr>
            </a:pPr>
            <a:r>
              <a:rPr sz="3150" b="1">
                <a:solidFill>
                  <a:srgbClr val="D98C24"/>
                </a:solidFill>
              </a:rPr>
              <a:t>错题本</a:t>
            </a:r>
            <a:endParaRPr sz="3150" b="1">
              <a:solidFill>
                <a:srgbClr val="D98C24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134100" y="2676525"/>
            <a:ext cx="1905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11F"/>
                </a:solidFill>
              </a:defRPr>
            </a:pPr>
            <a:r>
              <a:rPr sz="1350" b="1">
                <a:solidFill>
                  <a:srgbClr val="17211F"/>
                </a:solidFill>
              </a:rPr>
              <a:t>复习闭环</a:t>
            </a:r>
            <a:endParaRPr sz="1350" b="1">
              <a:solidFill>
                <a:srgbClr val="17211F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134100" y="2981325"/>
            <a:ext cx="19050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低分题沉淀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04875" y="4095750"/>
            <a:ext cx="31432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圆角矩形 20"/>
          <p:cNvSpPr>
            <a:spLocks noGrp="1"/>
          </p:cNvSpPr>
          <p:nvPr/>
        </p:nvSpPr>
        <p:spPr>
          <a:xfrm>
            <a:off x="904875" y="409575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10564A"/>
          </a:solidFill>
          <a:ln w="0">
            <a:solidFill>
              <a:srgbClr val="10564A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1114425" y="4232910"/>
            <a:ext cx="272415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小学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1114425" y="4541520"/>
            <a:ext cx="2724150" cy="304800"/>
          </a:xfrm>
          <a:prstGeom prst="roundRect">
            <a:avLst>
              <a:gd name="adj" fmla="val 375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整数四则、分数小数、简易方程、周长面积、应用题</a:t>
            </a:r>
            <a:endParaRPr sz="1200" b="0">
              <a:solidFill>
                <a:srgbClr val="66736F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4524375" y="4095750"/>
            <a:ext cx="31432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5" name="圆角矩形 24"/>
          <p:cNvSpPr>
            <a:spLocks noGrp="1"/>
          </p:cNvSpPr>
          <p:nvPr/>
        </p:nvSpPr>
        <p:spPr>
          <a:xfrm>
            <a:off x="4524375" y="409575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2B5F9B"/>
          </a:solidFill>
          <a:ln w="0">
            <a:solidFill>
              <a:srgbClr val="2B5F9B"/>
            </a:solidFill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4733925" y="4221480"/>
            <a:ext cx="272415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初中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733925" y="4552950"/>
            <a:ext cx="2724150" cy="304800"/>
          </a:xfrm>
          <a:prstGeom prst="roundRect">
            <a:avLst>
              <a:gd name="adj" fmla="val 375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有理数、整式加减、一元一次方程、一次函数、概率初步</a:t>
            </a:r>
            <a:endParaRPr sz="1200" b="0">
              <a:solidFill>
                <a:srgbClr val="66736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8143875" y="4095750"/>
            <a:ext cx="31432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9" name="圆角矩形 28"/>
          <p:cNvSpPr>
            <a:spLocks noGrp="1"/>
          </p:cNvSpPr>
          <p:nvPr/>
        </p:nvSpPr>
        <p:spPr>
          <a:xfrm>
            <a:off x="8143875" y="409575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D98C24"/>
          </a:solidFill>
          <a:ln w="0">
            <a:solidFill>
              <a:srgbClr val="D98C24"/>
            </a:solidFill>
            <a:prstDash val="solid"/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8353425" y="4232910"/>
            <a:ext cx="272415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高中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8353425" y="4564380"/>
            <a:ext cx="2724150" cy="304800"/>
          </a:xfrm>
          <a:prstGeom prst="roundRect">
            <a:avLst>
              <a:gd name="adj" fmla="val 375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函数、三角函数、平面向量、数列、解析几何、导数</a:t>
            </a:r>
            <a:endParaRPr sz="1200" b="0">
              <a:solidFill>
                <a:srgbClr val="66736F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1790700" y="5572125"/>
            <a:ext cx="85725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564A"/>
                </a:solidFill>
              </a:defRPr>
            </a:pPr>
            <a:r>
              <a:rPr sz="1500" b="1">
                <a:solidFill>
                  <a:srgbClr val="10564A"/>
                </a:solidFill>
              </a:rPr>
              <a:t>定位：LLM 理解复杂步骤，知识图谱负责把结果转成可复习、可统计的标签。</a:t>
            </a:r>
            <a:endParaRPr sz="1500" b="1">
              <a:solidFill>
                <a:srgbClr val="10564A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09600" y="304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r>
              <a:rPr sz="975" b="1">
                <a:solidFill>
                  <a:srgbClr val="2B5F9B"/>
                </a:solidFill>
              </a:rPr>
              <a:t>12 / 可靠性设计</a:t>
            </a:r>
            <a:endParaRPr sz="975" b="1">
              <a:solidFill>
                <a:srgbClr val="2B5F9B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628650"/>
            <a:ext cx="723900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211F"/>
                </a:solidFill>
              </a:defRPr>
            </a:pPr>
            <a:r>
              <a:rPr sz="2475" b="1">
                <a:solidFill>
                  <a:srgbClr val="17211F"/>
                </a:solidFill>
              </a:rPr>
              <a:t>失败可解释，结果可追踪</a:t>
            </a:r>
            <a:endParaRPr sz="2475" b="1">
              <a:solidFill>
                <a:srgbClr val="17211F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104900"/>
            <a:ext cx="838200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36F"/>
                </a:solidFill>
              </a:defRPr>
            </a:pPr>
            <a:r>
              <a:rPr sz="1275" b="0">
                <a:solidFill>
                  <a:srgbClr val="66736F"/>
                </a:solidFill>
              </a:rPr>
              <a:t>数据库、权限、回退和日志共同保证工程可检查。</a:t>
            </a:r>
            <a:endParaRPr sz="1275" b="0">
              <a:solidFill>
                <a:srgbClr val="66736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00800"/>
            <a:ext cx="9620250" cy="14288"/>
          </a:xfrm>
          <a:prstGeom prst="rect">
            <a:avLst/>
          </a:prstGeom>
          <a:solidFill>
            <a:srgbClr val="DDE7E3"/>
          </a:solidFill>
          <a:ln w="0">
            <a:solidFill>
              <a:srgbClr val="DDE7E3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11191875" y="6438900"/>
            <a:ext cx="4000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12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23900" y="1809750"/>
            <a:ext cx="4953000" cy="12858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圆角矩形 8"/>
          <p:cNvSpPr>
            <a:spLocks noGrp="1"/>
          </p:cNvSpPr>
          <p:nvPr/>
        </p:nvSpPr>
        <p:spPr>
          <a:xfrm>
            <a:off x="723900" y="1809750"/>
            <a:ext cx="57150" cy="1285875"/>
          </a:xfrm>
          <a:prstGeom prst="roundRect">
            <a:avLst>
              <a:gd name="adj" fmla="val 50000"/>
            </a:avLst>
          </a:prstGeom>
          <a:solidFill>
            <a:srgbClr val="2B5F9B"/>
          </a:solidFill>
          <a:ln w="0">
            <a:solidFill>
              <a:srgbClr val="2B5F9B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933450" y="1958340"/>
            <a:ext cx="45339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身份边界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933450" y="2324100"/>
            <a:ext cx="4533900" cy="542925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Bearer Token</a:t>
            </a:r>
            <a:endParaRPr sz="1200" b="0">
              <a:solidFill>
                <a:srgbClr val="66736F"/>
              </a:solidFill>
            </a:endParaRPr>
          </a:p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student / teacher 角色</a:t>
            </a:r>
            <a:endParaRPr sz="1200" b="0">
              <a:solidFill>
                <a:srgbClr val="66736F"/>
              </a:solidFill>
            </a:endParaRPr>
          </a:p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用户只能看自己的记录</a:t>
            </a:r>
            <a:endParaRPr sz="1200" b="0">
              <a:solidFill>
                <a:srgbClr val="66736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86500" y="1809750"/>
            <a:ext cx="4953000" cy="12858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圆角矩形 12"/>
          <p:cNvSpPr>
            <a:spLocks noGrp="1"/>
          </p:cNvSpPr>
          <p:nvPr/>
        </p:nvSpPr>
        <p:spPr>
          <a:xfrm>
            <a:off x="6286500" y="1809750"/>
            <a:ext cx="57150" cy="1285875"/>
          </a:xfrm>
          <a:prstGeom prst="roundRect">
            <a:avLst>
              <a:gd name="adj" fmla="val 50000"/>
            </a:avLst>
          </a:prstGeom>
          <a:solidFill>
            <a:srgbClr val="10564A"/>
          </a:solidFill>
          <a:ln w="0">
            <a:solidFill>
              <a:srgbClr val="10564A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6496050" y="1981200"/>
            <a:ext cx="45339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评分回退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496050" y="2312670"/>
            <a:ext cx="4533900" cy="542925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LLM 失败后规则评分</a:t>
            </a:r>
            <a:endParaRPr sz="1200" b="0">
              <a:solidFill>
                <a:srgbClr val="66736F"/>
              </a:solidFill>
            </a:endParaRPr>
          </a:p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grading_meta 记录诊断</a:t>
            </a:r>
            <a:endParaRPr sz="1200" b="0">
              <a:solidFill>
                <a:srgbClr val="66736F"/>
              </a:solidFill>
            </a:endParaRPr>
          </a:p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避免流程中断</a:t>
            </a:r>
            <a:endParaRPr sz="1200" b="0">
              <a:solidFill>
                <a:srgbClr val="66736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23900" y="3571875"/>
            <a:ext cx="4953000" cy="12858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圆角矩形 16"/>
          <p:cNvSpPr>
            <a:spLocks noGrp="1"/>
          </p:cNvSpPr>
          <p:nvPr/>
        </p:nvSpPr>
        <p:spPr>
          <a:xfrm>
            <a:off x="723900" y="3571875"/>
            <a:ext cx="57150" cy="1285875"/>
          </a:xfrm>
          <a:prstGeom prst="roundRect">
            <a:avLst>
              <a:gd name="adj" fmla="val 50000"/>
            </a:avLst>
          </a:prstGeom>
          <a:solidFill>
            <a:srgbClr val="D98C24"/>
          </a:solidFill>
          <a:ln w="0">
            <a:solidFill>
              <a:srgbClr val="D98C24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933450" y="3743325"/>
            <a:ext cx="45339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数据留痕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33450" y="4109085"/>
            <a:ext cx="4533900" cy="542925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OCR 历史、评分历史</a:t>
            </a:r>
            <a:endParaRPr sz="1200" b="0">
              <a:solidFill>
                <a:srgbClr val="66736F"/>
              </a:solidFill>
            </a:endParaRPr>
          </a:p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收藏、错题、详细报告</a:t>
            </a:r>
            <a:endParaRPr sz="1200" b="0">
              <a:solidFill>
                <a:srgbClr val="66736F"/>
              </a:solidFill>
            </a:endParaRPr>
          </a:p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支持后续复查</a:t>
            </a:r>
            <a:endParaRPr sz="1200" b="0">
              <a:solidFill>
                <a:srgbClr val="66736F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286500" y="3549015"/>
            <a:ext cx="4953000" cy="12858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圆角矩形 20"/>
          <p:cNvSpPr>
            <a:spLocks noGrp="1"/>
          </p:cNvSpPr>
          <p:nvPr/>
        </p:nvSpPr>
        <p:spPr>
          <a:xfrm>
            <a:off x="6286500" y="3571875"/>
            <a:ext cx="57150" cy="1285875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 w="0">
            <a:solidFill>
              <a:srgbClr val="B42318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6496050" y="3743325"/>
            <a:ext cx="453390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后台诊断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496050" y="4097655"/>
            <a:ext cx="4533900" cy="542925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LLM 失败日志入库</a:t>
            </a:r>
            <a:endParaRPr sz="1200" b="0">
              <a:solidFill>
                <a:srgbClr val="66736F"/>
              </a:solidFill>
            </a:endParaRPr>
          </a:p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教师/管理侧查看</a:t>
            </a:r>
            <a:endParaRPr sz="1200" b="0">
              <a:solidFill>
                <a:srgbClr val="66736F"/>
              </a:solidFill>
            </a:endParaRPr>
          </a:p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用户侧展示友好提示</a:t>
            </a:r>
            <a:endParaRPr sz="1200" b="0">
              <a:solidFill>
                <a:srgbClr val="66736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09600" y="304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endParaRPr sz="975" b="1">
              <a:solidFill>
                <a:srgbClr val="2B5F9B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628650"/>
            <a:ext cx="723900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211F"/>
                </a:solidFill>
              </a:defRPr>
            </a:pPr>
            <a:r>
              <a:rPr lang="zh-CN" sz="2475" b="1">
                <a:solidFill>
                  <a:srgbClr val="17211F"/>
                </a:solidFill>
              </a:rPr>
              <a:t>系统页面</a:t>
            </a:r>
            <a:r>
              <a:rPr lang="zh-CN" sz="2475" b="1">
                <a:solidFill>
                  <a:srgbClr val="17211F"/>
                </a:solidFill>
              </a:rPr>
              <a:t>展示</a:t>
            </a:r>
            <a:endParaRPr lang="zh-CN" sz="2475" b="1">
              <a:solidFill>
                <a:srgbClr val="17211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00800"/>
            <a:ext cx="9620250" cy="14288"/>
          </a:xfrm>
          <a:prstGeom prst="rect">
            <a:avLst/>
          </a:prstGeom>
          <a:solidFill>
            <a:srgbClr val="DDE7E3"/>
          </a:solidFill>
          <a:ln w="0">
            <a:solidFill>
              <a:srgbClr val="DDE7E3"/>
            </a:solidFill>
            <a:prstDash val="solid"/>
          </a:ln>
        </p:spPr>
      </p:sp>
      <p:pic>
        <p:nvPicPr>
          <p:cNvPr id="4" name="图片 3" descr="QQ_17820618178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3210" y="1270635"/>
            <a:ext cx="9085580" cy="4944745"/>
          </a:xfrm>
          <a:prstGeom prst="rect">
            <a:avLst/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736600" y="431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r>
              <a:rPr lang="en-US" altLang="zh-CN" sz="975" b="1">
                <a:solidFill>
                  <a:srgbClr val="2B5F9B"/>
                </a:solidFill>
              </a:rPr>
              <a:t>/</a:t>
            </a:r>
            <a:r>
              <a:rPr lang="zh-CN" sz="975" b="1">
                <a:solidFill>
                  <a:srgbClr val="2B5F9B"/>
                </a:solidFill>
              </a:rPr>
              <a:t>系统</a:t>
            </a:r>
            <a:r>
              <a:rPr lang="zh-CN" sz="975" b="1">
                <a:solidFill>
                  <a:srgbClr val="2B5F9B"/>
                </a:solidFill>
              </a:rPr>
              <a:t>展示</a:t>
            </a:r>
            <a:endParaRPr lang="zh-CN" sz="975" b="1">
              <a:solidFill>
                <a:srgbClr val="2B5F9B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09600" y="304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endParaRPr sz="975" b="1">
              <a:solidFill>
                <a:srgbClr val="2B5F9B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628650"/>
            <a:ext cx="723900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211F"/>
                </a:solidFill>
              </a:defRPr>
            </a:pPr>
            <a:r>
              <a:rPr lang="zh-CN" sz="2475" b="1">
                <a:solidFill>
                  <a:srgbClr val="17211F"/>
                </a:solidFill>
              </a:rPr>
              <a:t>系统页面</a:t>
            </a:r>
            <a:r>
              <a:rPr lang="zh-CN" sz="2475" b="1">
                <a:solidFill>
                  <a:srgbClr val="17211F"/>
                </a:solidFill>
              </a:rPr>
              <a:t>展示</a:t>
            </a:r>
            <a:endParaRPr lang="zh-CN" sz="2475" b="1">
              <a:solidFill>
                <a:srgbClr val="17211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00800"/>
            <a:ext cx="9620250" cy="14288"/>
          </a:xfrm>
          <a:prstGeom prst="rect">
            <a:avLst/>
          </a:prstGeom>
          <a:solidFill>
            <a:srgbClr val="DDE7E3"/>
          </a:solidFill>
          <a:ln w="0">
            <a:solidFill>
              <a:srgbClr val="DDE7E3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736600" y="431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r>
              <a:rPr lang="en-US" altLang="zh-CN" sz="975" b="1">
                <a:solidFill>
                  <a:srgbClr val="2B5F9B"/>
                </a:solidFill>
              </a:rPr>
              <a:t>/</a:t>
            </a:r>
            <a:r>
              <a:rPr lang="zh-CN" sz="975" b="1">
                <a:solidFill>
                  <a:srgbClr val="2B5F9B"/>
                </a:solidFill>
              </a:rPr>
              <a:t>系统</a:t>
            </a:r>
            <a:r>
              <a:rPr lang="zh-CN" sz="975" b="1">
                <a:solidFill>
                  <a:srgbClr val="2B5F9B"/>
                </a:solidFill>
              </a:rPr>
              <a:t>展示</a:t>
            </a:r>
            <a:endParaRPr lang="zh-CN" sz="975" b="1">
              <a:solidFill>
                <a:srgbClr val="2B5F9B"/>
              </a:solidFill>
            </a:endParaRPr>
          </a:p>
        </p:txBody>
      </p:sp>
      <p:pic>
        <p:nvPicPr>
          <p:cNvPr id="6" name="图片 5" descr="QQ_17820621928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175" y="1143000"/>
            <a:ext cx="9137015" cy="49644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09600" y="304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endParaRPr sz="975" b="1">
              <a:solidFill>
                <a:srgbClr val="2B5F9B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628650"/>
            <a:ext cx="723900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211F"/>
                </a:solidFill>
              </a:defRPr>
            </a:pPr>
            <a:r>
              <a:rPr lang="zh-CN" sz="2475" b="1">
                <a:solidFill>
                  <a:srgbClr val="17211F"/>
                </a:solidFill>
              </a:rPr>
              <a:t>系统页面</a:t>
            </a:r>
            <a:r>
              <a:rPr lang="zh-CN" sz="2475" b="1">
                <a:solidFill>
                  <a:srgbClr val="17211F"/>
                </a:solidFill>
              </a:rPr>
              <a:t>展示</a:t>
            </a:r>
            <a:endParaRPr lang="zh-CN" sz="2475" b="1">
              <a:solidFill>
                <a:srgbClr val="17211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00800"/>
            <a:ext cx="9620250" cy="14288"/>
          </a:xfrm>
          <a:prstGeom prst="rect">
            <a:avLst/>
          </a:prstGeom>
          <a:solidFill>
            <a:srgbClr val="DDE7E3"/>
          </a:solidFill>
          <a:ln w="0">
            <a:solidFill>
              <a:srgbClr val="DDE7E3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736600" y="431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r>
              <a:rPr lang="en-US" altLang="zh-CN" sz="975" b="1">
                <a:solidFill>
                  <a:srgbClr val="2B5F9B"/>
                </a:solidFill>
              </a:rPr>
              <a:t>/</a:t>
            </a:r>
            <a:r>
              <a:rPr lang="zh-CN" sz="975" b="1">
                <a:solidFill>
                  <a:srgbClr val="2B5F9B"/>
                </a:solidFill>
              </a:rPr>
              <a:t>系统</a:t>
            </a:r>
            <a:r>
              <a:rPr lang="zh-CN" sz="975" b="1">
                <a:solidFill>
                  <a:srgbClr val="2B5F9B"/>
                </a:solidFill>
              </a:rPr>
              <a:t>展示</a:t>
            </a:r>
            <a:endParaRPr lang="zh-CN" sz="975" b="1">
              <a:solidFill>
                <a:srgbClr val="2B5F9B"/>
              </a:solidFill>
            </a:endParaRPr>
          </a:p>
        </p:txBody>
      </p:sp>
      <p:pic>
        <p:nvPicPr>
          <p:cNvPr id="8" name="图片 7" descr="QQ_17820637813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305" y="1143000"/>
            <a:ext cx="9088755" cy="49320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09600" y="304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endParaRPr sz="975" b="1">
              <a:solidFill>
                <a:srgbClr val="2B5F9B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628650"/>
            <a:ext cx="723900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211F"/>
                </a:solidFill>
              </a:defRPr>
            </a:pPr>
            <a:r>
              <a:rPr lang="zh-CN" sz="2475" b="1">
                <a:solidFill>
                  <a:srgbClr val="17211F"/>
                </a:solidFill>
              </a:rPr>
              <a:t>系统页面</a:t>
            </a:r>
            <a:r>
              <a:rPr lang="zh-CN" sz="2475" b="1">
                <a:solidFill>
                  <a:srgbClr val="17211F"/>
                </a:solidFill>
              </a:rPr>
              <a:t>展示</a:t>
            </a:r>
            <a:endParaRPr lang="zh-CN" sz="2475" b="1">
              <a:solidFill>
                <a:srgbClr val="17211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00800"/>
            <a:ext cx="9620250" cy="14288"/>
          </a:xfrm>
          <a:prstGeom prst="rect">
            <a:avLst/>
          </a:prstGeom>
          <a:solidFill>
            <a:srgbClr val="DDE7E3"/>
          </a:solidFill>
          <a:ln w="0">
            <a:solidFill>
              <a:srgbClr val="DDE7E3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736600" y="431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r>
              <a:rPr lang="en-US" altLang="zh-CN" sz="975" b="1">
                <a:solidFill>
                  <a:srgbClr val="2B5F9B"/>
                </a:solidFill>
              </a:rPr>
              <a:t>/</a:t>
            </a:r>
            <a:r>
              <a:rPr lang="zh-CN" sz="975" b="1">
                <a:solidFill>
                  <a:srgbClr val="2B5F9B"/>
                </a:solidFill>
              </a:rPr>
              <a:t>系统</a:t>
            </a:r>
            <a:r>
              <a:rPr lang="zh-CN" sz="975" b="1">
                <a:solidFill>
                  <a:srgbClr val="2B5F9B"/>
                </a:solidFill>
              </a:rPr>
              <a:t>展示</a:t>
            </a:r>
            <a:endParaRPr lang="zh-CN" sz="975" b="1">
              <a:solidFill>
                <a:srgbClr val="2B5F9B"/>
              </a:solidFill>
            </a:endParaRPr>
          </a:p>
        </p:txBody>
      </p:sp>
      <p:pic>
        <p:nvPicPr>
          <p:cNvPr id="4" name="图片 3" descr="QQ_17820645341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230" y="1297940"/>
            <a:ext cx="9019540" cy="48901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09600" y="304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endParaRPr sz="975" b="1">
              <a:solidFill>
                <a:srgbClr val="2B5F9B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628650"/>
            <a:ext cx="723900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211F"/>
                </a:solidFill>
              </a:defRPr>
            </a:pPr>
            <a:r>
              <a:rPr lang="zh-CN" sz="2475" b="1">
                <a:solidFill>
                  <a:srgbClr val="17211F"/>
                </a:solidFill>
              </a:rPr>
              <a:t>系统页面</a:t>
            </a:r>
            <a:r>
              <a:rPr lang="zh-CN" sz="2475" b="1">
                <a:solidFill>
                  <a:srgbClr val="17211F"/>
                </a:solidFill>
              </a:rPr>
              <a:t>展示</a:t>
            </a:r>
            <a:endParaRPr lang="zh-CN" sz="2475" b="1">
              <a:solidFill>
                <a:srgbClr val="17211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00800"/>
            <a:ext cx="9620250" cy="14288"/>
          </a:xfrm>
          <a:prstGeom prst="rect">
            <a:avLst/>
          </a:prstGeom>
          <a:solidFill>
            <a:srgbClr val="DDE7E3"/>
          </a:solidFill>
          <a:ln w="0">
            <a:solidFill>
              <a:srgbClr val="DDE7E3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736600" y="431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r>
              <a:rPr lang="en-US" altLang="zh-CN" sz="975" b="1">
                <a:solidFill>
                  <a:srgbClr val="2B5F9B"/>
                </a:solidFill>
              </a:rPr>
              <a:t>/</a:t>
            </a:r>
            <a:r>
              <a:rPr lang="zh-CN" sz="975" b="1">
                <a:solidFill>
                  <a:srgbClr val="2B5F9B"/>
                </a:solidFill>
              </a:rPr>
              <a:t>系统</a:t>
            </a:r>
            <a:r>
              <a:rPr lang="zh-CN" sz="975" b="1">
                <a:solidFill>
                  <a:srgbClr val="2B5F9B"/>
                </a:solidFill>
              </a:rPr>
              <a:t>展示</a:t>
            </a:r>
            <a:endParaRPr lang="zh-CN" sz="975" b="1">
              <a:solidFill>
                <a:srgbClr val="2B5F9B"/>
              </a:solidFill>
            </a:endParaRPr>
          </a:p>
        </p:txBody>
      </p:sp>
      <p:pic>
        <p:nvPicPr>
          <p:cNvPr id="6" name="图片 5" descr="QQ_17820650710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6380" y="1143000"/>
            <a:ext cx="9159875" cy="49707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09600" y="304800"/>
            <a:ext cx="3429000" cy="266700"/>
          </a:xfrm>
          <a:prstGeom prst="roundRect">
            <a:avLst>
              <a:gd name="adj" fmla="val 4285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B5F9B"/>
                </a:solidFill>
              </a:defRPr>
            </a:pPr>
            <a:r>
              <a:rPr sz="975" b="1">
                <a:solidFill>
                  <a:srgbClr val="2B5F9B"/>
                </a:solidFill>
              </a:rPr>
              <a:t>总结</a:t>
            </a:r>
            <a:endParaRPr sz="975" b="1">
              <a:solidFill>
                <a:srgbClr val="2B5F9B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628650"/>
            <a:ext cx="7239000" cy="4572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>
                <a:solidFill>
                  <a:srgbClr val="17211F"/>
                </a:solidFill>
              </a:defRPr>
            </a:pPr>
            <a:r>
              <a:rPr sz="2475" b="1">
                <a:solidFill>
                  <a:srgbClr val="17211F"/>
                </a:solidFill>
              </a:rPr>
              <a:t>结论与后续计划</a:t>
            </a:r>
            <a:endParaRPr sz="2475" b="1">
              <a:solidFill>
                <a:srgbClr val="17211F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104900"/>
            <a:ext cx="8382000" cy="323850"/>
          </a:xfrm>
          <a:prstGeom prst="roundRect">
            <a:avLst>
              <a:gd name="adj" fmla="val 35294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36F"/>
                </a:solidFill>
              </a:defRPr>
            </a:pPr>
            <a:r>
              <a:rPr sz="1275" b="0">
                <a:solidFill>
                  <a:srgbClr val="66736F"/>
                </a:solidFill>
              </a:rPr>
              <a:t>当前系统能跑通真实批改流程，且用量化评测驱动迭代。</a:t>
            </a:r>
            <a:endParaRPr sz="1275" b="0">
              <a:solidFill>
                <a:srgbClr val="66736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400800"/>
            <a:ext cx="9620250" cy="14288"/>
          </a:xfrm>
          <a:prstGeom prst="rect">
            <a:avLst/>
          </a:prstGeom>
          <a:solidFill>
            <a:srgbClr val="DDE7E3"/>
          </a:solidFill>
          <a:ln w="0">
            <a:solidFill>
              <a:srgbClr val="DDE7E3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11191875" y="6438900"/>
            <a:ext cx="400050" cy="22860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6736F"/>
                </a:solidFill>
              </a:defRPr>
            </a:pPr>
            <a:r>
              <a:rPr sz="975" b="0">
                <a:solidFill>
                  <a:srgbClr val="66736F"/>
                </a:solidFill>
              </a:rPr>
              <a:t>13</a:t>
            </a:r>
            <a:endParaRPr sz="975" b="0">
              <a:solidFill>
                <a:srgbClr val="66736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19150" y="1885950"/>
            <a:ext cx="333375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圆角矩形 8"/>
          <p:cNvSpPr>
            <a:spLocks noGrp="1"/>
          </p:cNvSpPr>
          <p:nvPr/>
        </p:nvSpPr>
        <p:spPr>
          <a:xfrm>
            <a:off x="819150" y="1885950"/>
            <a:ext cx="57150" cy="2000250"/>
          </a:xfrm>
          <a:prstGeom prst="roundRect">
            <a:avLst>
              <a:gd name="adj" fmla="val 50000"/>
            </a:avLst>
          </a:prstGeom>
          <a:solidFill>
            <a:srgbClr val="10564A"/>
          </a:solidFill>
          <a:ln w="0">
            <a:solidFill>
              <a:srgbClr val="10564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028700" y="2057400"/>
            <a:ext cx="291465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当前可交付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028700" y="2457450"/>
            <a:ext cx="2914650" cy="1257300"/>
          </a:xfrm>
          <a:prstGeom prst="roundRect">
            <a:avLst>
              <a:gd name="adj" fmla="val 909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登录、读取、逐步评分、历史、收藏、错题本和教师后台雏形；评测数据可复现。</a:t>
            </a:r>
            <a:endParaRPr sz="1200" b="0">
              <a:solidFill>
                <a:srgbClr val="66736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438650" y="1885950"/>
            <a:ext cx="333375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圆角矩形 12"/>
          <p:cNvSpPr>
            <a:spLocks noGrp="1"/>
          </p:cNvSpPr>
          <p:nvPr/>
        </p:nvSpPr>
        <p:spPr>
          <a:xfrm>
            <a:off x="4438650" y="1885950"/>
            <a:ext cx="57150" cy="2000250"/>
          </a:xfrm>
          <a:prstGeom prst="roundRect">
            <a:avLst>
              <a:gd name="adj" fmla="val 50000"/>
            </a:avLst>
          </a:prstGeom>
          <a:solidFill>
            <a:srgbClr val="D98C24"/>
          </a:solidFill>
          <a:ln w="0">
            <a:solidFill>
              <a:srgbClr val="D98C24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4648200" y="2057400"/>
            <a:ext cx="291465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主要边界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648200" y="2457450"/>
            <a:ext cx="2914650" cy="1257300"/>
          </a:xfrm>
          <a:prstGeom prst="roundRect">
            <a:avLst>
              <a:gd name="adj" fmla="val 909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复杂手写公式仍需校对；自动评分必须保留教师复核入口。</a:t>
            </a:r>
            <a:endParaRPr sz="1200" b="0">
              <a:solidFill>
                <a:srgbClr val="66736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058150" y="1885950"/>
            <a:ext cx="333375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7E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58150" y="1885950"/>
            <a:ext cx="57150" cy="2000250"/>
          </a:xfrm>
          <a:prstGeom prst="roundRect">
            <a:avLst>
              <a:gd name="adj" fmla="val 50000"/>
            </a:avLst>
          </a:prstGeom>
          <a:solidFill>
            <a:srgbClr val="2B5F9B"/>
          </a:solidFill>
          <a:ln w="0">
            <a:solidFill>
              <a:srgbClr val="2B5F9B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8267700" y="2057400"/>
            <a:ext cx="2914650" cy="28575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下一步</a:t>
            </a:r>
            <a:endParaRPr sz="1500" b="1">
              <a:solidFill>
                <a:srgbClr val="17211F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267700" y="2457450"/>
            <a:ext cx="2914650" cy="1257300"/>
          </a:xfrm>
          <a:prstGeom prst="roundRect">
            <a:avLst>
              <a:gd name="adj" fmla="val 9091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36F"/>
                </a:solidFill>
              </a:defRPr>
            </a:pPr>
            <a:r>
              <a:rPr sz="1200" b="0">
                <a:solidFill>
                  <a:srgbClr val="66736F"/>
                </a:solidFill>
              </a:rPr>
              <a:t>端到端评测 OCR→评分；完善班级/作业表；加入人工改分和 PDF 报告。</a:t>
            </a:r>
            <a:endParaRPr sz="1200" b="0">
              <a:solidFill>
                <a:srgbClr val="66736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2763</Words>
  <Application>WPS 演示</Application>
  <PresentationFormat>Converted Presentation</PresentationFormat>
  <Paragraphs>492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儷宋 Pro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杨仕晨</cp:lastModifiedBy>
  <cp:revision>6</cp:revision>
  <dcterms:created xsi:type="dcterms:W3CDTF">2026-06-22T10:43:11Z</dcterms:created>
  <dcterms:modified xsi:type="dcterms:W3CDTF">2026-06-22T10:43:11Z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149232DEC6994DD0BCE5376ABD55310F_42</vt:lpwstr>
  </property>
  <property fmtid="{D5CDD505-2E9C-101B-9397-08002B2CF9AE}" pid="3" name="KSOProductBuildVer">
    <vt:lpwstr>2052-12.1.23141.23141</vt:lpwstr>
  </property>
</Properties>
</file>